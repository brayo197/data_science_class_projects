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75" r:id="rId2"/>
    <p:sldId id="257" r:id="rId3"/>
    <p:sldId id="258" r:id="rId4"/>
    <p:sldId id="259" r:id="rId5"/>
    <p:sldId id="260" r:id="rId6"/>
    <p:sldId id="261" r:id="rId7"/>
    <p:sldId id="262" r:id="rId8"/>
    <p:sldId id="263" r:id="rId9"/>
    <p:sldId id="264" r:id="rId10"/>
    <p:sldId id="265" r:id="rId11"/>
    <p:sldId id="268" r:id="rId12"/>
    <p:sldId id="269" r:id="rId13"/>
    <p:sldId id="271" r:id="rId14"/>
    <p:sldId id="267" r:id="rId15"/>
    <p:sldId id="266" r:id="rId16"/>
    <p:sldId id="272" r:id="rId17"/>
    <p:sldId id="274"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8BDF8"/>
    <a:srgbClr val="0D9488"/>
    <a:srgbClr val="0D1B3E"/>
    <a:srgbClr val="1C0F5D"/>
    <a:srgbClr val="302658"/>
    <a:srgbClr val="1F1F55"/>
    <a:srgbClr val="1B1B49"/>
    <a:srgbClr val="4D3E8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5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6229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we'll break down Support Vector Machines (SVMs) using plain language and lots of visuals. No scary math — I promise.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SVM is like the perfect judge who doesn't just draw *a* line between apples and oranges, but draws it so both groups have maximum space from the line. That extra space is called the 'margin'.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Real-world analogy: Think of drawing a road between two cities. The 'bad line' is a road that almost clips the buildings. The 'best line' is a wide open highway with maximum clearance on both sides — safest for all traffic.</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Imagine laying down two parallel walls on either side of the dividing road. The support vectors are the houses closest to each wall. Those specific houses determine where the walls go. The road in the middle — maximally wide — is the hyperplane.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Kernel trick analogy: Imagine you have blue and red beads mixed on a flat table. You can't draw a line to separate them. But if you THROW the table into the air (add a dimension), the beads separate by weight — and now a flat hand (hyperplane) can divide them perfectly.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kernel trick is one of the most elegant ideas in ML. It's like measuring the distance between two buildings without measuring every brick — a clever shortcut to get the same answer much faster.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rule of thumb: Always try Linear first (fast). If accuracy is poor, try RBF (handles almost everything). Polynomial for structured data with known curve shapes. Sigmoid is rarely the first choice but has its niche.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tip: In 90% of real-world problems, RBF wins. But always try Linear first — if it achieves 90%+ accuracy, stick with it because it's faster and easier to interpret.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Grid search analogy: It's like trying all combinations on a lock — C values on one axis, Gamma on another — and picking whichever combination unlocks the best accuracy.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Relatable story for non-technical audience: Before SVM, the team called ALL customers with offers. Wasteful! With SVM, they call only the 15% most likely to leave — 3x return on retention spend.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Non-technical analogy for Precision vs Recall: A fire alarm with 100% recall goes off for any smoke — even toast. A fire alarm with 100% precision only rings for real fires but might miss some. F1 balances both.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Goldilocks analogy works perfectly here: underfitting = porridge too cold, overfitting = too hot, just right = perfect generalization. This is the core tension in ALL of machine learning, not just SVM.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7-step process ensures a systematic approach. Emphasize Step 1 (preprocessing) — many SVM failures stem from unscaled features, not the algorithm itself.</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to revisit during Q&amp;A if audience asks about specific terms. Good reference to screenshot and keep.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to NOT use SVM: Large datasets (&gt;100k rows) — consider Random Forest or XGBoost instead. When interpretability is critical — consider Logistic Regression. When you have lots of missing data — SVM needs clean data.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Invite questions. Reinforce: SVM is not magic — it's elegant math applied to find the best possible boundary. Once you understand the margin concept, everything else follows naturally.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5943600" y="-1097280"/>
            <a:ext cx="4572000" cy="4572000"/>
          </a:xfrm>
          <a:prstGeom prst="ellipse">
            <a:avLst/>
          </a:prstGeom>
          <a:solidFill>
            <a:srgbClr val="0D9488">
              <a:alpha val="17647"/>
            </a:srgbClr>
          </a:solidFill>
          <a:ln w="6350">
            <a:solidFill>
              <a:srgbClr val="7B68EE">
                <a:alpha val="40000"/>
              </a:srgbClr>
            </a:solidFill>
            <a:prstDash val="solid"/>
          </a:ln>
        </p:spPr>
      </p:sp>
      <p:sp>
        <p:nvSpPr>
          <p:cNvPr id="3" name="Shape 1"/>
          <p:cNvSpPr/>
          <p:nvPr/>
        </p:nvSpPr>
        <p:spPr>
          <a:xfrm>
            <a:off x="6583680" y="-457200"/>
            <a:ext cx="3200400" cy="3200400"/>
          </a:xfrm>
          <a:prstGeom prst="ellipse">
            <a:avLst/>
          </a:prstGeom>
          <a:solidFill>
            <a:srgbClr val="38BDF8">
              <a:alpha val="24706"/>
            </a:srgbClr>
          </a:solidFill>
          <a:ln w="6350">
            <a:solidFill>
              <a:srgbClr val="7B68EE">
                <a:alpha val="50000"/>
              </a:srgbClr>
            </a:solidFill>
            <a:prstDash val="solid"/>
          </a:ln>
        </p:spPr>
      </p:sp>
      <p:sp>
        <p:nvSpPr>
          <p:cNvPr id="4" name="Text 2"/>
          <p:cNvSpPr/>
          <p:nvPr/>
        </p:nvSpPr>
        <p:spPr>
          <a:xfrm>
            <a:off x="640080" y="1371600"/>
            <a:ext cx="5486400" cy="320040"/>
          </a:xfrm>
          <a:prstGeom prst="rect">
            <a:avLst/>
          </a:prstGeom>
          <a:noFill/>
          <a:ln/>
        </p:spPr>
        <p:txBody>
          <a:bodyPr wrap="square" lIns="0" tIns="0" rIns="0" bIns="0" rtlCol="0" anchor="ctr"/>
          <a:lstStyle/>
          <a:p>
            <a:pPr marL="0" indent="0">
              <a:buNone/>
            </a:pPr>
            <a:r>
              <a:rPr lang="en-US" sz="1200" dirty="0">
                <a:solidFill>
                  <a:srgbClr val="AFA9EC"/>
                </a:solidFill>
                <a:latin typeface="Calibri" pitchFamily="34" charset="0"/>
                <a:ea typeface="Calibri" pitchFamily="34" charset="-122"/>
                <a:cs typeface="Calibri" pitchFamily="34" charset="-120"/>
              </a:rPr>
              <a:t>Machine Learning Fundamentals</a:t>
            </a:r>
            <a:endParaRPr lang="en-US" sz="1200" dirty="0"/>
          </a:p>
        </p:txBody>
      </p:sp>
      <p:sp>
        <p:nvSpPr>
          <p:cNvPr id="5" name="Text 3"/>
          <p:cNvSpPr/>
          <p:nvPr/>
        </p:nvSpPr>
        <p:spPr>
          <a:xfrm>
            <a:off x="640080" y="1783080"/>
            <a:ext cx="6858000" cy="1828800"/>
          </a:xfrm>
          <a:prstGeom prst="rect">
            <a:avLst/>
          </a:prstGeom>
          <a:noFill/>
          <a:ln/>
        </p:spPr>
        <p:txBody>
          <a:bodyPr wrap="square" lIns="0" tIns="0" rIns="0" bIns="0" rtlCol="0" anchor="t"/>
          <a:lstStyle/>
          <a:p>
            <a:pPr marL="0" indent="0">
              <a:buNone/>
            </a:pPr>
            <a:r>
              <a:rPr lang="en-US" sz="4800" b="1" dirty="0">
                <a:solidFill>
                  <a:srgbClr val="FFFFFF"/>
                </a:solidFill>
                <a:latin typeface="Cambria" pitchFamily="34" charset="0"/>
                <a:ea typeface="Cambria" pitchFamily="34" charset="-122"/>
                <a:cs typeface="Cambria" pitchFamily="34" charset="-120"/>
              </a:rPr>
              <a:t>Support Vector</a:t>
            </a:r>
            <a:endParaRPr lang="en-US" sz="4800" dirty="0"/>
          </a:p>
          <a:p>
            <a:pPr marL="0" indent="0">
              <a:buNone/>
            </a:pPr>
            <a:r>
              <a:rPr lang="en-US" sz="4800" b="1" dirty="0">
                <a:solidFill>
                  <a:srgbClr val="FFFFFF"/>
                </a:solidFill>
                <a:latin typeface="Cambria" pitchFamily="34" charset="0"/>
                <a:ea typeface="Cambria" pitchFamily="34" charset="-122"/>
                <a:cs typeface="Cambria" pitchFamily="34" charset="-120"/>
              </a:rPr>
              <a:t>Machines</a:t>
            </a:r>
            <a:endParaRPr lang="en-US" sz="4800" dirty="0"/>
          </a:p>
        </p:txBody>
      </p:sp>
      <p:sp>
        <p:nvSpPr>
          <p:cNvPr id="6" name="Text 4"/>
          <p:cNvSpPr/>
          <p:nvPr/>
        </p:nvSpPr>
        <p:spPr>
          <a:xfrm>
            <a:off x="640080" y="3657600"/>
            <a:ext cx="5943600" cy="411480"/>
          </a:xfrm>
          <a:prstGeom prst="rect">
            <a:avLst/>
          </a:prstGeom>
          <a:noFill/>
          <a:ln/>
        </p:spPr>
        <p:txBody>
          <a:bodyPr wrap="square" lIns="0" tIns="0" rIns="0" bIns="0" rtlCol="0" anchor="ctr"/>
          <a:lstStyle/>
          <a:p>
            <a:pPr marL="0" indent="0">
              <a:buNone/>
            </a:pPr>
            <a:r>
              <a:rPr lang="en-US" sz="1500" i="1" dirty="0">
                <a:solidFill>
                  <a:srgbClr val="E8E8F0"/>
                </a:solidFill>
                <a:latin typeface="Calibri" pitchFamily="34" charset="0"/>
                <a:ea typeface="Calibri" pitchFamily="34" charset="-122"/>
                <a:cs typeface="Calibri" pitchFamily="34" charset="-120"/>
              </a:rPr>
              <a:t>Explained simply — even a 10-year-old can get it!</a:t>
            </a:r>
            <a:endParaRPr lang="en-US" sz="1500" dirty="0"/>
          </a:p>
        </p:txBody>
      </p:sp>
      <p:sp>
        <p:nvSpPr>
          <p:cNvPr id="7" name="Shape 5"/>
          <p:cNvSpPr/>
          <p:nvPr/>
        </p:nvSpPr>
        <p:spPr>
          <a:xfrm>
            <a:off x="7498080" y="1920240"/>
            <a:ext cx="164592" cy="164592"/>
          </a:xfrm>
          <a:prstGeom prst="ellipse">
            <a:avLst/>
          </a:prstGeom>
          <a:solidFill>
            <a:srgbClr val="F96167"/>
          </a:solidFill>
          <a:ln w="12700">
            <a:solidFill>
              <a:srgbClr val="F96167"/>
            </a:solidFill>
            <a:prstDash val="solid"/>
          </a:ln>
        </p:spPr>
      </p:sp>
      <p:sp>
        <p:nvSpPr>
          <p:cNvPr id="8" name="Shape 6"/>
          <p:cNvSpPr/>
          <p:nvPr/>
        </p:nvSpPr>
        <p:spPr>
          <a:xfrm>
            <a:off x="7955280" y="1371600"/>
            <a:ext cx="164592" cy="164592"/>
          </a:xfrm>
          <a:prstGeom prst="ellipse">
            <a:avLst/>
          </a:prstGeom>
          <a:solidFill>
            <a:srgbClr val="F96167"/>
          </a:solidFill>
          <a:ln w="12700">
            <a:solidFill>
              <a:srgbClr val="F96167"/>
            </a:solidFill>
            <a:prstDash val="solid"/>
          </a:ln>
        </p:spPr>
      </p:sp>
      <p:sp>
        <p:nvSpPr>
          <p:cNvPr id="9" name="Shape 7"/>
          <p:cNvSpPr/>
          <p:nvPr/>
        </p:nvSpPr>
        <p:spPr>
          <a:xfrm>
            <a:off x="8321040" y="2468880"/>
            <a:ext cx="164592" cy="164592"/>
          </a:xfrm>
          <a:prstGeom prst="ellipse">
            <a:avLst/>
          </a:prstGeom>
          <a:solidFill>
            <a:srgbClr val="F96167"/>
          </a:solidFill>
          <a:ln w="12700">
            <a:solidFill>
              <a:srgbClr val="F96167"/>
            </a:solidFill>
            <a:prstDash val="solid"/>
          </a:ln>
        </p:spPr>
      </p:sp>
      <p:sp>
        <p:nvSpPr>
          <p:cNvPr id="10" name="Shape 8"/>
          <p:cNvSpPr/>
          <p:nvPr/>
        </p:nvSpPr>
        <p:spPr>
          <a:xfrm>
            <a:off x="7772400" y="2834640"/>
            <a:ext cx="164592" cy="164592"/>
          </a:xfrm>
          <a:prstGeom prst="ellipse">
            <a:avLst/>
          </a:prstGeom>
          <a:solidFill>
            <a:srgbClr val="F9E795"/>
          </a:solidFill>
          <a:ln w="12700">
            <a:solidFill>
              <a:srgbClr val="F9E795"/>
            </a:solidFill>
            <a:prstDash val="solid"/>
          </a:ln>
        </p:spPr>
      </p:sp>
      <p:sp>
        <p:nvSpPr>
          <p:cNvPr id="11" name="Shape 9"/>
          <p:cNvSpPr/>
          <p:nvPr/>
        </p:nvSpPr>
        <p:spPr>
          <a:xfrm>
            <a:off x="8503920" y="1645920"/>
            <a:ext cx="164592" cy="164592"/>
          </a:xfrm>
          <a:prstGeom prst="ellipse">
            <a:avLst/>
          </a:prstGeom>
          <a:solidFill>
            <a:srgbClr val="F9E795"/>
          </a:solidFill>
          <a:ln w="12700">
            <a:solidFill>
              <a:srgbClr val="F9E795"/>
            </a:solidFill>
            <a:prstDash val="solid"/>
          </a:ln>
        </p:spPr>
      </p:sp>
      <p:sp>
        <p:nvSpPr>
          <p:cNvPr id="12" name="Shape 10"/>
          <p:cNvSpPr/>
          <p:nvPr/>
        </p:nvSpPr>
        <p:spPr>
          <a:xfrm>
            <a:off x="7223760" y="3200400"/>
            <a:ext cx="164592" cy="164592"/>
          </a:xfrm>
          <a:prstGeom prst="ellipse">
            <a:avLst/>
          </a:prstGeom>
          <a:solidFill>
            <a:srgbClr val="F96167"/>
          </a:solidFill>
          <a:ln w="12700">
            <a:solidFill>
              <a:srgbClr val="F96167"/>
            </a:solidFill>
            <a:prstDash val="solid"/>
          </a:ln>
        </p:spPr>
      </p:sp>
      <p:sp>
        <p:nvSpPr>
          <p:cNvPr id="13" name="Shape 11"/>
          <p:cNvSpPr/>
          <p:nvPr/>
        </p:nvSpPr>
        <p:spPr>
          <a:xfrm>
            <a:off x="8778240" y="2103120"/>
            <a:ext cx="164592" cy="164592"/>
          </a:xfrm>
          <a:prstGeom prst="ellipse">
            <a:avLst/>
          </a:prstGeom>
          <a:solidFill>
            <a:srgbClr val="F9E795"/>
          </a:solidFill>
          <a:ln w="12700">
            <a:solidFill>
              <a:srgbClr val="F9E795"/>
            </a:solidFill>
            <a:prstDash val="solid"/>
          </a:ln>
        </p:spPr>
      </p:sp>
      <p:sp>
        <p:nvSpPr>
          <p:cNvPr id="14" name="Shape 12"/>
          <p:cNvSpPr/>
          <p:nvPr/>
        </p:nvSpPr>
        <p:spPr>
          <a:xfrm>
            <a:off x="7406640" y="3749040"/>
            <a:ext cx="164592" cy="164592"/>
          </a:xfrm>
          <a:prstGeom prst="ellipse">
            <a:avLst/>
          </a:prstGeom>
          <a:solidFill>
            <a:srgbClr val="F9E795"/>
          </a:solidFill>
          <a:ln w="12700">
            <a:solidFill>
              <a:srgbClr val="F9E795"/>
            </a:solidFill>
            <a:prstDash val="solid"/>
          </a:ln>
        </p:spPr>
      </p:sp>
      <p:sp>
        <p:nvSpPr>
          <p:cNvPr id="15" name="Shape 13"/>
          <p:cNvSpPr/>
          <p:nvPr/>
        </p:nvSpPr>
        <p:spPr>
          <a:xfrm>
            <a:off x="8229600" y="3474720"/>
            <a:ext cx="164592" cy="164592"/>
          </a:xfrm>
          <a:prstGeom prst="ellipse">
            <a:avLst/>
          </a:prstGeom>
          <a:solidFill>
            <a:srgbClr val="F96167"/>
          </a:solidFill>
          <a:ln w="12700">
            <a:solidFill>
              <a:srgbClr val="F96167"/>
            </a:solidFill>
            <a:prstDash val="solid"/>
          </a:ln>
        </p:spPr>
      </p:sp>
      <p:sp>
        <p:nvSpPr>
          <p:cNvPr id="16" name="Shape 14"/>
          <p:cNvSpPr/>
          <p:nvPr/>
        </p:nvSpPr>
        <p:spPr>
          <a:xfrm>
            <a:off x="7863840" y="4023360"/>
            <a:ext cx="164592" cy="164592"/>
          </a:xfrm>
          <a:prstGeom prst="ellipse">
            <a:avLst/>
          </a:prstGeom>
          <a:solidFill>
            <a:srgbClr val="F9E795"/>
          </a:solidFill>
          <a:ln w="12700">
            <a:solidFill>
              <a:srgbClr val="F9E795"/>
            </a:solidFill>
            <a:prstDash val="solid"/>
          </a:ln>
        </p:spPr>
      </p:sp>
      <p:sp>
        <p:nvSpPr>
          <p:cNvPr id="17" name="Shape 15"/>
          <p:cNvSpPr/>
          <p:nvPr/>
        </p:nvSpPr>
        <p:spPr>
          <a:xfrm>
            <a:off x="8046720" y="1097280"/>
            <a:ext cx="0" cy="3291840"/>
          </a:xfrm>
          <a:prstGeom prst="line">
            <a:avLst/>
          </a:prstGeom>
          <a:noFill/>
          <a:ln w="25400">
            <a:solidFill>
              <a:srgbClr val="7B68EE"/>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9FF"/>
        </a:solidFill>
        <a:effectLst/>
      </p:bgPr>
    </p:bg>
    <p:spTree>
      <p:nvGrpSpPr>
        <p:cNvPr id="1" name=""/>
        <p:cNvGrpSpPr/>
        <p:nvPr/>
      </p:nvGrpSpPr>
      <p:grpSpPr>
        <a:xfrm>
          <a:off x="0" y="0"/>
          <a:ext cx="0" cy="0"/>
          <a:chOff x="0" y="0"/>
          <a:chExt cx="0" cy="0"/>
        </a:xfrm>
      </p:grpSpPr>
      <p:sp>
        <p:nvSpPr>
          <p:cNvPr id="2" name="Text 0"/>
          <p:cNvSpPr/>
          <p:nvPr/>
        </p:nvSpPr>
        <p:spPr>
          <a:xfrm>
            <a:off x="457200" y="274320"/>
            <a:ext cx="8229600" cy="640080"/>
          </a:xfrm>
          <a:prstGeom prst="rect">
            <a:avLst/>
          </a:prstGeom>
          <a:noFill/>
          <a:ln/>
        </p:spPr>
        <p:txBody>
          <a:bodyPr wrap="square" lIns="0" tIns="0" rIns="0" bIns="0" rtlCol="0" anchor="ctr"/>
          <a:lstStyle/>
          <a:p>
            <a:pPr marL="0" indent="0">
              <a:buNone/>
            </a:pPr>
            <a:r>
              <a:rPr lang="en-US" sz="3400" b="1" dirty="0">
                <a:solidFill>
                  <a:srgbClr val="0D1B3E"/>
                </a:solidFill>
                <a:latin typeface="Cambria" pitchFamily="34" charset="0"/>
                <a:ea typeface="Cambria" pitchFamily="34" charset="-122"/>
                <a:cs typeface="Cambria" pitchFamily="34" charset="-120"/>
              </a:rPr>
              <a:t>What We'll Cover</a:t>
            </a:r>
            <a:endParaRPr lang="en-US" sz="3400" dirty="0"/>
          </a:p>
        </p:txBody>
      </p:sp>
      <p:sp>
        <p:nvSpPr>
          <p:cNvPr id="3" name="Text 1"/>
          <p:cNvSpPr/>
          <p:nvPr/>
        </p:nvSpPr>
        <p:spPr>
          <a:xfrm>
            <a:off x="457200" y="868680"/>
            <a:ext cx="8229600" cy="320040"/>
          </a:xfrm>
          <a:prstGeom prst="rect">
            <a:avLst/>
          </a:prstGeom>
          <a:noFill/>
          <a:ln/>
        </p:spPr>
        <p:txBody>
          <a:bodyPr wrap="square" lIns="0" tIns="0" rIns="0" bIns="0" rtlCol="0" anchor="ctr"/>
          <a:lstStyle/>
          <a:p>
            <a:pPr marL="0" indent="0">
              <a:buNone/>
            </a:pPr>
            <a:endParaRPr lang="en-US" sz="1400" dirty="0"/>
          </a:p>
        </p:txBody>
      </p:sp>
      <p:sp>
        <p:nvSpPr>
          <p:cNvPr id="4" name="Shape 2"/>
          <p:cNvSpPr/>
          <p:nvPr/>
        </p:nvSpPr>
        <p:spPr>
          <a:xfrm>
            <a:off x="457200" y="1325880"/>
            <a:ext cx="4023360" cy="749808"/>
          </a:xfrm>
          <a:prstGeom prst="roundRect">
            <a:avLst>
              <a:gd name="adj" fmla="val 9756"/>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5" name="Shape 3"/>
          <p:cNvSpPr/>
          <p:nvPr/>
        </p:nvSpPr>
        <p:spPr>
          <a:xfrm>
            <a:off x="457200" y="1325880"/>
            <a:ext cx="530352" cy="749808"/>
          </a:xfrm>
          <a:prstGeom prst="roundRect">
            <a:avLst>
              <a:gd name="adj" fmla="val 13793"/>
            </a:avLst>
          </a:prstGeom>
          <a:solidFill>
            <a:srgbClr val="0D9488"/>
          </a:solidFill>
          <a:ln w="12700">
            <a:solidFill>
              <a:srgbClr val="0D9488"/>
            </a:solidFill>
            <a:prstDash val="solid"/>
          </a:ln>
        </p:spPr>
      </p:sp>
      <p:sp>
        <p:nvSpPr>
          <p:cNvPr id="6" name="Text 4"/>
          <p:cNvSpPr/>
          <p:nvPr/>
        </p:nvSpPr>
        <p:spPr>
          <a:xfrm>
            <a:off x="457200" y="1325880"/>
            <a:ext cx="530352" cy="7498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7" name="Text 5"/>
          <p:cNvSpPr/>
          <p:nvPr/>
        </p:nvSpPr>
        <p:spPr>
          <a:xfrm>
            <a:off x="1078992" y="1380744"/>
            <a:ext cx="3291840" cy="320040"/>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What is an SVM?</a:t>
            </a:r>
            <a:endParaRPr lang="en-US" sz="1300" dirty="0"/>
          </a:p>
        </p:txBody>
      </p:sp>
      <p:sp>
        <p:nvSpPr>
          <p:cNvPr id="8" name="Text 6"/>
          <p:cNvSpPr/>
          <p:nvPr/>
        </p:nvSpPr>
        <p:spPr>
          <a:xfrm>
            <a:off x="1078992" y="1700784"/>
            <a:ext cx="329184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The core idea — finding the best boundary</a:t>
            </a:r>
            <a:endParaRPr lang="en-US" sz="1000" dirty="0"/>
          </a:p>
        </p:txBody>
      </p:sp>
      <p:sp>
        <p:nvSpPr>
          <p:cNvPr id="9" name="Shape 7"/>
          <p:cNvSpPr/>
          <p:nvPr/>
        </p:nvSpPr>
        <p:spPr>
          <a:xfrm>
            <a:off x="4754880" y="1325880"/>
            <a:ext cx="4023360" cy="749808"/>
          </a:xfrm>
          <a:prstGeom prst="roundRect">
            <a:avLst>
              <a:gd name="adj" fmla="val 9756"/>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10" name="Shape 8"/>
          <p:cNvSpPr/>
          <p:nvPr/>
        </p:nvSpPr>
        <p:spPr>
          <a:xfrm>
            <a:off x="4754880" y="1325880"/>
            <a:ext cx="530352" cy="749808"/>
          </a:xfrm>
          <a:prstGeom prst="roundRect">
            <a:avLst>
              <a:gd name="adj" fmla="val 13793"/>
            </a:avLst>
          </a:prstGeom>
          <a:solidFill>
            <a:srgbClr val="0D9488"/>
          </a:solidFill>
          <a:ln w="12700">
            <a:solidFill>
              <a:srgbClr val="0D9488"/>
            </a:solidFill>
            <a:prstDash val="solid"/>
          </a:ln>
        </p:spPr>
      </p:sp>
      <p:sp>
        <p:nvSpPr>
          <p:cNvPr id="11" name="Text 9"/>
          <p:cNvSpPr/>
          <p:nvPr/>
        </p:nvSpPr>
        <p:spPr>
          <a:xfrm>
            <a:off x="4754880" y="1325880"/>
            <a:ext cx="530352" cy="7498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2" name="Text 10"/>
          <p:cNvSpPr/>
          <p:nvPr/>
        </p:nvSpPr>
        <p:spPr>
          <a:xfrm>
            <a:off x="5376672" y="1380744"/>
            <a:ext cx="3291840" cy="320040"/>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Hyperplanes &amp; Margins</a:t>
            </a:r>
            <a:endParaRPr lang="en-US" sz="1300" dirty="0"/>
          </a:p>
        </p:txBody>
      </p:sp>
      <p:sp>
        <p:nvSpPr>
          <p:cNvPr id="13" name="Text 11"/>
          <p:cNvSpPr/>
          <p:nvPr/>
        </p:nvSpPr>
        <p:spPr>
          <a:xfrm>
            <a:off x="5376672" y="1700784"/>
            <a:ext cx="329184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Why the 'widest gap' wins</a:t>
            </a:r>
            <a:endParaRPr lang="en-US" sz="1000" dirty="0"/>
          </a:p>
        </p:txBody>
      </p:sp>
      <p:sp>
        <p:nvSpPr>
          <p:cNvPr id="14" name="Shape 12"/>
          <p:cNvSpPr/>
          <p:nvPr/>
        </p:nvSpPr>
        <p:spPr>
          <a:xfrm>
            <a:off x="457200" y="2240280"/>
            <a:ext cx="4023360" cy="749808"/>
          </a:xfrm>
          <a:prstGeom prst="roundRect">
            <a:avLst>
              <a:gd name="adj" fmla="val 9756"/>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15" name="Shape 13"/>
          <p:cNvSpPr/>
          <p:nvPr/>
        </p:nvSpPr>
        <p:spPr>
          <a:xfrm>
            <a:off x="457200" y="2240280"/>
            <a:ext cx="530352" cy="749808"/>
          </a:xfrm>
          <a:prstGeom prst="roundRect">
            <a:avLst>
              <a:gd name="adj" fmla="val 13793"/>
            </a:avLst>
          </a:prstGeom>
          <a:solidFill>
            <a:srgbClr val="0D9488"/>
          </a:solidFill>
          <a:ln w="12700">
            <a:solidFill>
              <a:srgbClr val="0D9488"/>
            </a:solidFill>
            <a:prstDash val="solid"/>
          </a:ln>
        </p:spPr>
      </p:sp>
      <p:sp>
        <p:nvSpPr>
          <p:cNvPr id="16" name="Text 14"/>
          <p:cNvSpPr/>
          <p:nvPr/>
        </p:nvSpPr>
        <p:spPr>
          <a:xfrm>
            <a:off x="457200" y="2240280"/>
            <a:ext cx="530352" cy="7498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7" name="Text 15"/>
          <p:cNvSpPr/>
          <p:nvPr/>
        </p:nvSpPr>
        <p:spPr>
          <a:xfrm>
            <a:off x="1078992" y="2295144"/>
            <a:ext cx="3291840" cy="320040"/>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Support Vectors</a:t>
            </a:r>
            <a:endParaRPr lang="en-US" sz="1300" dirty="0"/>
          </a:p>
        </p:txBody>
      </p:sp>
      <p:sp>
        <p:nvSpPr>
          <p:cNvPr id="18" name="Text 16"/>
          <p:cNvSpPr/>
          <p:nvPr/>
        </p:nvSpPr>
        <p:spPr>
          <a:xfrm>
            <a:off x="1078992" y="2615184"/>
            <a:ext cx="329184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The VIP points that define everything</a:t>
            </a:r>
            <a:endParaRPr lang="en-US" sz="1000" dirty="0"/>
          </a:p>
        </p:txBody>
      </p:sp>
      <p:sp>
        <p:nvSpPr>
          <p:cNvPr id="19" name="Shape 17"/>
          <p:cNvSpPr/>
          <p:nvPr/>
        </p:nvSpPr>
        <p:spPr>
          <a:xfrm>
            <a:off x="4754880" y="2240280"/>
            <a:ext cx="4023360" cy="749808"/>
          </a:xfrm>
          <a:prstGeom prst="roundRect">
            <a:avLst>
              <a:gd name="adj" fmla="val 9756"/>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20" name="Shape 18"/>
          <p:cNvSpPr/>
          <p:nvPr/>
        </p:nvSpPr>
        <p:spPr>
          <a:xfrm>
            <a:off x="4754880" y="2240280"/>
            <a:ext cx="530352" cy="749808"/>
          </a:xfrm>
          <a:prstGeom prst="roundRect">
            <a:avLst>
              <a:gd name="adj" fmla="val 13793"/>
            </a:avLst>
          </a:prstGeom>
          <a:solidFill>
            <a:srgbClr val="0D9488"/>
          </a:solidFill>
          <a:ln w="12700">
            <a:solidFill>
              <a:srgbClr val="0D9488"/>
            </a:solidFill>
            <a:prstDash val="solid"/>
          </a:ln>
        </p:spPr>
      </p:sp>
      <p:sp>
        <p:nvSpPr>
          <p:cNvPr id="21" name="Text 19"/>
          <p:cNvSpPr/>
          <p:nvPr/>
        </p:nvSpPr>
        <p:spPr>
          <a:xfrm>
            <a:off x="4754880" y="2240280"/>
            <a:ext cx="530352" cy="7498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2" name="Text 20"/>
          <p:cNvSpPr/>
          <p:nvPr/>
        </p:nvSpPr>
        <p:spPr>
          <a:xfrm>
            <a:off x="5376672" y="2295144"/>
            <a:ext cx="3291840" cy="320040"/>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The Kernel Trick</a:t>
            </a:r>
            <a:endParaRPr lang="en-US" sz="1300" dirty="0"/>
          </a:p>
        </p:txBody>
      </p:sp>
      <p:sp>
        <p:nvSpPr>
          <p:cNvPr id="23" name="Text 21"/>
          <p:cNvSpPr/>
          <p:nvPr/>
        </p:nvSpPr>
        <p:spPr>
          <a:xfrm>
            <a:off x="5376672" y="2615184"/>
            <a:ext cx="329184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Handling non-linear data elegantly</a:t>
            </a:r>
            <a:endParaRPr lang="en-US" sz="1000" dirty="0"/>
          </a:p>
        </p:txBody>
      </p:sp>
      <p:sp>
        <p:nvSpPr>
          <p:cNvPr id="24" name="Shape 22"/>
          <p:cNvSpPr/>
          <p:nvPr/>
        </p:nvSpPr>
        <p:spPr>
          <a:xfrm>
            <a:off x="457200" y="3154680"/>
            <a:ext cx="4023360" cy="749808"/>
          </a:xfrm>
          <a:prstGeom prst="roundRect">
            <a:avLst>
              <a:gd name="adj" fmla="val 9756"/>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25" name="Shape 23"/>
          <p:cNvSpPr/>
          <p:nvPr/>
        </p:nvSpPr>
        <p:spPr>
          <a:xfrm>
            <a:off x="457200" y="3154680"/>
            <a:ext cx="530352" cy="749808"/>
          </a:xfrm>
          <a:prstGeom prst="roundRect">
            <a:avLst>
              <a:gd name="adj" fmla="val 13793"/>
            </a:avLst>
          </a:prstGeom>
          <a:solidFill>
            <a:srgbClr val="0D9488"/>
          </a:solidFill>
          <a:ln w="12700">
            <a:solidFill>
              <a:srgbClr val="0D9488"/>
            </a:solidFill>
            <a:prstDash val="solid"/>
          </a:ln>
        </p:spPr>
      </p:sp>
      <p:sp>
        <p:nvSpPr>
          <p:cNvPr id="26" name="Text 24"/>
          <p:cNvSpPr/>
          <p:nvPr/>
        </p:nvSpPr>
        <p:spPr>
          <a:xfrm>
            <a:off x="457200" y="3154680"/>
            <a:ext cx="530352" cy="7498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7" name="Text 25"/>
          <p:cNvSpPr/>
          <p:nvPr/>
        </p:nvSpPr>
        <p:spPr>
          <a:xfrm>
            <a:off x="1078992" y="3209544"/>
            <a:ext cx="3291840" cy="320040"/>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Types of Kernels</a:t>
            </a:r>
            <a:endParaRPr lang="en-US" sz="1300" dirty="0"/>
          </a:p>
        </p:txBody>
      </p:sp>
      <p:sp>
        <p:nvSpPr>
          <p:cNvPr id="28" name="Text 26"/>
          <p:cNvSpPr/>
          <p:nvPr/>
        </p:nvSpPr>
        <p:spPr>
          <a:xfrm>
            <a:off x="1078992" y="3529584"/>
            <a:ext cx="329184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Linear, RBF, Polynomial, Sigmoid</a:t>
            </a:r>
            <a:endParaRPr lang="en-US" sz="1000" dirty="0"/>
          </a:p>
        </p:txBody>
      </p:sp>
      <p:sp>
        <p:nvSpPr>
          <p:cNvPr id="29" name="Shape 27"/>
          <p:cNvSpPr/>
          <p:nvPr/>
        </p:nvSpPr>
        <p:spPr>
          <a:xfrm>
            <a:off x="4754880" y="3154680"/>
            <a:ext cx="4023360" cy="749808"/>
          </a:xfrm>
          <a:prstGeom prst="roundRect">
            <a:avLst>
              <a:gd name="adj" fmla="val 9756"/>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30" name="Shape 28"/>
          <p:cNvSpPr/>
          <p:nvPr/>
        </p:nvSpPr>
        <p:spPr>
          <a:xfrm>
            <a:off x="4754880" y="3154680"/>
            <a:ext cx="530352" cy="749808"/>
          </a:xfrm>
          <a:prstGeom prst="roundRect">
            <a:avLst>
              <a:gd name="adj" fmla="val 13793"/>
            </a:avLst>
          </a:prstGeom>
          <a:solidFill>
            <a:srgbClr val="0D9488"/>
          </a:solidFill>
          <a:ln w="12700">
            <a:solidFill>
              <a:srgbClr val="0D9488"/>
            </a:solidFill>
            <a:prstDash val="solid"/>
          </a:ln>
        </p:spPr>
      </p:sp>
      <p:sp>
        <p:nvSpPr>
          <p:cNvPr id="31" name="Text 29"/>
          <p:cNvSpPr/>
          <p:nvPr/>
        </p:nvSpPr>
        <p:spPr>
          <a:xfrm>
            <a:off x="4754880" y="3154680"/>
            <a:ext cx="530352" cy="7498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32" name="Text 30"/>
          <p:cNvSpPr/>
          <p:nvPr/>
        </p:nvSpPr>
        <p:spPr>
          <a:xfrm>
            <a:off x="5376672" y="3209544"/>
            <a:ext cx="3291840" cy="320040"/>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Parameters C &amp; Gamma</a:t>
            </a:r>
            <a:endParaRPr lang="en-US" sz="1300" dirty="0"/>
          </a:p>
        </p:txBody>
      </p:sp>
      <p:sp>
        <p:nvSpPr>
          <p:cNvPr id="33" name="Text 31"/>
          <p:cNvSpPr/>
          <p:nvPr/>
        </p:nvSpPr>
        <p:spPr>
          <a:xfrm>
            <a:off x="5376672" y="3529584"/>
            <a:ext cx="329184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Tuning for the best results</a:t>
            </a:r>
            <a:endParaRPr lang="en-US" sz="1000" dirty="0"/>
          </a:p>
        </p:txBody>
      </p:sp>
      <p:sp>
        <p:nvSpPr>
          <p:cNvPr id="34" name="Shape 32"/>
          <p:cNvSpPr/>
          <p:nvPr/>
        </p:nvSpPr>
        <p:spPr>
          <a:xfrm>
            <a:off x="457200" y="4069080"/>
            <a:ext cx="4023360" cy="749808"/>
          </a:xfrm>
          <a:prstGeom prst="roundRect">
            <a:avLst>
              <a:gd name="adj" fmla="val 9756"/>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35" name="Shape 33"/>
          <p:cNvSpPr/>
          <p:nvPr/>
        </p:nvSpPr>
        <p:spPr>
          <a:xfrm>
            <a:off x="457200" y="4069080"/>
            <a:ext cx="530352" cy="749808"/>
          </a:xfrm>
          <a:prstGeom prst="roundRect">
            <a:avLst>
              <a:gd name="adj" fmla="val 13793"/>
            </a:avLst>
          </a:prstGeom>
          <a:solidFill>
            <a:srgbClr val="0D9488"/>
          </a:solidFill>
          <a:ln w="12700">
            <a:solidFill>
              <a:srgbClr val="0D9488"/>
            </a:solidFill>
            <a:prstDash val="solid"/>
          </a:ln>
        </p:spPr>
      </p:sp>
      <p:sp>
        <p:nvSpPr>
          <p:cNvPr id="36" name="Text 34"/>
          <p:cNvSpPr/>
          <p:nvPr/>
        </p:nvSpPr>
        <p:spPr>
          <a:xfrm>
            <a:off x="457200" y="4069080"/>
            <a:ext cx="530352" cy="7498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37" name="Text 35"/>
          <p:cNvSpPr/>
          <p:nvPr/>
        </p:nvSpPr>
        <p:spPr>
          <a:xfrm>
            <a:off x="1078992" y="4123944"/>
            <a:ext cx="3291840" cy="320040"/>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SVM in Practice</a:t>
            </a:r>
            <a:endParaRPr lang="en-US" sz="1300" dirty="0"/>
          </a:p>
        </p:txBody>
      </p:sp>
      <p:sp>
        <p:nvSpPr>
          <p:cNvPr id="38" name="Text 36"/>
          <p:cNvSpPr/>
          <p:nvPr/>
        </p:nvSpPr>
        <p:spPr>
          <a:xfrm>
            <a:off x="1078992" y="4443984"/>
            <a:ext cx="329184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Step-by-step process &amp; real case study</a:t>
            </a:r>
            <a:endParaRPr lang="en-US" sz="1000" dirty="0"/>
          </a:p>
        </p:txBody>
      </p:sp>
      <p:sp>
        <p:nvSpPr>
          <p:cNvPr id="39" name="Shape 37"/>
          <p:cNvSpPr/>
          <p:nvPr/>
        </p:nvSpPr>
        <p:spPr>
          <a:xfrm>
            <a:off x="4754880" y="4069080"/>
            <a:ext cx="4023360" cy="749808"/>
          </a:xfrm>
          <a:prstGeom prst="roundRect">
            <a:avLst>
              <a:gd name="adj" fmla="val 9756"/>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40" name="Shape 38"/>
          <p:cNvSpPr/>
          <p:nvPr/>
        </p:nvSpPr>
        <p:spPr>
          <a:xfrm>
            <a:off x="4754880" y="4069080"/>
            <a:ext cx="530352" cy="749808"/>
          </a:xfrm>
          <a:prstGeom prst="roundRect">
            <a:avLst>
              <a:gd name="adj" fmla="val 13793"/>
            </a:avLst>
          </a:prstGeom>
          <a:solidFill>
            <a:srgbClr val="0D9488"/>
          </a:solidFill>
          <a:ln w="12700">
            <a:solidFill>
              <a:srgbClr val="0D9488"/>
            </a:solidFill>
            <a:prstDash val="solid"/>
          </a:ln>
        </p:spPr>
      </p:sp>
      <p:sp>
        <p:nvSpPr>
          <p:cNvPr id="41" name="Text 39"/>
          <p:cNvSpPr/>
          <p:nvPr/>
        </p:nvSpPr>
        <p:spPr>
          <a:xfrm>
            <a:off x="4754880" y="4069080"/>
            <a:ext cx="530352" cy="74980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2" name="Text 40"/>
          <p:cNvSpPr/>
          <p:nvPr/>
        </p:nvSpPr>
        <p:spPr>
          <a:xfrm>
            <a:off x="5376672" y="4123944"/>
            <a:ext cx="3291840" cy="320040"/>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Pros, Cons &amp; Real Uses</a:t>
            </a:r>
            <a:endParaRPr lang="en-US" sz="1300" dirty="0"/>
          </a:p>
        </p:txBody>
      </p:sp>
      <p:sp>
        <p:nvSpPr>
          <p:cNvPr id="43" name="Text 41"/>
          <p:cNvSpPr/>
          <p:nvPr/>
        </p:nvSpPr>
        <p:spPr>
          <a:xfrm>
            <a:off x="5376672" y="4443984"/>
            <a:ext cx="329184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When to use SVM — and when not to</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3E"/>
          </a:solidFill>
          <a:ln w="12700">
            <a:solidFill>
              <a:srgbClr val="0D1B3E"/>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01  |  What is an SVM?</a:t>
            </a:r>
            <a:endParaRPr lang="en-US" sz="2200" dirty="0"/>
          </a:p>
        </p:txBody>
      </p:sp>
      <p:sp>
        <p:nvSpPr>
          <p:cNvPr id="4" name="Text 2"/>
          <p:cNvSpPr/>
          <p:nvPr/>
        </p:nvSpPr>
        <p:spPr>
          <a:xfrm>
            <a:off x="457200" y="960120"/>
            <a:ext cx="5029200" cy="502920"/>
          </a:xfrm>
          <a:prstGeom prst="rect">
            <a:avLst/>
          </a:prstGeom>
          <a:noFill/>
          <a:ln/>
        </p:spPr>
        <p:txBody>
          <a:bodyPr wrap="square" lIns="0" tIns="0" rIns="0" bIns="0" rtlCol="0" anchor="ctr"/>
          <a:lstStyle/>
          <a:p>
            <a:pPr marL="0" indent="0">
              <a:buNone/>
            </a:pPr>
            <a:r>
              <a:rPr lang="en-US" sz="1800" b="1" dirty="0">
                <a:solidFill>
                  <a:srgbClr val="0D1B3E"/>
                </a:solidFill>
                <a:latin typeface="Cambria" pitchFamily="34" charset="0"/>
                <a:ea typeface="Cambria" pitchFamily="34" charset="-122"/>
                <a:cs typeface="Cambria" pitchFamily="34" charset="-120"/>
              </a:rPr>
              <a:t>Imagine a Box of Apples &amp; Oranges 🍎🍊</a:t>
            </a:r>
            <a:endParaRPr lang="en-US" sz="1800" dirty="0"/>
          </a:p>
        </p:txBody>
      </p:sp>
      <p:sp>
        <p:nvSpPr>
          <p:cNvPr id="5" name="Text 3"/>
          <p:cNvSpPr/>
          <p:nvPr/>
        </p:nvSpPr>
        <p:spPr>
          <a:xfrm>
            <a:off x="457200" y="1508760"/>
            <a:ext cx="4846320" cy="128016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A Support Vector Machine (SVM) is a smart algorithm that draws the BEST possible dividing line between two groups of things.</a:t>
            </a:r>
            <a:endParaRPr lang="en-US" sz="1300" dirty="0"/>
          </a:p>
          <a:p>
            <a:pPr marL="0" indent="0">
              <a:buNone/>
            </a:pPr>
            <a:endParaRPr lang="en-US" sz="1300" dirty="0"/>
          </a:p>
          <a:p>
            <a:pPr marL="0" indent="0">
              <a:buNone/>
            </a:pPr>
            <a:r>
              <a:rPr lang="en-US" sz="1300" dirty="0">
                <a:solidFill>
                  <a:srgbClr val="334155"/>
                </a:solidFill>
                <a:latin typeface="Calibri" pitchFamily="34" charset="0"/>
                <a:ea typeface="Calibri" pitchFamily="34" charset="-122"/>
                <a:cs typeface="Calibri" pitchFamily="34" charset="-120"/>
              </a:rPr>
              <a:t>It's a supervised machine learning algorithm — you give it labelled examples and it learns to classify them.</a:t>
            </a:r>
            <a:endParaRPr lang="en-US" sz="1300" dirty="0"/>
          </a:p>
        </p:txBody>
      </p:sp>
      <p:sp>
        <p:nvSpPr>
          <p:cNvPr id="6" name="Shape 4"/>
          <p:cNvSpPr/>
          <p:nvPr/>
        </p:nvSpPr>
        <p:spPr>
          <a:xfrm>
            <a:off x="457200" y="2880360"/>
            <a:ext cx="4846320" cy="777240"/>
          </a:xfrm>
          <a:prstGeom prst="roundRect">
            <a:avLst>
              <a:gd name="adj" fmla="val 9412"/>
            </a:avLst>
          </a:prstGeom>
          <a:solidFill>
            <a:srgbClr val="0D9488"/>
          </a:solidFill>
          <a:ln w="12700">
            <a:solidFill>
              <a:srgbClr val="0D9488"/>
            </a:solidFill>
            <a:prstDash val="solid"/>
          </a:ln>
        </p:spPr>
      </p:sp>
      <p:sp>
        <p:nvSpPr>
          <p:cNvPr id="7" name="Text 5"/>
          <p:cNvSpPr/>
          <p:nvPr/>
        </p:nvSpPr>
        <p:spPr>
          <a:xfrm>
            <a:off x="502920" y="2880360"/>
            <a:ext cx="4754880" cy="777240"/>
          </a:xfrm>
          <a:prstGeom prst="rect">
            <a:avLst/>
          </a:prstGeom>
          <a:noFill/>
          <a:ln/>
        </p:spPr>
        <p:txBody>
          <a:bodyPr wrap="square" lIns="101600" tIns="101600" rIns="101600" bIns="10160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Key Idea: Don't find just ANY line. Find the line with the WIDEST possible gap on both sides!</a:t>
            </a:r>
            <a:endParaRPr lang="en-US" sz="1300" dirty="0"/>
          </a:p>
        </p:txBody>
      </p:sp>
      <p:sp>
        <p:nvSpPr>
          <p:cNvPr id="8" name="Shape 6"/>
          <p:cNvSpPr/>
          <p:nvPr/>
        </p:nvSpPr>
        <p:spPr>
          <a:xfrm>
            <a:off x="457200" y="3749040"/>
            <a:ext cx="4846320" cy="658368"/>
          </a:xfrm>
          <a:prstGeom prst="roundRect">
            <a:avLst>
              <a:gd name="adj" fmla="val 11111"/>
            </a:avLst>
          </a:prstGeom>
          <a:solidFill>
            <a:srgbClr val="CCFBF1"/>
          </a:solidFill>
          <a:ln w="12700">
            <a:solidFill>
              <a:srgbClr val="0D9488"/>
            </a:solidFill>
            <a:prstDash val="solid"/>
          </a:ln>
        </p:spPr>
      </p:sp>
      <p:sp>
        <p:nvSpPr>
          <p:cNvPr id="9" name="Text 7"/>
          <p:cNvSpPr/>
          <p:nvPr/>
        </p:nvSpPr>
        <p:spPr>
          <a:xfrm>
            <a:off x="502920" y="3749040"/>
            <a:ext cx="4754880" cy="658368"/>
          </a:xfrm>
          <a:prstGeom prst="rect">
            <a:avLst/>
          </a:prstGeom>
          <a:noFill/>
          <a:ln/>
        </p:spPr>
        <p:txBody>
          <a:bodyPr wrap="square" lIns="76200" tIns="76200" rIns="76200" bIns="7620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  Fun Fact: SVM was invented in the 1990s by Vladimir Vapnik and is still one of the most reliable ML algorithms used in industry today!</a:t>
            </a:r>
            <a:endParaRPr lang="en-US" sz="1100" dirty="0"/>
          </a:p>
        </p:txBody>
      </p:sp>
      <p:sp>
        <p:nvSpPr>
          <p:cNvPr id="10" name="Shape 8"/>
          <p:cNvSpPr/>
          <p:nvPr/>
        </p:nvSpPr>
        <p:spPr>
          <a:xfrm>
            <a:off x="5577840" y="914400"/>
            <a:ext cx="3291840" cy="3886200"/>
          </a:xfrm>
          <a:prstGeom prst="roundRect">
            <a:avLst>
              <a:gd name="adj" fmla="val 2778"/>
            </a:avLst>
          </a:prstGeom>
          <a:solidFill>
            <a:srgbClr val="FFFFFF"/>
          </a:solidFill>
          <a:ln w="12700">
            <a:solidFill>
              <a:srgbClr val="E2E8F0"/>
            </a:solidFill>
            <a:prstDash val="solid"/>
          </a:ln>
          <a:effectLst>
            <a:outerShdw blurRad="101600" dist="38100" dir="2700000" algn="bl" rotWithShape="0">
              <a:srgbClr val="000000">
                <a:alpha val="12000"/>
              </a:srgbClr>
            </a:outerShdw>
          </a:effectLst>
        </p:spPr>
      </p:sp>
      <p:sp>
        <p:nvSpPr>
          <p:cNvPr id="11" name="Text 9"/>
          <p:cNvSpPr/>
          <p:nvPr/>
        </p:nvSpPr>
        <p:spPr>
          <a:xfrm>
            <a:off x="5577840" y="960120"/>
            <a:ext cx="3291840" cy="365760"/>
          </a:xfrm>
          <a:prstGeom prst="rect">
            <a:avLst/>
          </a:prstGeom>
          <a:noFill/>
          <a:ln/>
        </p:spPr>
        <p:txBody>
          <a:bodyPr wrap="square" lIns="0" tIns="0" rIns="0" bIns="0" rtlCol="0" anchor="ctr"/>
          <a:lstStyle/>
          <a:p>
            <a:pPr marL="0" indent="0" algn="ctr">
              <a:buNone/>
            </a:pPr>
            <a:r>
              <a:rPr lang="en-US" sz="1200" b="1" dirty="0">
                <a:solidFill>
                  <a:srgbClr val="0D1B3E"/>
                </a:solidFill>
                <a:latin typeface="Calibri" pitchFamily="34" charset="0"/>
                <a:ea typeface="Calibri" pitchFamily="34" charset="-122"/>
                <a:cs typeface="Calibri" pitchFamily="34" charset="-120"/>
              </a:rPr>
              <a:t>SVM In Action</a:t>
            </a:r>
            <a:endParaRPr lang="en-US" sz="1200" dirty="0"/>
          </a:p>
        </p:txBody>
      </p:sp>
      <p:sp>
        <p:nvSpPr>
          <p:cNvPr id="12" name="Shape 10"/>
          <p:cNvSpPr/>
          <p:nvPr/>
        </p:nvSpPr>
        <p:spPr>
          <a:xfrm>
            <a:off x="5897880" y="1554480"/>
            <a:ext cx="256032" cy="256032"/>
          </a:xfrm>
          <a:prstGeom prst="ellipse">
            <a:avLst/>
          </a:prstGeom>
          <a:solidFill>
            <a:srgbClr val="22C55E"/>
          </a:solidFill>
          <a:ln w="12700">
            <a:solidFill>
              <a:srgbClr val="22C55E"/>
            </a:solidFill>
            <a:prstDash val="solid"/>
          </a:ln>
        </p:spPr>
      </p:sp>
      <p:sp>
        <p:nvSpPr>
          <p:cNvPr id="13" name="Shape 11"/>
          <p:cNvSpPr/>
          <p:nvPr/>
        </p:nvSpPr>
        <p:spPr>
          <a:xfrm>
            <a:off x="6080760" y="1920240"/>
            <a:ext cx="256032" cy="256032"/>
          </a:xfrm>
          <a:prstGeom prst="ellipse">
            <a:avLst/>
          </a:prstGeom>
          <a:solidFill>
            <a:srgbClr val="22C55E"/>
          </a:solidFill>
          <a:ln w="12700">
            <a:solidFill>
              <a:srgbClr val="22C55E"/>
            </a:solidFill>
            <a:prstDash val="solid"/>
          </a:ln>
        </p:spPr>
      </p:sp>
      <p:sp>
        <p:nvSpPr>
          <p:cNvPr id="14" name="Shape 12"/>
          <p:cNvSpPr/>
          <p:nvPr/>
        </p:nvSpPr>
        <p:spPr>
          <a:xfrm>
            <a:off x="5852160" y="2286000"/>
            <a:ext cx="256032" cy="256032"/>
          </a:xfrm>
          <a:prstGeom prst="ellipse">
            <a:avLst/>
          </a:prstGeom>
          <a:solidFill>
            <a:srgbClr val="22C55E"/>
          </a:solidFill>
          <a:ln w="12700">
            <a:solidFill>
              <a:srgbClr val="22C55E"/>
            </a:solidFill>
            <a:prstDash val="solid"/>
          </a:ln>
        </p:spPr>
      </p:sp>
      <p:sp>
        <p:nvSpPr>
          <p:cNvPr id="15" name="Shape 13"/>
          <p:cNvSpPr/>
          <p:nvPr/>
        </p:nvSpPr>
        <p:spPr>
          <a:xfrm>
            <a:off x="6126480" y="2651760"/>
            <a:ext cx="256032" cy="256032"/>
          </a:xfrm>
          <a:prstGeom prst="ellipse">
            <a:avLst/>
          </a:prstGeom>
          <a:solidFill>
            <a:srgbClr val="22C55E"/>
          </a:solidFill>
          <a:ln w="12700">
            <a:solidFill>
              <a:srgbClr val="22C55E"/>
            </a:solidFill>
            <a:prstDash val="solid"/>
          </a:ln>
        </p:spPr>
      </p:sp>
      <p:sp>
        <p:nvSpPr>
          <p:cNvPr id="16" name="Shape 14"/>
          <p:cNvSpPr/>
          <p:nvPr/>
        </p:nvSpPr>
        <p:spPr>
          <a:xfrm>
            <a:off x="5943600" y="3017520"/>
            <a:ext cx="256032" cy="256032"/>
          </a:xfrm>
          <a:prstGeom prst="ellipse">
            <a:avLst/>
          </a:prstGeom>
          <a:solidFill>
            <a:srgbClr val="22C55E"/>
          </a:solidFill>
          <a:ln w="12700">
            <a:solidFill>
              <a:srgbClr val="22C55E"/>
            </a:solidFill>
            <a:prstDash val="solid"/>
          </a:ln>
        </p:spPr>
      </p:sp>
      <p:sp>
        <p:nvSpPr>
          <p:cNvPr id="17" name="Shape 15"/>
          <p:cNvSpPr/>
          <p:nvPr/>
        </p:nvSpPr>
        <p:spPr>
          <a:xfrm>
            <a:off x="8046720" y="1554480"/>
            <a:ext cx="256032" cy="256032"/>
          </a:xfrm>
          <a:prstGeom prst="ellipse">
            <a:avLst/>
          </a:prstGeom>
          <a:solidFill>
            <a:srgbClr val="F97316"/>
          </a:solidFill>
          <a:ln w="12700">
            <a:solidFill>
              <a:srgbClr val="F97316"/>
            </a:solidFill>
            <a:prstDash val="solid"/>
          </a:ln>
        </p:spPr>
      </p:sp>
      <p:sp>
        <p:nvSpPr>
          <p:cNvPr id="18" name="Shape 16"/>
          <p:cNvSpPr/>
          <p:nvPr/>
        </p:nvSpPr>
        <p:spPr>
          <a:xfrm>
            <a:off x="7863840" y="1965960"/>
            <a:ext cx="256032" cy="256032"/>
          </a:xfrm>
          <a:prstGeom prst="ellipse">
            <a:avLst/>
          </a:prstGeom>
          <a:solidFill>
            <a:srgbClr val="F97316"/>
          </a:solidFill>
          <a:ln w="12700">
            <a:solidFill>
              <a:srgbClr val="F97316"/>
            </a:solidFill>
            <a:prstDash val="solid"/>
          </a:ln>
        </p:spPr>
      </p:sp>
      <p:sp>
        <p:nvSpPr>
          <p:cNvPr id="19" name="Shape 17"/>
          <p:cNvSpPr/>
          <p:nvPr/>
        </p:nvSpPr>
        <p:spPr>
          <a:xfrm>
            <a:off x="8092440" y="2331720"/>
            <a:ext cx="256032" cy="256032"/>
          </a:xfrm>
          <a:prstGeom prst="ellipse">
            <a:avLst/>
          </a:prstGeom>
          <a:solidFill>
            <a:srgbClr val="F97316"/>
          </a:solidFill>
          <a:ln w="12700">
            <a:solidFill>
              <a:srgbClr val="F97316"/>
            </a:solidFill>
            <a:prstDash val="solid"/>
          </a:ln>
        </p:spPr>
      </p:sp>
      <p:sp>
        <p:nvSpPr>
          <p:cNvPr id="20" name="Shape 18"/>
          <p:cNvSpPr/>
          <p:nvPr/>
        </p:nvSpPr>
        <p:spPr>
          <a:xfrm>
            <a:off x="7909560" y="2743200"/>
            <a:ext cx="256032" cy="256032"/>
          </a:xfrm>
          <a:prstGeom prst="ellipse">
            <a:avLst/>
          </a:prstGeom>
          <a:solidFill>
            <a:srgbClr val="F97316"/>
          </a:solidFill>
          <a:ln w="12700">
            <a:solidFill>
              <a:srgbClr val="F97316"/>
            </a:solidFill>
            <a:prstDash val="solid"/>
          </a:ln>
        </p:spPr>
      </p:sp>
      <p:sp>
        <p:nvSpPr>
          <p:cNvPr id="21" name="Shape 19"/>
          <p:cNvSpPr/>
          <p:nvPr/>
        </p:nvSpPr>
        <p:spPr>
          <a:xfrm>
            <a:off x="8138160" y="3063240"/>
            <a:ext cx="256032" cy="256032"/>
          </a:xfrm>
          <a:prstGeom prst="ellipse">
            <a:avLst/>
          </a:prstGeom>
          <a:solidFill>
            <a:srgbClr val="F97316"/>
          </a:solidFill>
          <a:ln w="12700">
            <a:solidFill>
              <a:srgbClr val="F97316"/>
            </a:solidFill>
            <a:prstDash val="solid"/>
          </a:ln>
        </p:spPr>
      </p:sp>
      <p:sp>
        <p:nvSpPr>
          <p:cNvPr id="22" name="Shape 20"/>
          <p:cNvSpPr/>
          <p:nvPr/>
        </p:nvSpPr>
        <p:spPr>
          <a:xfrm>
            <a:off x="6720840" y="1417320"/>
            <a:ext cx="201168" cy="2103120"/>
          </a:xfrm>
          <a:prstGeom prst="rect">
            <a:avLst/>
          </a:prstGeom>
          <a:solidFill>
            <a:srgbClr val="38BDF8">
              <a:alpha val="25000"/>
            </a:srgbClr>
          </a:solidFill>
          <a:ln w="12700">
            <a:solidFill>
              <a:srgbClr val="38BDF8"/>
            </a:solidFill>
            <a:prstDash val="solid"/>
          </a:ln>
        </p:spPr>
      </p:sp>
      <p:sp>
        <p:nvSpPr>
          <p:cNvPr id="23" name="Shape 21"/>
          <p:cNvSpPr/>
          <p:nvPr/>
        </p:nvSpPr>
        <p:spPr>
          <a:xfrm>
            <a:off x="7150608" y="1417320"/>
            <a:ext cx="201168" cy="2103120"/>
          </a:xfrm>
          <a:prstGeom prst="rect">
            <a:avLst/>
          </a:prstGeom>
          <a:solidFill>
            <a:srgbClr val="38BDF8">
              <a:alpha val="25000"/>
            </a:srgbClr>
          </a:solidFill>
          <a:ln w="12700">
            <a:solidFill>
              <a:srgbClr val="38BDF8"/>
            </a:solidFill>
            <a:prstDash val="solid"/>
          </a:ln>
        </p:spPr>
      </p:sp>
      <p:sp>
        <p:nvSpPr>
          <p:cNvPr id="24" name="Shape 22"/>
          <p:cNvSpPr/>
          <p:nvPr/>
        </p:nvSpPr>
        <p:spPr>
          <a:xfrm>
            <a:off x="7028688" y="1353312"/>
            <a:ext cx="0" cy="2240280"/>
          </a:xfrm>
          <a:prstGeom prst="line">
            <a:avLst/>
          </a:prstGeom>
          <a:noFill/>
          <a:ln w="38100">
            <a:solidFill>
              <a:srgbClr val="0D9488"/>
            </a:solidFill>
            <a:prstDash val="solid"/>
          </a:ln>
        </p:spPr>
      </p:sp>
      <p:sp>
        <p:nvSpPr>
          <p:cNvPr id="25" name="Text 23"/>
          <p:cNvSpPr/>
          <p:nvPr/>
        </p:nvSpPr>
        <p:spPr>
          <a:xfrm>
            <a:off x="5715000" y="3401568"/>
            <a:ext cx="1188720" cy="274320"/>
          </a:xfrm>
          <a:prstGeom prst="rect">
            <a:avLst/>
          </a:prstGeom>
          <a:noFill/>
          <a:ln/>
        </p:spPr>
        <p:txBody>
          <a:bodyPr wrap="square" lIns="0" tIns="0" rIns="0" bIns="0" rtlCol="0" anchor="ctr"/>
          <a:lstStyle/>
          <a:p>
            <a:pPr marL="0" indent="0">
              <a:buNone/>
            </a:pPr>
            <a:r>
              <a:rPr lang="en-US" sz="1100" b="1" dirty="0">
                <a:solidFill>
                  <a:srgbClr val="22C55E"/>
                </a:solidFill>
                <a:latin typeface="Calibri" pitchFamily="34" charset="0"/>
                <a:ea typeface="Calibri" pitchFamily="34" charset="-122"/>
                <a:cs typeface="Calibri" pitchFamily="34" charset="-120"/>
              </a:rPr>
              <a:t>🍎 Apples</a:t>
            </a:r>
            <a:endParaRPr lang="en-US" sz="1100" dirty="0"/>
          </a:p>
        </p:txBody>
      </p:sp>
      <p:sp>
        <p:nvSpPr>
          <p:cNvPr id="26" name="Text 24"/>
          <p:cNvSpPr/>
          <p:nvPr/>
        </p:nvSpPr>
        <p:spPr>
          <a:xfrm>
            <a:off x="7589520" y="3401568"/>
            <a:ext cx="1188720" cy="274320"/>
          </a:xfrm>
          <a:prstGeom prst="rect">
            <a:avLst/>
          </a:prstGeom>
          <a:noFill/>
          <a:ln/>
        </p:spPr>
        <p:txBody>
          <a:bodyPr wrap="square" lIns="0" tIns="0" rIns="0" bIns="0" rtlCol="0" anchor="ctr"/>
          <a:lstStyle/>
          <a:p>
            <a:pPr marL="0" indent="0">
              <a:buNone/>
            </a:pPr>
            <a:r>
              <a:rPr lang="en-US" sz="1100" b="1" dirty="0">
                <a:solidFill>
                  <a:srgbClr val="F97316"/>
                </a:solidFill>
                <a:latin typeface="Calibri" pitchFamily="34" charset="0"/>
                <a:ea typeface="Calibri" pitchFamily="34" charset="-122"/>
                <a:cs typeface="Calibri" pitchFamily="34" charset="-120"/>
              </a:rPr>
              <a:t>🍊 Oranges</a:t>
            </a:r>
            <a:endParaRPr lang="en-US" sz="1100" dirty="0"/>
          </a:p>
        </p:txBody>
      </p:sp>
      <p:sp>
        <p:nvSpPr>
          <p:cNvPr id="27" name="Text 25"/>
          <p:cNvSpPr/>
          <p:nvPr/>
        </p:nvSpPr>
        <p:spPr>
          <a:xfrm>
            <a:off x="6537960" y="3703320"/>
            <a:ext cx="1097280" cy="27432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 margin →</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3E"/>
          </a:solidFill>
          <a:ln w="12700">
            <a:solidFill>
              <a:srgbClr val="0D1B3E"/>
            </a:solidFill>
            <a:prstDash val="solid"/>
          </a:ln>
        </p:spPr>
      </p:sp>
      <p:sp>
        <p:nvSpPr>
          <p:cNvPr id="3" name="Text 1"/>
          <p:cNvSpPr/>
          <p:nvPr/>
        </p:nvSpPr>
        <p:spPr>
          <a:xfrm>
            <a:off x="457200" y="0"/>
            <a:ext cx="8503920" cy="77724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02  |  The Hyperplane — The Best Dividing Line</a:t>
            </a:r>
            <a:endParaRPr lang="en-US" sz="2000" dirty="0"/>
          </a:p>
        </p:txBody>
      </p:sp>
      <p:sp>
        <p:nvSpPr>
          <p:cNvPr id="4" name="Text 2"/>
          <p:cNvSpPr/>
          <p:nvPr/>
        </p:nvSpPr>
        <p:spPr>
          <a:xfrm>
            <a:off x="457200" y="914400"/>
            <a:ext cx="8229600" cy="502920"/>
          </a:xfrm>
          <a:prstGeom prst="rect">
            <a:avLst/>
          </a:prstGeom>
          <a:noFill/>
          <a:ln/>
        </p:spPr>
        <p:txBody>
          <a:bodyPr wrap="square" lIns="0" tIns="0" rIns="0" bIns="0" rtlCol="0" anchor="ctr"/>
          <a:lstStyle/>
          <a:p>
            <a:pPr marL="0" indent="0">
              <a:buNone/>
            </a:pPr>
            <a:r>
              <a:rPr lang="en-US" sz="1400" dirty="0">
                <a:solidFill>
                  <a:srgbClr val="334155"/>
                </a:solidFill>
                <a:latin typeface="Calibri" pitchFamily="34" charset="0"/>
                <a:ea typeface="Calibri" pitchFamily="34" charset="-122"/>
                <a:cs typeface="Calibri" pitchFamily="34" charset="-120"/>
              </a:rPr>
              <a:t>The hyperplane is the decision boundary that separates two groups. SVM always picks the one with the MAXIMUM margin.</a:t>
            </a:r>
            <a:endParaRPr lang="en-US" sz="1400" dirty="0"/>
          </a:p>
        </p:txBody>
      </p:sp>
      <p:sp>
        <p:nvSpPr>
          <p:cNvPr id="5" name="Shape 3"/>
          <p:cNvSpPr/>
          <p:nvPr/>
        </p:nvSpPr>
        <p:spPr>
          <a:xfrm>
            <a:off x="365760" y="1554480"/>
            <a:ext cx="2743200" cy="3009900"/>
          </a:xfrm>
          <a:prstGeom prst="roundRect">
            <a:avLst>
              <a:gd name="adj" fmla="val 3333"/>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6" name="Shape 4"/>
          <p:cNvSpPr/>
          <p:nvPr/>
        </p:nvSpPr>
        <p:spPr>
          <a:xfrm>
            <a:off x="365760" y="1554480"/>
            <a:ext cx="2743200" cy="475488"/>
          </a:xfrm>
          <a:prstGeom prst="roundRect">
            <a:avLst>
              <a:gd name="adj" fmla="val 19231"/>
            </a:avLst>
          </a:prstGeom>
          <a:solidFill>
            <a:srgbClr val="F43F5E"/>
          </a:solidFill>
          <a:ln w="12700">
            <a:solidFill>
              <a:srgbClr val="F43F5E"/>
            </a:solidFill>
            <a:prstDash val="solid"/>
          </a:ln>
        </p:spPr>
      </p:sp>
      <p:sp>
        <p:nvSpPr>
          <p:cNvPr id="7" name="Text 5"/>
          <p:cNvSpPr/>
          <p:nvPr/>
        </p:nvSpPr>
        <p:spPr>
          <a:xfrm>
            <a:off x="365760" y="1554480"/>
            <a:ext cx="274320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Bad Line</a:t>
            </a:r>
            <a:endParaRPr lang="en-US" sz="1300" dirty="0"/>
          </a:p>
        </p:txBody>
      </p:sp>
      <p:sp>
        <p:nvSpPr>
          <p:cNvPr id="8" name="Text 6"/>
          <p:cNvSpPr/>
          <p:nvPr/>
        </p:nvSpPr>
        <p:spPr>
          <a:xfrm>
            <a:off x="502920" y="2084832"/>
            <a:ext cx="2468880" cy="77724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Too close to the data — any slight change and it classifies things wrongly! Like a fence built right next to a house.</a:t>
            </a:r>
            <a:endParaRPr lang="en-US" sz="1200" dirty="0"/>
          </a:p>
        </p:txBody>
      </p:sp>
      <p:sp>
        <p:nvSpPr>
          <p:cNvPr id="9" name="Shape 7"/>
          <p:cNvSpPr/>
          <p:nvPr/>
        </p:nvSpPr>
        <p:spPr>
          <a:xfrm>
            <a:off x="685800" y="3017520"/>
            <a:ext cx="201168" cy="201168"/>
          </a:xfrm>
          <a:prstGeom prst="ellipse">
            <a:avLst/>
          </a:prstGeom>
          <a:solidFill>
            <a:srgbClr val="22C55E"/>
          </a:solidFill>
          <a:ln w="12700">
            <a:solidFill>
              <a:srgbClr val="22C55E"/>
            </a:solidFill>
            <a:prstDash val="solid"/>
          </a:ln>
        </p:spPr>
      </p:sp>
      <p:sp>
        <p:nvSpPr>
          <p:cNvPr id="10" name="Shape 8"/>
          <p:cNvSpPr/>
          <p:nvPr/>
        </p:nvSpPr>
        <p:spPr>
          <a:xfrm>
            <a:off x="731520" y="3429000"/>
            <a:ext cx="201168" cy="201168"/>
          </a:xfrm>
          <a:prstGeom prst="ellipse">
            <a:avLst/>
          </a:prstGeom>
          <a:solidFill>
            <a:srgbClr val="22C55E"/>
          </a:solidFill>
          <a:ln w="12700">
            <a:solidFill>
              <a:srgbClr val="22C55E"/>
            </a:solidFill>
            <a:prstDash val="solid"/>
          </a:ln>
        </p:spPr>
      </p:sp>
      <p:sp>
        <p:nvSpPr>
          <p:cNvPr id="11" name="Shape 9"/>
          <p:cNvSpPr/>
          <p:nvPr/>
        </p:nvSpPr>
        <p:spPr>
          <a:xfrm>
            <a:off x="685800" y="3794760"/>
            <a:ext cx="201168" cy="201168"/>
          </a:xfrm>
          <a:prstGeom prst="ellipse">
            <a:avLst/>
          </a:prstGeom>
          <a:solidFill>
            <a:srgbClr val="22C55E"/>
          </a:solidFill>
          <a:ln w="12700">
            <a:solidFill>
              <a:srgbClr val="22C55E"/>
            </a:solidFill>
            <a:prstDash val="solid"/>
          </a:ln>
        </p:spPr>
      </p:sp>
      <p:sp>
        <p:nvSpPr>
          <p:cNvPr id="12" name="Shape 10"/>
          <p:cNvSpPr/>
          <p:nvPr/>
        </p:nvSpPr>
        <p:spPr>
          <a:xfrm>
            <a:off x="2651760" y="3017520"/>
            <a:ext cx="201168" cy="201168"/>
          </a:xfrm>
          <a:prstGeom prst="ellipse">
            <a:avLst/>
          </a:prstGeom>
          <a:solidFill>
            <a:srgbClr val="F97316"/>
          </a:solidFill>
          <a:ln w="12700">
            <a:solidFill>
              <a:srgbClr val="F97316"/>
            </a:solidFill>
            <a:prstDash val="solid"/>
          </a:ln>
        </p:spPr>
      </p:sp>
      <p:sp>
        <p:nvSpPr>
          <p:cNvPr id="13" name="Shape 11"/>
          <p:cNvSpPr/>
          <p:nvPr/>
        </p:nvSpPr>
        <p:spPr>
          <a:xfrm>
            <a:off x="2606040" y="3429000"/>
            <a:ext cx="201168" cy="201168"/>
          </a:xfrm>
          <a:prstGeom prst="ellipse">
            <a:avLst/>
          </a:prstGeom>
          <a:solidFill>
            <a:srgbClr val="F97316"/>
          </a:solidFill>
          <a:ln w="12700">
            <a:solidFill>
              <a:srgbClr val="F97316"/>
            </a:solidFill>
            <a:prstDash val="solid"/>
          </a:ln>
        </p:spPr>
      </p:sp>
      <p:sp>
        <p:nvSpPr>
          <p:cNvPr id="14" name="Shape 12"/>
          <p:cNvSpPr/>
          <p:nvPr/>
        </p:nvSpPr>
        <p:spPr>
          <a:xfrm>
            <a:off x="2670048" y="3794760"/>
            <a:ext cx="201168" cy="201168"/>
          </a:xfrm>
          <a:prstGeom prst="ellipse">
            <a:avLst/>
          </a:prstGeom>
          <a:solidFill>
            <a:srgbClr val="F97316"/>
          </a:solidFill>
          <a:ln w="12700">
            <a:solidFill>
              <a:srgbClr val="F97316"/>
            </a:solidFill>
            <a:prstDash val="solid"/>
          </a:ln>
        </p:spPr>
      </p:sp>
      <p:sp>
        <p:nvSpPr>
          <p:cNvPr id="15" name="Shape 13"/>
          <p:cNvSpPr/>
          <p:nvPr/>
        </p:nvSpPr>
        <p:spPr>
          <a:xfrm>
            <a:off x="1143000" y="2926080"/>
            <a:ext cx="0" cy="1097280"/>
          </a:xfrm>
          <a:prstGeom prst="line">
            <a:avLst/>
          </a:prstGeom>
          <a:noFill/>
          <a:ln w="31750">
            <a:solidFill>
              <a:srgbClr val="F43F5E"/>
            </a:solidFill>
            <a:prstDash val="solid"/>
          </a:ln>
        </p:spPr>
      </p:sp>
      <p:sp>
        <p:nvSpPr>
          <p:cNvPr id="16" name="Shape 14"/>
          <p:cNvSpPr/>
          <p:nvPr/>
        </p:nvSpPr>
        <p:spPr>
          <a:xfrm>
            <a:off x="3246120" y="1554480"/>
            <a:ext cx="2743200" cy="3009900"/>
          </a:xfrm>
          <a:prstGeom prst="roundRect">
            <a:avLst>
              <a:gd name="adj" fmla="val 3333"/>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17" name="Shape 15"/>
          <p:cNvSpPr/>
          <p:nvPr/>
        </p:nvSpPr>
        <p:spPr>
          <a:xfrm>
            <a:off x="3246120" y="1554480"/>
            <a:ext cx="2743200" cy="475488"/>
          </a:xfrm>
          <a:prstGeom prst="roundRect">
            <a:avLst>
              <a:gd name="adj" fmla="val 19231"/>
            </a:avLst>
          </a:prstGeom>
          <a:solidFill>
            <a:srgbClr val="F59E0B"/>
          </a:solidFill>
          <a:ln w="12700">
            <a:solidFill>
              <a:srgbClr val="F59E0B"/>
            </a:solidFill>
            <a:prstDash val="solid"/>
          </a:ln>
        </p:spPr>
      </p:sp>
      <p:sp>
        <p:nvSpPr>
          <p:cNvPr id="18" name="Text 16"/>
          <p:cNvSpPr/>
          <p:nvPr/>
        </p:nvSpPr>
        <p:spPr>
          <a:xfrm>
            <a:off x="3246120" y="1554480"/>
            <a:ext cx="274320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OK Line</a:t>
            </a:r>
            <a:endParaRPr lang="en-US" sz="1300" dirty="0"/>
          </a:p>
        </p:txBody>
      </p:sp>
      <p:sp>
        <p:nvSpPr>
          <p:cNvPr id="19" name="Text 17"/>
          <p:cNvSpPr/>
          <p:nvPr/>
        </p:nvSpPr>
        <p:spPr>
          <a:xfrm>
            <a:off x="3383280" y="2084832"/>
            <a:ext cx="2468880" cy="77724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Better, but not centred between groups. Still leaves uneven gaps. Could definitely be improved.</a:t>
            </a:r>
            <a:endParaRPr lang="en-US" sz="1200" dirty="0"/>
          </a:p>
        </p:txBody>
      </p:sp>
      <p:sp>
        <p:nvSpPr>
          <p:cNvPr id="20" name="Shape 18"/>
          <p:cNvSpPr/>
          <p:nvPr/>
        </p:nvSpPr>
        <p:spPr>
          <a:xfrm>
            <a:off x="3566160" y="3017520"/>
            <a:ext cx="201168" cy="201168"/>
          </a:xfrm>
          <a:prstGeom prst="ellipse">
            <a:avLst/>
          </a:prstGeom>
          <a:solidFill>
            <a:srgbClr val="22C55E"/>
          </a:solidFill>
          <a:ln w="12700">
            <a:solidFill>
              <a:srgbClr val="22C55E"/>
            </a:solidFill>
            <a:prstDash val="solid"/>
          </a:ln>
        </p:spPr>
      </p:sp>
      <p:sp>
        <p:nvSpPr>
          <p:cNvPr id="21" name="Shape 19"/>
          <p:cNvSpPr/>
          <p:nvPr/>
        </p:nvSpPr>
        <p:spPr>
          <a:xfrm>
            <a:off x="3611880" y="3429000"/>
            <a:ext cx="201168" cy="201168"/>
          </a:xfrm>
          <a:prstGeom prst="ellipse">
            <a:avLst/>
          </a:prstGeom>
          <a:solidFill>
            <a:srgbClr val="22C55E"/>
          </a:solidFill>
          <a:ln w="12700">
            <a:solidFill>
              <a:srgbClr val="22C55E"/>
            </a:solidFill>
            <a:prstDash val="solid"/>
          </a:ln>
        </p:spPr>
      </p:sp>
      <p:sp>
        <p:nvSpPr>
          <p:cNvPr id="22" name="Shape 20"/>
          <p:cNvSpPr/>
          <p:nvPr/>
        </p:nvSpPr>
        <p:spPr>
          <a:xfrm>
            <a:off x="3566160" y="3794760"/>
            <a:ext cx="201168" cy="201168"/>
          </a:xfrm>
          <a:prstGeom prst="ellipse">
            <a:avLst/>
          </a:prstGeom>
          <a:solidFill>
            <a:srgbClr val="22C55E"/>
          </a:solidFill>
          <a:ln w="12700">
            <a:solidFill>
              <a:srgbClr val="22C55E"/>
            </a:solidFill>
            <a:prstDash val="solid"/>
          </a:ln>
        </p:spPr>
      </p:sp>
      <p:sp>
        <p:nvSpPr>
          <p:cNvPr id="23" name="Shape 21"/>
          <p:cNvSpPr/>
          <p:nvPr/>
        </p:nvSpPr>
        <p:spPr>
          <a:xfrm>
            <a:off x="5532120" y="3017520"/>
            <a:ext cx="201168" cy="201168"/>
          </a:xfrm>
          <a:prstGeom prst="ellipse">
            <a:avLst/>
          </a:prstGeom>
          <a:solidFill>
            <a:srgbClr val="F97316"/>
          </a:solidFill>
          <a:ln w="12700">
            <a:solidFill>
              <a:srgbClr val="F97316"/>
            </a:solidFill>
            <a:prstDash val="solid"/>
          </a:ln>
        </p:spPr>
      </p:sp>
      <p:sp>
        <p:nvSpPr>
          <p:cNvPr id="24" name="Shape 22"/>
          <p:cNvSpPr/>
          <p:nvPr/>
        </p:nvSpPr>
        <p:spPr>
          <a:xfrm>
            <a:off x="5486400" y="3429000"/>
            <a:ext cx="201168" cy="201168"/>
          </a:xfrm>
          <a:prstGeom prst="ellipse">
            <a:avLst/>
          </a:prstGeom>
          <a:solidFill>
            <a:srgbClr val="F97316"/>
          </a:solidFill>
          <a:ln w="12700">
            <a:solidFill>
              <a:srgbClr val="F97316"/>
            </a:solidFill>
            <a:prstDash val="solid"/>
          </a:ln>
        </p:spPr>
      </p:sp>
      <p:sp>
        <p:nvSpPr>
          <p:cNvPr id="25" name="Shape 23"/>
          <p:cNvSpPr/>
          <p:nvPr/>
        </p:nvSpPr>
        <p:spPr>
          <a:xfrm>
            <a:off x="5550408" y="3794760"/>
            <a:ext cx="201168" cy="201168"/>
          </a:xfrm>
          <a:prstGeom prst="ellipse">
            <a:avLst/>
          </a:prstGeom>
          <a:solidFill>
            <a:srgbClr val="F97316"/>
          </a:solidFill>
          <a:ln w="12700">
            <a:solidFill>
              <a:srgbClr val="F97316"/>
            </a:solidFill>
            <a:prstDash val="solid"/>
          </a:ln>
        </p:spPr>
      </p:sp>
      <p:sp>
        <p:nvSpPr>
          <p:cNvPr id="26" name="Shape 24"/>
          <p:cNvSpPr/>
          <p:nvPr/>
        </p:nvSpPr>
        <p:spPr>
          <a:xfrm>
            <a:off x="4526280" y="2926080"/>
            <a:ext cx="0" cy="1097280"/>
          </a:xfrm>
          <a:prstGeom prst="line">
            <a:avLst/>
          </a:prstGeom>
          <a:noFill/>
          <a:ln w="31750">
            <a:solidFill>
              <a:srgbClr val="F59E0B"/>
            </a:solidFill>
            <a:prstDash val="solid"/>
          </a:ln>
        </p:spPr>
      </p:sp>
      <p:sp>
        <p:nvSpPr>
          <p:cNvPr id="27" name="Shape 25"/>
          <p:cNvSpPr/>
          <p:nvPr/>
        </p:nvSpPr>
        <p:spPr>
          <a:xfrm>
            <a:off x="6126480" y="1554480"/>
            <a:ext cx="2743200" cy="3009900"/>
          </a:xfrm>
          <a:prstGeom prst="roundRect">
            <a:avLst>
              <a:gd name="adj" fmla="val 3333"/>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28" name="Shape 26"/>
          <p:cNvSpPr/>
          <p:nvPr/>
        </p:nvSpPr>
        <p:spPr>
          <a:xfrm>
            <a:off x="6126480" y="1554480"/>
            <a:ext cx="2743200" cy="475488"/>
          </a:xfrm>
          <a:prstGeom prst="roundRect">
            <a:avLst>
              <a:gd name="adj" fmla="val 19231"/>
            </a:avLst>
          </a:prstGeom>
          <a:solidFill>
            <a:srgbClr val="0D9488"/>
          </a:solidFill>
          <a:ln w="12700">
            <a:solidFill>
              <a:srgbClr val="0D9488"/>
            </a:solidFill>
            <a:prstDash val="solid"/>
          </a:ln>
        </p:spPr>
      </p:sp>
      <p:sp>
        <p:nvSpPr>
          <p:cNvPr id="29" name="Text 27"/>
          <p:cNvSpPr/>
          <p:nvPr/>
        </p:nvSpPr>
        <p:spPr>
          <a:xfrm>
            <a:off x="6126480" y="1554480"/>
            <a:ext cx="274320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Best Line</a:t>
            </a:r>
            <a:endParaRPr lang="en-US" sz="1300" dirty="0"/>
          </a:p>
        </p:txBody>
      </p:sp>
      <p:sp>
        <p:nvSpPr>
          <p:cNvPr id="30" name="Text 28"/>
          <p:cNvSpPr/>
          <p:nvPr/>
        </p:nvSpPr>
        <p:spPr>
          <a:xfrm>
            <a:off x="6263640" y="2084832"/>
            <a:ext cx="2468880" cy="77724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Maximum margin! Perfectly centred between both groups. SVM ALWAYS finds this line automatically.</a:t>
            </a:r>
            <a:endParaRPr lang="en-US" sz="1200" dirty="0"/>
          </a:p>
        </p:txBody>
      </p:sp>
      <p:sp>
        <p:nvSpPr>
          <p:cNvPr id="31" name="Shape 29"/>
          <p:cNvSpPr/>
          <p:nvPr/>
        </p:nvSpPr>
        <p:spPr>
          <a:xfrm>
            <a:off x="6446520" y="3017520"/>
            <a:ext cx="201168" cy="201168"/>
          </a:xfrm>
          <a:prstGeom prst="ellipse">
            <a:avLst/>
          </a:prstGeom>
          <a:solidFill>
            <a:srgbClr val="22C55E"/>
          </a:solidFill>
          <a:ln w="12700">
            <a:solidFill>
              <a:srgbClr val="22C55E"/>
            </a:solidFill>
            <a:prstDash val="solid"/>
          </a:ln>
        </p:spPr>
      </p:sp>
      <p:sp>
        <p:nvSpPr>
          <p:cNvPr id="32" name="Shape 30"/>
          <p:cNvSpPr/>
          <p:nvPr/>
        </p:nvSpPr>
        <p:spPr>
          <a:xfrm>
            <a:off x="6492240" y="3429000"/>
            <a:ext cx="201168" cy="201168"/>
          </a:xfrm>
          <a:prstGeom prst="ellipse">
            <a:avLst/>
          </a:prstGeom>
          <a:solidFill>
            <a:srgbClr val="22C55E"/>
          </a:solidFill>
          <a:ln w="12700">
            <a:solidFill>
              <a:srgbClr val="22C55E"/>
            </a:solidFill>
            <a:prstDash val="solid"/>
          </a:ln>
        </p:spPr>
      </p:sp>
      <p:sp>
        <p:nvSpPr>
          <p:cNvPr id="33" name="Shape 31"/>
          <p:cNvSpPr/>
          <p:nvPr/>
        </p:nvSpPr>
        <p:spPr>
          <a:xfrm>
            <a:off x="6446520" y="3794760"/>
            <a:ext cx="201168" cy="201168"/>
          </a:xfrm>
          <a:prstGeom prst="ellipse">
            <a:avLst/>
          </a:prstGeom>
          <a:solidFill>
            <a:srgbClr val="22C55E"/>
          </a:solidFill>
          <a:ln w="12700">
            <a:solidFill>
              <a:srgbClr val="22C55E"/>
            </a:solidFill>
            <a:prstDash val="solid"/>
          </a:ln>
        </p:spPr>
      </p:sp>
      <p:sp>
        <p:nvSpPr>
          <p:cNvPr id="34" name="Shape 32"/>
          <p:cNvSpPr/>
          <p:nvPr/>
        </p:nvSpPr>
        <p:spPr>
          <a:xfrm>
            <a:off x="8412480" y="3017520"/>
            <a:ext cx="201168" cy="201168"/>
          </a:xfrm>
          <a:prstGeom prst="ellipse">
            <a:avLst/>
          </a:prstGeom>
          <a:solidFill>
            <a:srgbClr val="F97316"/>
          </a:solidFill>
          <a:ln w="12700">
            <a:solidFill>
              <a:srgbClr val="F97316"/>
            </a:solidFill>
            <a:prstDash val="solid"/>
          </a:ln>
        </p:spPr>
      </p:sp>
      <p:sp>
        <p:nvSpPr>
          <p:cNvPr id="35" name="Shape 33"/>
          <p:cNvSpPr/>
          <p:nvPr/>
        </p:nvSpPr>
        <p:spPr>
          <a:xfrm>
            <a:off x="8366760" y="3429000"/>
            <a:ext cx="201168" cy="201168"/>
          </a:xfrm>
          <a:prstGeom prst="ellipse">
            <a:avLst/>
          </a:prstGeom>
          <a:solidFill>
            <a:srgbClr val="F97316"/>
          </a:solidFill>
          <a:ln w="12700">
            <a:solidFill>
              <a:srgbClr val="F97316"/>
            </a:solidFill>
            <a:prstDash val="solid"/>
          </a:ln>
        </p:spPr>
      </p:sp>
      <p:sp>
        <p:nvSpPr>
          <p:cNvPr id="36" name="Shape 34"/>
          <p:cNvSpPr/>
          <p:nvPr/>
        </p:nvSpPr>
        <p:spPr>
          <a:xfrm>
            <a:off x="8430768" y="3794760"/>
            <a:ext cx="201168" cy="201168"/>
          </a:xfrm>
          <a:prstGeom prst="ellipse">
            <a:avLst/>
          </a:prstGeom>
          <a:solidFill>
            <a:srgbClr val="F97316"/>
          </a:solidFill>
          <a:ln w="12700">
            <a:solidFill>
              <a:srgbClr val="F97316"/>
            </a:solidFill>
            <a:prstDash val="solid"/>
          </a:ln>
        </p:spPr>
      </p:sp>
      <p:sp>
        <p:nvSpPr>
          <p:cNvPr id="37" name="Shape 35"/>
          <p:cNvSpPr/>
          <p:nvPr/>
        </p:nvSpPr>
        <p:spPr>
          <a:xfrm>
            <a:off x="7516368" y="2926080"/>
            <a:ext cx="0" cy="1097280"/>
          </a:xfrm>
          <a:prstGeom prst="line">
            <a:avLst/>
          </a:prstGeom>
          <a:noFill/>
          <a:ln w="31750">
            <a:solidFill>
              <a:srgbClr val="0D9488"/>
            </a:solidFill>
            <a:prstDash val="solid"/>
          </a:ln>
        </p:spPr>
      </p:sp>
      <p:sp>
        <p:nvSpPr>
          <p:cNvPr id="38" name="Shape 36"/>
          <p:cNvSpPr/>
          <p:nvPr/>
        </p:nvSpPr>
        <p:spPr>
          <a:xfrm>
            <a:off x="7242048" y="2926080"/>
            <a:ext cx="0" cy="1097280"/>
          </a:xfrm>
          <a:prstGeom prst="line">
            <a:avLst/>
          </a:prstGeom>
          <a:noFill/>
          <a:ln w="12700">
            <a:solidFill>
              <a:srgbClr val="38BDF8"/>
            </a:solidFill>
            <a:prstDash val="dash"/>
          </a:ln>
        </p:spPr>
      </p:sp>
      <p:sp>
        <p:nvSpPr>
          <p:cNvPr id="39" name="Shape 37"/>
          <p:cNvSpPr/>
          <p:nvPr/>
        </p:nvSpPr>
        <p:spPr>
          <a:xfrm>
            <a:off x="7790688" y="2926080"/>
            <a:ext cx="0" cy="1097280"/>
          </a:xfrm>
          <a:prstGeom prst="line">
            <a:avLst/>
          </a:prstGeom>
          <a:noFill/>
          <a:ln w="12700">
            <a:solidFill>
              <a:srgbClr val="38BDF8"/>
            </a:solidFill>
            <a:prstDash val="dash"/>
          </a:ln>
        </p:spPr>
      </p:sp>
      <p:sp>
        <p:nvSpPr>
          <p:cNvPr id="40" name="Shape 38"/>
          <p:cNvSpPr/>
          <p:nvPr/>
        </p:nvSpPr>
        <p:spPr>
          <a:xfrm>
            <a:off x="365760" y="4674108"/>
            <a:ext cx="8412480" cy="457200"/>
          </a:xfrm>
          <a:prstGeom prst="roundRect">
            <a:avLst>
              <a:gd name="adj" fmla="val 14000"/>
            </a:avLst>
          </a:prstGeom>
          <a:solidFill>
            <a:srgbClr val="CCFBF1"/>
          </a:solidFill>
          <a:ln w="12700">
            <a:solidFill>
              <a:srgbClr val="0D9488"/>
            </a:solidFill>
            <a:prstDash val="solid"/>
          </a:ln>
        </p:spPr>
      </p:sp>
      <p:sp>
        <p:nvSpPr>
          <p:cNvPr id="41" name="Text 39"/>
          <p:cNvSpPr/>
          <p:nvPr/>
        </p:nvSpPr>
        <p:spPr>
          <a:xfrm>
            <a:off x="457200" y="4674108"/>
            <a:ext cx="8229600" cy="457200"/>
          </a:xfrm>
          <a:prstGeom prst="rect">
            <a:avLst/>
          </a:prstGeom>
          <a:noFill/>
          <a:ln/>
        </p:spPr>
        <p:txBody>
          <a:bodyPr wrap="square" lIns="76200" tIns="76200" rIns="76200" bIns="7620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  In 3D+ space the 'line' becomes a flat plane, then a hyperplane — but the idea is exactly the same!</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22860"/>
            <a:ext cx="9144000" cy="777240"/>
          </a:xfrm>
          <a:prstGeom prst="rect">
            <a:avLst/>
          </a:prstGeom>
          <a:solidFill>
            <a:srgbClr val="0D1B3E"/>
          </a:solidFill>
          <a:ln w="12700">
            <a:solidFill>
              <a:srgbClr val="0D1B3E"/>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03  |  The Margin &amp; Support Vectors</a:t>
            </a:r>
            <a:endParaRPr lang="en-US" sz="2200" dirty="0"/>
          </a:p>
        </p:txBody>
      </p:sp>
      <p:sp>
        <p:nvSpPr>
          <p:cNvPr id="4" name="Shape 2"/>
          <p:cNvSpPr/>
          <p:nvPr/>
        </p:nvSpPr>
        <p:spPr>
          <a:xfrm>
            <a:off x="365760" y="914400"/>
            <a:ext cx="3840480" cy="3977640"/>
          </a:xfrm>
          <a:prstGeom prst="roundRect">
            <a:avLst>
              <a:gd name="adj" fmla="val 2381"/>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5" name="Text 3"/>
          <p:cNvSpPr/>
          <p:nvPr/>
        </p:nvSpPr>
        <p:spPr>
          <a:xfrm>
            <a:off x="365760" y="960120"/>
            <a:ext cx="3840480" cy="347472"/>
          </a:xfrm>
          <a:prstGeom prst="rect">
            <a:avLst/>
          </a:prstGeom>
          <a:noFill/>
          <a:ln/>
        </p:spPr>
        <p:txBody>
          <a:bodyPr wrap="square" lIns="0" tIns="0" rIns="0" bIns="0" rtlCol="0" anchor="ctr"/>
          <a:lstStyle/>
          <a:p>
            <a:pPr marL="0" indent="0" algn="ctr">
              <a:buNone/>
            </a:pPr>
            <a:r>
              <a:rPr lang="en-US" sz="1200" b="1" dirty="0">
                <a:solidFill>
                  <a:srgbClr val="0D1B3E"/>
                </a:solidFill>
                <a:latin typeface="Calibri" pitchFamily="34" charset="0"/>
                <a:ea typeface="Calibri" pitchFamily="34" charset="-122"/>
                <a:cs typeface="Calibri" pitchFamily="34" charset="-120"/>
              </a:rPr>
              <a:t>Visual Diagram</a:t>
            </a:r>
            <a:endParaRPr lang="en-US" sz="1200" dirty="0"/>
          </a:p>
        </p:txBody>
      </p:sp>
      <p:sp>
        <p:nvSpPr>
          <p:cNvPr id="6" name="Shape 4"/>
          <p:cNvSpPr/>
          <p:nvPr/>
        </p:nvSpPr>
        <p:spPr>
          <a:xfrm>
            <a:off x="1828800" y="1371600"/>
            <a:ext cx="502920" cy="3154680"/>
          </a:xfrm>
          <a:prstGeom prst="rect">
            <a:avLst/>
          </a:prstGeom>
          <a:solidFill>
            <a:srgbClr val="38BDF8">
              <a:alpha val="22000"/>
            </a:srgbClr>
          </a:solidFill>
          <a:ln w="12700">
            <a:solidFill>
              <a:srgbClr val="38BDF8"/>
            </a:solidFill>
            <a:prstDash val="solid"/>
          </a:ln>
        </p:spPr>
      </p:sp>
      <p:sp>
        <p:nvSpPr>
          <p:cNvPr id="7" name="Shape 5"/>
          <p:cNvSpPr/>
          <p:nvPr/>
        </p:nvSpPr>
        <p:spPr>
          <a:xfrm>
            <a:off x="2697480" y="1371600"/>
            <a:ext cx="502920" cy="3154680"/>
          </a:xfrm>
          <a:prstGeom prst="rect">
            <a:avLst/>
          </a:prstGeom>
          <a:solidFill>
            <a:srgbClr val="38BDF8">
              <a:alpha val="22000"/>
            </a:srgbClr>
          </a:solidFill>
          <a:ln w="12700">
            <a:solidFill>
              <a:srgbClr val="38BDF8"/>
            </a:solidFill>
            <a:prstDash val="solid"/>
          </a:ln>
        </p:spPr>
      </p:sp>
      <p:sp>
        <p:nvSpPr>
          <p:cNvPr id="8" name="Shape 6"/>
          <p:cNvSpPr/>
          <p:nvPr/>
        </p:nvSpPr>
        <p:spPr>
          <a:xfrm>
            <a:off x="2514600" y="1371600"/>
            <a:ext cx="0" cy="3246120"/>
          </a:xfrm>
          <a:prstGeom prst="line">
            <a:avLst/>
          </a:prstGeom>
          <a:noFill/>
          <a:ln w="38100">
            <a:solidFill>
              <a:srgbClr val="0D9488"/>
            </a:solidFill>
            <a:prstDash val="solid"/>
          </a:ln>
        </p:spPr>
      </p:sp>
      <p:sp>
        <p:nvSpPr>
          <p:cNvPr id="9" name="Shape 7"/>
          <p:cNvSpPr/>
          <p:nvPr/>
        </p:nvSpPr>
        <p:spPr>
          <a:xfrm>
            <a:off x="1828800" y="1325880"/>
            <a:ext cx="0" cy="3246120"/>
          </a:xfrm>
          <a:prstGeom prst="line">
            <a:avLst/>
          </a:prstGeom>
          <a:noFill/>
          <a:ln w="19050">
            <a:solidFill>
              <a:srgbClr val="38BDF8"/>
            </a:solidFill>
            <a:prstDash val="dash"/>
          </a:ln>
        </p:spPr>
      </p:sp>
      <p:sp>
        <p:nvSpPr>
          <p:cNvPr id="10" name="Shape 8"/>
          <p:cNvSpPr/>
          <p:nvPr/>
        </p:nvSpPr>
        <p:spPr>
          <a:xfrm>
            <a:off x="3200400" y="1325880"/>
            <a:ext cx="0" cy="3246120"/>
          </a:xfrm>
          <a:prstGeom prst="line">
            <a:avLst/>
          </a:prstGeom>
          <a:noFill/>
          <a:ln w="19050">
            <a:solidFill>
              <a:srgbClr val="38BDF8"/>
            </a:solidFill>
            <a:prstDash val="dash"/>
          </a:ln>
        </p:spPr>
      </p:sp>
      <p:sp>
        <p:nvSpPr>
          <p:cNvPr id="11" name="Shape 9"/>
          <p:cNvSpPr/>
          <p:nvPr/>
        </p:nvSpPr>
        <p:spPr>
          <a:xfrm>
            <a:off x="640080" y="1691640"/>
            <a:ext cx="219456" cy="219456"/>
          </a:xfrm>
          <a:prstGeom prst="ellipse">
            <a:avLst/>
          </a:prstGeom>
          <a:solidFill>
            <a:srgbClr val="22C55E"/>
          </a:solidFill>
          <a:ln w="12700">
            <a:solidFill>
              <a:srgbClr val="22C55E"/>
            </a:solidFill>
            <a:prstDash val="solid"/>
          </a:ln>
        </p:spPr>
      </p:sp>
      <p:sp>
        <p:nvSpPr>
          <p:cNvPr id="12" name="Shape 10"/>
          <p:cNvSpPr/>
          <p:nvPr/>
        </p:nvSpPr>
        <p:spPr>
          <a:xfrm>
            <a:off x="777240" y="2286000"/>
            <a:ext cx="219456" cy="219456"/>
          </a:xfrm>
          <a:prstGeom prst="ellipse">
            <a:avLst/>
          </a:prstGeom>
          <a:solidFill>
            <a:srgbClr val="22C55E"/>
          </a:solidFill>
          <a:ln w="12700">
            <a:solidFill>
              <a:srgbClr val="22C55E"/>
            </a:solidFill>
            <a:prstDash val="solid"/>
          </a:ln>
        </p:spPr>
      </p:sp>
      <p:sp>
        <p:nvSpPr>
          <p:cNvPr id="13" name="Shape 11"/>
          <p:cNvSpPr/>
          <p:nvPr/>
        </p:nvSpPr>
        <p:spPr>
          <a:xfrm>
            <a:off x="658368" y="2834640"/>
            <a:ext cx="219456" cy="219456"/>
          </a:xfrm>
          <a:prstGeom prst="ellipse">
            <a:avLst/>
          </a:prstGeom>
          <a:solidFill>
            <a:srgbClr val="22C55E"/>
          </a:solidFill>
          <a:ln w="12700">
            <a:solidFill>
              <a:srgbClr val="22C55E"/>
            </a:solidFill>
            <a:prstDash val="solid"/>
          </a:ln>
        </p:spPr>
      </p:sp>
      <p:sp>
        <p:nvSpPr>
          <p:cNvPr id="14" name="Shape 12"/>
          <p:cNvSpPr/>
          <p:nvPr/>
        </p:nvSpPr>
        <p:spPr>
          <a:xfrm>
            <a:off x="731520" y="3383280"/>
            <a:ext cx="219456" cy="219456"/>
          </a:xfrm>
          <a:prstGeom prst="ellipse">
            <a:avLst/>
          </a:prstGeom>
          <a:solidFill>
            <a:srgbClr val="22C55E"/>
          </a:solidFill>
          <a:ln w="12700">
            <a:solidFill>
              <a:srgbClr val="22C55E"/>
            </a:solidFill>
            <a:prstDash val="solid"/>
          </a:ln>
        </p:spPr>
      </p:sp>
      <p:sp>
        <p:nvSpPr>
          <p:cNvPr id="15" name="Shape 13"/>
          <p:cNvSpPr/>
          <p:nvPr/>
        </p:nvSpPr>
        <p:spPr>
          <a:xfrm>
            <a:off x="1005840" y="1920240"/>
            <a:ext cx="219456" cy="219456"/>
          </a:xfrm>
          <a:prstGeom prst="ellipse">
            <a:avLst/>
          </a:prstGeom>
          <a:solidFill>
            <a:srgbClr val="22C55E"/>
          </a:solidFill>
          <a:ln w="12700">
            <a:solidFill>
              <a:srgbClr val="22C55E"/>
            </a:solidFill>
            <a:prstDash val="solid"/>
          </a:ln>
        </p:spPr>
      </p:sp>
      <p:sp>
        <p:nvSpPr>
          <p:cNvPr id="16" name="Shape 14"/>
          <p:cNvSpPr/>
          <p:nvPr/>
        </p:nvSpPr>
        <p:spPr>
          <a:xfrm>
            <a:off x="1188720" y="3108960"/>
            <a:ext cx="219456" cy="219456"/>
          </a:xfrm>
          <a:prstGeom prst="ellipse">
            <a:avLst/>
          </a:prstGeom>
          <a:solidFill>
            <a:srgbClr val="22C55E"/>
          </a:solidFill>
          <a:ln w="12700">
            <a:solidFill>
              <a:srgbClr val="22C55E"/>
            </a:solidFill>
            <a:prstDash val="solid"/>
          </a:ln>
        </p:spPr>
      </p:sp>
      <p:sp>
        <p:nvSpPr>
          <p:cNvPr id="17" name="Shape 15"/>
          <p:cNvSpPr/>
          <p:nvPr/>
        </p:nvSpPr>
        <p:spPr>
          <a:xfrm>
            <a:off x="3520440" y="1691640"/>
            <a:ext cx="219456" cy="219456"/>
          </a:xfrm>
          <a:prstGeom prst="ellipse">
            <a:avLst/>
          </a:prstGeom>
          <a:solidFill>
            <a:srgbClr val="F97316"/>
          </a:solidFill>
          <a:ln w="12700">
            <a:solidFill>
              <a:srgbClr val="F97316"/>
            </a:solidFill>
            <a:prstDash val="solid"/>
          </a:ln>
        </p:spPr>
      </p:sp>
      <p:sp>
        <p:nvSpPr>
          <p:cNvPr id="18" name="Shape 16"/>
          <p:cNvSpPr/>
          <p:nvPr/>
        </p:nvSpPr>
        <p:spPr>
          <a:xfrm>
            <a:off x="3566160" y="2286000"/>
            <a:ext cx="219456" cy="219456"/>
          </a:xfrm>
          <a:prstGeom prst="ellipse">
            <a:avLst/>
          </a:prstGeom>
          <a:solidFill>
            <a:srgbClr val="F97316"/>
          </a:solidFill>
          <a:ln w="12700">
            <a:solidFill>
              <a:srgbClr val="F97316"/>
            </a:solidFill>
            <a:prstDash val="solid"/>
          </a:ln>
        </p:spPr>
      </p:sp>
      <p:sp>
        <p:nvSpPr>
          <p:cNvPr id="19" name="Shape 17"/>
          <p:cNvSpPr/>
          <p:nvPr/>
        </p:nvSpPr>
        <p:spPr>
          <a:xfrm>
            <a:off x="3429000" y="2834640"/>
            <a:ext cx="219456" cy="219456"/>
          </a:xfrm>
          <a:prstGeom prst="ellipse">
            <a:avLst/>
          </a:prstGeom>
          <a:solidFill>
            <a:srgbClr val="F97316"/>
          </a:solidFill>
          <a:ln w="12700">
            <a:solidFill>
              <a:srgbClr val="F97316"/>
            </a:solidFill>
            <a:prstDash val="solid"/>
          </a:ln>
        </p:spPr>
      </p:sp>
      <p:sp>
        <p:nvSpPr>
          <p:cNvPr id="20" name="Shape 18"/>
          <p:cNvSpPr/>
          <p:nvPr/>
        </p:nvSpPr>
        <p:spPr>
          <a:xfrm>
            <a:off x="3611880" y="3383280"/>
            <a:ext cx="219456" cy="219456"/>
          </a:xfrm>
          <a:prstGeom prst="ellipse">
            <a:avLst/>
          </a:prstGeom>
          <a:solidFill>
            <a:srgbClr val="F97316"/>
          </a:solidFill>
          <a:ln w="12700">
            <a:solidFill>
              <a:srgbClr val="F97316"/>
            </a:solidFill>
            <a:prstDash val="solid"/>
          </a:ln>
        </p:spPr>
      </p:sp>
      <p:sp>
        <p:nvSpPr>
          <p:cNvPr id="21" name="Shape 19"/>
          <p:cNvSpPr/>
          <p:nvPr/>
        </p:nvSpPr>
        <p:spPr>
          <a:xfrm>
            <a:off x="3749040" y="1965960"/>
            <a:ext cx="219456" cy="219456"/>
          </a:xfrm>
          <a:prstGeom prst="ellipse">
            <a:avLst/>
          </a:prstGeom>
          <a:solidFill>
            <a:srgbClr val="F97316"/>
          </a:solidFill>
          <a:ln w="12700">
            <a:solidFill>
              <a:srgbClr val="F97316"/>
            </a:solidFill>
            <a:prstDash val="solid"/>
          </a:ln>
        </p:spPr>
      </p:sp>
      <p:sp>
        <p:nvSpPr>
          <p:cNvPr id="22" name="Shape 20"/>
          <p:cNvSpPr/>
          <p:nvPr/>
        </p:nvSpPr>
        <p:spPr>
          <a:xfrm>
            <a:off x="3703320" y="3108960"/>
            <a:ext cx="219456" cy="219456"/>
          </a:xfrm>
          <a:prstGeom prst="ellipse">
            <a:avLst/>
          </a:prstGeom>
          <a:solidFill>
            <a:srgbClr val="F97316"/>
          </a:solidFill>
          <a:ln w="12700">
            <a:solidFill>
              <a:srgbClr val="F97316"/>
            </a:solidFill>
            <a:prstDash val="solid"/>
          </a:ln>
        </p:spPr>
      </p:sp>
      <p:sp>
        <p:nvSpPr>
          <p:cNvPr id="23" name="Shape 21"/>
          <p:cNvSpPr/>
          <p:nvPr/>
        </p:nvSpPr>
        <p:spPr>
          <a:xfrm>
            <a:off x="1664208" y="2331720"/>
            <a:ext cx="256032" cy="256032"/>
          </a:xfrm>
          <a:prstGeom prst="ellipse">
            <a:avLst/>
          </a:prstGeom>
          <a:solidFill>
            <a:srgbClr val="22C55E"/>
          </a:solidFill>
          <a:ln w="31750">
            <a:solidFill>
              <a:srgbClr val="F59E0B"/>
            </a:solidFill>
            <a:prstDash val="solid"/>
          </a:ln>
        </p:spPr>
      </p:sp>
      <p:sp>
        <p:nvSpPr>
          <p:cNvPr id="24" name="Shape 22"/>
          <p:cNvSpPr/>
          <p:nvPr/>
        </p:nvSpPr>
        <p:spPr>
          <a:xfrm>
            <a:off x="1627632" y="2926080"/>
            <a:ext cx="256032" cy="256032"/>
          </a:xfrm>
          <a:prstGeom prst="ellipse">
            <a:avLst/>
          </a:prstGeom>
          <a:solidFill>
            <a:srgbClr val="22C55E"/>
          </a:solidFill>
          <a:ln w="31750">
            <a:solidFill>
              <a:srgbClr val="F59E0B"/>
            </a:solidFill>
            <a:prstDash val="solid"/>
          </a:ln>
        </p:spPr>
      </p:sp>
      <p:sp>
        <p:nvSpPr>
          <p:cNvPr id="25" name="Shape 23"/>
          <p:cNvSpPr/>
          <p:nvPr/>
        </p:nvSpPr>
        <p:spPr>
          <a:xfrm>
            <a:off x="3127248" y="2331720"/>
            <a:ext cx="256032" cy="256032"/>
          </a:xfrm>
          <a:prstGeom prst="ellipse">
            <a:avLst/>
          </a:prstGeom>
          <a:solidFill>
            <a:srgbClr val="F97316"/>
          </a:solidFill>
          <a:ln w="31750">
            <a:solidFill>
              <a:srgbClr val="F59E0B"/>
            </a:solidFill>
            <a:prstDash val="solid"/>
          </a:ln>
        </p:spPr>
      </p:sp>
      <p:sp>
        <p:nvSpPr>
          <p:cNvPr id="26" name="Shape 24"/>
          <p:cNvSpPr/>
          <p:nvPr/>
        </p:nvSpPr>
        <p:spPr>
          <a:xfrm>
            <a:off x="3154680" y="2926080"/>
            <a:ext cx="256032" cy="256032"/>
          </a:xfrm>
          <a:prstGeom prst="ellipse">
            <a:avLst/>
          </a:prstGeom>
          <a:solidFill>
            <a:srgbClr val="F97316"/>
          </a:solidFill>
          <a:ln w="31750">
            <a:solidFill>
              <a:srgbClr val="F59E0B"/>
            </a:solidFill>
            <a:prstDash val="solid"/>
          </a:ln>
        </p:spPr>
      </p:sp>
      <p:sp>
        <p:nvSpPr>
          <p:cNvPr id="27" name="Text 25"/>
          <p:cNvSpPr/>
          <p:nvPr/>
        </p:nvSpPr>
        <p:spPr>
          <a:xfrm>
            <a:off x="1783080" y="4224528"/>
            <a:ext cx="1417320" cy="274320"/>
          </a:xfrm>
          <a:prstGeom prst="rect">
            <a:avLst/>
          </a:prstGeom>
          <a:noFill/>
          <a:ln/>
        </p:spPr>
        <p:txBody>
          <a:bodyPr wrap="square" lIns="0" tIns="0" rIns="0" bIns="0" rtlCol="0" anchor="ctr"/>
          <a:lstStyle/>
          <a:p>
            <a:pPr marL="0" indent="0" algn="ctr">
              <a:buNone/>
            </a:pPr>
            <a:r>
              <a:rPr lang="en-US" sz="900" dirty="0">
                <a:solidFill>
                  <a:srgbClr val="64748B"/>
                </a:solidFill>
                <a:latin typeface="Calibri" pitchFamily="34" charset="0"/>
                <a:ea typeface="Calibri" pitchFamily="34" charset="-122"/>
                <a:cs typeface="Calibri" pitchFamily="34" charset="-120"/>
              </a:rPr>
              <a:t>← margin →</a:t>
            </a:r>
            <a:endParaRPr lang="en-US" sz="900" dirty="0"/>
          </a:p>
        </p:txBody>
      </p:sp>
      <p:sp>
        <p:nvSpPr>
          <p:cNvPr id="28" name="Text 26"/>
          <p:cNvSpPr/>
          <p:nvPr/>
        </p:nvSpPr>
        <p:spPr>
          <a:xfrm>
            <a:off x="1950720" y="1138428"/>
            <a:ext cx="1005840" cy="274320"/>
          </a:xfrm>
          <a:prstGeom prst="rect">
            <a:avLst/>
          </a:prstGeom>
          <a:noFill/>
          <a:ln/>
        </p:spPr>
        <p:txBody>
          <a:bodyPr wrap="square" lIns="0" tIns="0" rIns="0" bIns="0" rtlCol="0" anchor="ctr"/>
          <a:lstStyle/>
          <a:p>
            <a:pPr marL="0" indent="0" algn="ctr">
              <a:buNone/>
            </a:pPr>
            <a:r>
              <a:rPr lang="en-US" sz="900" b="1" dirty="0">
                <a:solidFill>
                  <a:srgbClr val="0D9488"/>
                </a:solidFill>
                <a:latin typeface="Calibri" pitchFamily="34" charset="0"/>
                <a:ea typeface="Calibri" pitchFamily="34" charset="-122"/>
                <a:cs typeface="Calibri" pitchFamily="34" charset="-120"/>
              </a:rPr>
              <a:t>Hyperplane</a:t>
            </a:r>
            <a:endParaRPr lang="en-US" sz="900" dirty="0"/>
          </a:p>
        </p:txBody>
      </p:sp>
      <p:sp>
        <p:nvSpPr>
          <p:cNvPr id="29" name="Text 27"/>
          <p:cNvSpPr/>
          <p:nvPr/>
        </p:nvSpPr>
        <p:spPr>
          <a:xfrm>
            <a:off x="1400556" y="2103120"/>
            <a:ext cx="3657600" cy="256032"/>
          </a:xfrm>
          <a:prstGeom prst="rect">
            <a:avLst/>
          </a:prstGeom>
          <a:noFill/>
          <a:ln/>
        </p:spPr>
        <p:txBody>
          <a:bodyPr wrap="square" lIns="0" tIns="0" rIns="0" bIns="0" rtlCol="0" anchor="ctr"/>
          <a:lstStyle/>
          <a:p>
            <a:pPr marL="0" indent="0">
              <a:buNone/>
            </a:pPr>
            <a:r>
              <a:rPr lang="en-US" sz="1000" b="1" dirty="0">
                <a:solidFill>
                  <a:srgbClr val="F59E0B"/>
                </a:solidFill>
                <a:latin typeface="Calibri" pitchFamily="34" charset="0"/>
                <a:ea typeface="Calibri" pitchFamily="34" charset="-122"/>
                <a:cs typeface="Calibri" pitchFamily="34" charset="-120"/>
              </a:rPr>
              <a:t>Support Vector</a:t>
            </a:r>
            <a:endParaRPr lang="en-US" sz="1000" dirty="0"/>
          </a:p>
        </p:txBody>
      </p:sp>
      <p:sp>
        <p:nvSpPr>
          <p:cNvPr id="30" name="Shape 28"/>
          <p:cNvSpPr/>
          <p:nvPr/>
        </p:nvSpPr>
        <p:spPr>
          <a:xfrm>
            <a:off x="4434840" y="914400"/>
            <a:ext cx="4480560" cy="1234440"/>
          </a:xfrm>
          <a:prstGeom prst="roundRect">
            <a:avLst>
              <a:gd name="adj" fmla="val 5926"/>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31" name="Shape 29"/>
          <p:cNvSpPr/>
          <p:nvPr/>
        </p:nvSpPr>
        <p:spPr>
          <a:xfrm>
            <a:off x="4434840" y="914400"/>
            <a:ext cx="4480560" cy="384048"/>
          </a:xfrm>
          <a:prstGeom prst="roundRect">
            <a:avLst>
              <a:gd name="adj" fmla="val 19048"/>
            </a:avLst>
          </a:prstGeom>
          <a:solidFill>
            <a:srgbClr val="38BDF8">
              <a:alpha val="85000"/>
            </a:srgbClr>
          </a:solidFill>
          <a:ln w="12700">
            <a:solidFill>
              <a:srgbClr val="38BDF8"/>
            </a:solidFill>
            <a:prstDash val="solid"/>
          </a:ln>
        </p:spPr>
      </p:sp>
      <p:sp>
        <p:nvSpPr>
          <p:cNvPr id="32" name="Text 30"/>
          <p:cNvSpPr/>
          <p:nvPr/>
        </p:nvSpPr>
        <p:spPr>
          <a:xfrm>
            <a:off x="4480560" y="914400"/>
            <a:ext cx="4389120" cy="384048"/>
          </a:xfrm>
          <a:prstGeom prst="rect">
            <a:avLst/>
          </a:prstGeom>
          <a:noFill/>
          <a:ln/>
        </p:spPr>
        <p:txBody>
          <a:bodyPr wrap="square" lIns="76200" tIns="76200" rIns="76200" bIns="7620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The Margin (The 'Street')</a:t>
            </a:r>
            <a:endParaRPr lang="en-US" sz="1200" dirty="0"/>
          </a:p>
        </p:txBody>
      </p:sp>
      <p:sp>
        <p:nvSpPr>
          <p:cNvPr id="33" name="Text 31"/>
          <p:cNvSpPr/>
          <p:nvPr/>
        </p:nvSpPr>
        <p:spPr>
          <a:xfrm>
            <a:off x="4526280" y="1325880"/>
            <a:ext cx="4297680" cy="804672"/>
          </a:xfrm>
          <a:prstGeom prst="rect">
            <a:avLst/>
          </a:prstGeom>
          <a:noFill/>
          <a:ln/>
        </p:spPr>
        <p:txBody>
          <a:bodyPr wrap="square" lIns="50800" tIns="50800" rIns="50800" bIns="5080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The gap between the hyperplane and the nearest points on each side.</a:t>
            </a:r>
            <a:endParaRPr lang="en-US" sz="1100" dirty="0"/>
          </a:p>
          <a:p>
            <a:pPr marL="0" indent="0">
              <a:buNone/>
            </a:pP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A BIGGER margin = better predictions on new, unseen data! Think of it as the safety buffer.</a:t>
            </a:r>
            <a:endParaRPr lang="en-US" sz="1100" dirty="0"/>
          </a:p>
        </p:txBody>
      </p:sp>
      <p:sp>
        <p:nvSpPr>
          <p:cNvPr id="34" name="Shape 32"/>
          <p:cNvSpPr/>
          <p:nvPr/>
        </p:nvSpPr>
        <p:spPr>
          <a:xfrm>
            <a:off x="4434840" y="2267712"/>
            <a:ext cx="4480560" cy="1234440"/>
          </a:xfrm>
          <a:prstGeom prst="roundRect">
            <a:avLst>
              <a:gd name="adj" fmla="val 5926"/>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35" name="Shape 33"/>
          <p:cNvSpPr/>
          <p:nvPr/>
        </p:nvSpPr>
        <p:spPr>
          <a:xfrm>
            <a:off x="4434840" y="2267712"/>
            <a:ext cx="4480560" cy="384048"/>
          </a:xfrm>
          <a:prstGeom prst="roundRect">
            <a:avLst>
              <a:gd name="adj" fmla="val 19048"/>
            </a:avLst>
          </a:prstGeom>
          <a:solidFill>
            <a:srgbClr val="F59E0B"/>
          </a:solidFill>
          <a:ln w="12700">
            <a:solidFill>
              <a:srgbClr val="F59E0B"/>
            </a:solidFill>
            <a:prstDash val="solid"/>
          </a:ln>
        </p:spPr>
      </p:sp>
      <p:sp>
        <p:nvSpPr>
          <p:cNvPr id="36" name="Text 34"/>
          <p:cNvSpPr/>
          <p:nvPr/>
        </p:nvSpPr>
        <p:spPr>
          <a:xfrm>
            <a:off x="4480560" y="2267712"/>
            <a:ext cx="4389120" cy="384048"/>
          </a:xfrm>
          <a:prstGeom prst="rect">
            <a:avLst/>
          </a:prstGeom>
          <a:noFill/>
          <a:ln/>
        </p:spPr>
        <p:txBody>
          <a:bodyPr wrap="square" lIns="76200" tIns="76200" rIns="76200" bIns="7620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Support Vectors (VIP Points)</a:t>
            </a:r>
            <a:endParaRPr lang="en-US" sz="1200" dirty="0"/>
          </a:p>
        </p:txBody>
      </p:sp>
      <p:sp>
        <p:nvSpPr>
          <p:cNvPr id="37" name="Text 35"/>
          <p:cNvSpPr/>
          <p:nvPr/>
        </p:nvSpPr>
        <p:spPr>
          <a:xfrm>
            <a:off x="4526280" y="2679192"/>
            <a:ext cx="4297680" cy="804672"/>
          </a:xfrm>
          <a:prstGeom prst="rect">
            <a:avLst/>
          </a:prstGeom>
          <a:noFill/>
          <a:ln/>
        </p:spPr>
        <p:txBody>
          <a:bodyPr wrap="square" lIns="50800" tIns="50800" rIns="50800" bIns="5080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The closest data points to the hyperplane. They literally define where the line goes.</a:t>
            </a:r>
            <a:endParaRPr lang="en-US" sz="1100" dirty="0"/>
          </a:p>
          <a:p>
            <a:pPr marL="0" indent="0">
              <a:buNone/>
            </a:pPr>
            <a:endParaRPr lang="en-US" sz="1100" dirty="0"/>
          </a:p>
          <a:p>
            <a:pPr marL="0" indent="0">
              <a:buNone/>
            </a:pPr>
            <a:r>
              <a:rPr lang="en-US" sz="1100" dirty="0">
                <a:solidFill>
                  <a:srgbClr val="334155"/>
                </a:solidFill>
                <a:latin typeface="Calibri" pitchFamily="34" charset="0"/>
                <a:ea typeface="Calibri" pitchFamily="34" charset="-122"/>
                <a:cs typeface="Calibri" pitchFamily="34" charset="-120"/>
              </a:rPr>
              <a:t>Move them and the whole boundary shifts! Remove ALL other points — SVM draws the exact same line.</a:t>
            </a:r>
            <a:endParaRPr lang="en-US" sz="1100" dirty="0"/>
          </a:p>
        </p:txBody>
      </p:sp>
      <p:sp>
        <p:nvSpPr>
          <p:cNvPr id="38" name="Shape 36"/>
          <p:cNvSpPr/>
          <p:nvPr/>
        </p:nvSpPr>
        <p:spPr>
          <a:xfrm>
            <a:off x="4434840" y="3621024"/>
            <a:ext cx="4480560" cy="1234440"/>
          </a:xfrm>
          <a:prstGeom prst="roundRect">
            <a:avLst>
              <a:gd name="adj" fmla="val 5926"/>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39" name="Shape 37"/>
          <p:cNvSpPr/>
          <p:nvPr/>
        </p:nvSpPr>
        <p:spPr>
          <a:xfrm>
            <a:off x="4434840" y="3621024"/>
            <a:ext cx="4480560" cy="384048"/>
          </a:xfrm>
          <a:prstGeom prst="roundRect">
            <a:avLst>
              <a:gd name="adj" fmla="val 19048"/>
            </a:avLst>
          </a:prstGeom>
          <a:solidFill>
            <a:srgbClr val="0D9488"/>
          </a:solidFill>
          <a:ln w="12700">
            <a:solidFill>
              <a:srgbClr val="0D9488"/>
            </a:solidFill>
            <a:prstDash val="solid"/>
          </a:ln>
        </p:spPr>
      </p:sp>
      <p:sp>
        <p:nvSpPr>
          <p:cNvPr id="40" name="Text 38"/>
          <p:cNvSpPr/>
          <p:nvPr/>
        </p:nvSpPr>
        <p:spPr>
          <a:xfrm>
            <a:off x="4480560" y="3621024"/>
            <a:ext cx="4389120" cy="384048"/>
          </a:xfrm>
          <a:prstGeom prst="rect">
            <a:avLst/>
          </a:prstGeom>
          <a:noFill/>
          <a:ln/>
        </p:spPr>
        <p:txBody>
          <a:bodyPr wrap="square" lIns="76200" tIns="76200" rIns="76200" bIns="7620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Why Only a Few Points Matter</a:t>
            </a:r>
            <a:endParaRPr lang="en-US" sz="1200" dirty="0"/>
          </a:p>
        </p:txBody>
      </p:sp>
      <p:sp>
        <p:nvSpPr>
          <p:cNvPr id="41" name="Text 39"/>
          <p:cNvSpPr/>
          <p:nvPr/>
        </p:nvSpPr>
        <p:spPr>
          <a:xfrm>
            <a:off x="4526280" y="4032504"/>
            <a:ext cx="4297680" cy="804672"/>
          </a:xfrm>
          <a:prstGeom prst="rect">
            <a:avLst/>
          </a:prstGeom>
          <a:noFill/>
          <a:ln/>
        </p:spPr>
        <p:txBody>
          <a:bodyPr wrap="square" lIns="50800" tIns="50800" rIns="50800" bIns="5080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SVM ignores all non-support-vector data. Only the closest points count — making it efficient and robust to outliers.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457200" y="228600"/>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04  |  The Kernel Trick</a:t>
            </a:r>
            <a:endParaRPr lang="en-US" sz="2800" dirty="0"/>
          </a:p>
        </p:txBody>
      </p:sp>
      <p:sp>
        <p:nvSpPr>
          <p:cNvPr id="3" name="Text 1"/>
          <p:cNvSpPr/>
          <p:nvPr/>
        </p:nvSpPr>
        <p:spPr>
          <a:xfrm>
            <a:off x="457200" y="777240"/>
            <a:ext cx="8229600" cy="411480"/>
          </a:xfrm>
          <a:prstGeom prst="rect">
            <a:avLst/>
          </a:prstGeom>
          <a:noFill/>
          <a:ln/>
        </p:spPr>
        <p:txBody>
          <a:bodyPr wrap="square" lIns="0" tIns="0" rIns="0" bIns="0" rtlCol="0" anchor="ctr"/>
          <a:lstStyle/>
          <a:p>
            <a:pPr marL="0" indent="0">
              <a:buNone/>
            </a:pPr>
            <a:r>
              <a:rPr lang="en-US" sz="1500" i="1" dirty="0">
                <a:solidFill>
                  <a:srgbClr val="CCFBF1"/>
                </a:solidFill>
                <a:latin typeface="Calibri" pitchFamily="34" charset="0"/>
                <a:ea typeface="Calibri" pitchFamily="34" charset="-122"/>
                <a:cs typeface="Calibri" pitchFamily="34" charset="-120"/>
              </a:rPr>
              <a:t>What happens when NO straight line can separate the data?</a:t>
            </a:r>
            <a:endParaRPr lang="en-US" sz="1500" dirty="0"/>
          </a:p>
        </p:txBody>
      </p:sp>
      <p:sp>
        <p:nvSpPr>
          <p:cNvPr id="4" name="Shape 2"/>
          <p:cNvSpPr/>
          <p:nvPr/>
        </p:nvSpPr>
        <p:spPr>
          <a:xfrm>
            <a:off x="365760" y="1325880"/>
            <a:ext cx="3931920" cy="3520440"/>
          </a:xfrm>
          <a:prstGeom prst="roundRect">
            <a:avLst>
              <a:gd name="adj" fmla="val 3117"/>
            </a:avLst>
          </a:prstGeom>
          <a:solidFill>
            <a:srgbClr val="132240"/>
          </a:solidFill>
          <a:ln w="25400">
            <a:solidFill>
              <a:srgbClr val="F43F5E"/>
            </a:solidFill>
            <a:prstDash val="solid"/>
          </a:ln>
        </p:spPr>
      </p:sp>
      <p:sp>
        <p:nvSpPr>
          <p:cNvPr id="5" name="Text 3"/>
          <p:cNvSpPr/>
          <p:nvPr/>
        </p:nvSpPr>
        <p:spPr>
          <a:xfrm>
            <a:off x="457200" y="1417320"/>
            <a:ext cx="3749040" cy="384048"/>
          </a:xfrm>
          <a:prstGeom prst="rect">
            <a:avLst/>
          </a:prstGeom>
          <a:noFill/>
          <a:ln/>
        </p:spPr>
        <p:txBody>
          <a:bodyPr wrap="square" lIns="0" tIns="0" rIns="0" bIns="0" rtlCol="0" anchor="ctr"/>
          <a:lstStyle/>
          <a:p>
            <a:pPr marL="0" indent="0" algn="ctr">
              <a:buNone/>
            </a:pPr>
            <a:r>
              <a:rPr lang="en-US" sz="1500" b="1" dirty="0">
                <a:solidFill>
                  <a:srgbClr val="F43F5E"/>
                </a:solidFill>
                <a:latin typeface="Calibri" pitchFamily="34" charset="0"/>
                <a:ea typeface="Calibri" pitchFamily="34" charset="-122"/>
                <a:cs typeface="Calibri" pitchFamily="34" charset="-120"/>
              </a:rPr>
              <a:t>❌  PROBLEM</a:t>
            </a:r>
            <a:endParaRPr lang="en-US" sz="1500" dirty="0"/>
          </a:p>
        </p:txBody>
      </p:sp>
      <p:sp>
        <p:nvSpPr>
          <p:cNvPr id="6" name="Text 4"/>
          <p:cNvSpPr/>
          <p:nvPr/>
        </p:nvSpPr>
        <p:spPr>
          <a:xfrm>
            <a:off x="457200" y="1783080"/>
            <a:ext cx="3749040" cy="32004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No straight line works!</a:t>
            </a:r>
            <a:endParaRPr lang="en-US" sz="1300" dirty="0"/>
          </a:p>
        </p:txBody>
      </p:sp>
      <p:sp>
        <p:nvSpPr>
          <p:cNvPr id="7" name="Shape 5"/>
          <p:cNvSpPr/>
          <p:nvPr/>
        </p:nvSpPr>
        <p:spPr>
          <a:xfrm>
            <a:off x="914400" y="2377440"/>
            <a:ext cx="256032" cy="256032"/>
          </a:xfrm>
          <a:prstGeom prst="ellipse">
            <a:avLst/>
          </a:prstGeom>
          <a:solidFill>
            <a:srgbClr val="0D9488"/>
          </a:solidFill>
          <a:ln w="12700">
            <a:solidFill>
              <a:srgbClr val="0D9488"/>
            </a:solidFill>
            <a:prstDash val="solid"/>
          </a:ln>
        </p:spPr>
      </p:sp>
      <p:sp>
        <p:nvSpPr>
          <p:cNvPr id="8" name="Shape 6"/>
          <p:cNvSpPr/>
          <p:nvPr/>
        </p:nvSpPr>
        <p:spPr>
          <a:xfrm>
            <a:off x="1280160" y="3108960"/>
            <a:ext cx="256032" cy="256032"/>
          </a:xfrm>
          <a:prstGeom prst="ellipse">
            <a:avLst/>
          </a:prstGeom>
          <a:solidFill>
            <a:srgbClr val="0D9488"/>
          </a:solidFill>
          <a:ln w="12700">
            <a:solidFill>
              <a:srgbClr val="0D9488"/>
            </a:solidFill>
            <a:prstDash val="solid"/>
          </a:ln>
        </p:spPr>
      </p:sp>
      <p:sp>
        <p:nvSpPr>
          <p:cNvPr id="9" name="Shape 7"/>
          <p:cNvSpPr/>
          <p:nvPr/>
        </p:nvSpPr>
        <p:spPr>
          <a:xfrm>
            <a:off x="822960" y="3474720"/>
            <a:ext cx="256032" cy="256032"/>
          </a:xfrm>
          <a:prstGeom prst="ellipse">
            <a:avLst/>
          </a:prstGeom>
          <a:solidFill>
            <a:srgbClr val="0D9488"/>
          </a:solidFill>
          <a:ln w="12700">
            <a:solidFill>
              <a:srgbClr val="0D9488"/>
            </a:solidFill>
            <a:prstDash val="solid"/>
          </a:ln>
        </p:spPr>
      </p:sp>
      <p:sp>
        <p:nvSpPr>
          <p:cNvPr id="10" name="Shape 8"/>
          <p:cNvSpPr/>
          <p:nvPr/>
        </p:nvSpPr>
        <p:spPr>
          <a:xfrm>
            <a:off x="1463040" y="2194560"/>
            <a:ext cx="256032" cy="256032"/>
          </a:xfrm>
          <a:prstGeom prst="ellipse">
            <a:avLst/>
          </a:prstGeom>
          <a:solidFill>
            <a:srgbClr val="0D9488"/>
          </a:solidFill>
          <a:ln w="12700">
            <a:solidFill>
              <a:srgbClr val="0D9488"/>
            </a:solidFill>
            <a:prstDash val="solid"/>
          </a:ln>
        </p:spPr>
      </p:sp>
      <p:sp>
        <p:nvSpPr>
          <p:cNvPr id="11" name="Shape 9"/>
          <p:cNvSpPr/>
          <p:nvPr/>
        </p:nvSpPr>
        <p:spPr>
          <a:xfrm>
            <a:off x="1097280" y="3749040"/>
            <a:ext cx="256032" cy="256032"/>
          </a:xfrm>
          <a:prstGeom prst="ellipse">
            <a:avLst/>
          </a:prstGeom>
          <a:solidFill>
            <a:srgbClr val="0D9488"/>
          </a:solidFill>
          <a:ln w="12700">
            <a:solidFill>
              <a:srgbClr val="0D9488"/>
            </a:solidFill>
            <a:prstDash val="solid"/>
          </a:ln>
        </p:spPr>
      </p:sp>
      <p:sp>
        <p:nvSpPr>
          <p:cNvPr id="12" name="Shape 10"/>
          <p:cNvSpPr/>
          <p:nvPr/>
        </p:nvSpPr>
        <p:spPr>
          <a:xfrm>
            <a:off x="2011680" y="2286000"/>
            <a:ext cx="256032" cy="256032"/>
          </a:xfrm>
          <a:prstGeom prst="ellipse">
            <a:avLst/>
          </a:prstGeom>
          <a:solidFill>
            <a:srgbClr val="F43F5E"/>
          </a:solidFill>
          <a:ln w="12700">
            <a:solidFill>
              <a:srgbClr val="F43F5E"/>
            </a:solidFill>
            <a:prstDash val="solid"/>
          </a:ln>
        </p:spPr>
      </p:sp>
      <p:sp>
        <p:nvSpPr>
          <p:cNvPr id="13" name="Shape 11"/>
          <p:cNvSpPr/>
          <p:nvPr/>
        </p:nvSpPr>
        <p:spPr>
          <a:xfrm>
            <a:off x="2560320" y="2468880"/>
            <a:ext cx="256032" cy="256032"/>
          </a:xfrm>
          <a:prstGeom prst="ellipse">
            <a:avLst/>
          </a:prstGeom>
          <a:solidFill>
            <a:srgbClr val="F43F5E"/>
          </a:solidFill>
          <a:ln w="12700">
            <a:solidFill>
              <a:srgbClr val="F43F5E"/>
            </a:solidFill>
            <a:prstDash val="solid"/>
          </a:ln>
        </p:spPr>
      </p:sp>
      <p:sp>
        <p:nvSpPr>
          <p:cNvPr id="14" name="Shape 12"/>
          <p:cNvSpPr/>
          <p:nvPr/>
        </p:nvSpPr>
        <p:spPr>
          <a:xfrm>
            <a:off x="2286000" y="3200400"/>
            <a:ext cx="256032" cy="256032"/>
          </a:xfrm>
          <a:prstGeom prst="ellipse">
            <a:avLst/>
          </a:prstGeom>
          <a:solidFill>
            <a:srgbClr val="F43F5E"/>
          </a:solidFill>
          <a:ln w="12700">
            <a:solidFill>
              <a:srgbClr val="F43F5E"/>
            </a:solidFill>
            <a:prstDash val="solid"/>
          </a:ln>
        </p:spPr>
      </p:sp>
      <p:sp>
        <p:nvSpPr>
          <p:cNvPr id="15" name="Shape 13"/>
          <p:cNvSpPr/>
          <p:nvPr/>
        </p:nvSpPr>
        <p:spPr>
          <a:xfrm>
            <a:off x="2743200" y="3657600"/>
            <a:ext cx="256032" cy="256032"/>
          </a:xfrm>
          <a:prstGeom prst="ellipse">
            <a:avLst/>
          </a:prstGeom>
          <a:solidFill>
            <a:srgbClr val="F43F5E"/>
          </a:solidFill>
          <a:ln w="12700">
            <a:solidFill>
              <a:srgbClr val="F43F5E"/>
            </a:solidFill>
            <a:prstDash val="solid"/>
          </a:ln>
        </p:spPr>
      </p:sp>
      <p:sp>
        <p:nvSpPr>
          <p:cNvPr id="16" name="Shape 14"/>
          <p:cNvSpPr/>
          <p:nvPr/>
        </p:nvSpPr>
        <p:spPr>
          <a:xfrm>
            <a:off x="2103120" y="3931920"/>
            <a:ext cx="256032" cy="256032"/>
          </a:xfrm>
          <a:prstGeom prst="ellipse">
            <a:avLst/>
          </a:prstGeom>
          <a:solidFill>
            <a:srgbClr val="F43F5E"/>
          </a:solidFill>
          <a:ln w="12700">
            <a:solidFill>
              <a:srgbClr val="F43F5E"/>
            </a:solidFill>
            <a:prstDash val="solid"/>
          </a:ln>
        </p:spPr>
      </p:sp>
      <p:sp>
        <p:nvSpPr>
          <p:cNvPr id="17" name="Shape 15"/>
          <p:cNvSpPr/>
          <p:nvPr/>
        </p:nvSpPr>
        <p:spPr>
          <a:xfrm>
            <a:off x="1645920" y="2743200"/>
            <a:ext cx="256032" cy="256032"/>
          </a:xfrm>
          <a:prstGeom prst="ellipse">
            <a:avLst/>
          </a:prstGeom>
          <a:solidFill>
            <a:srgbClr val="0D9488"/>
          </a:solidFill>
          <a:ln w="12700">
            <a:solidFill>
              <a:srgbClr val="0D9488"/>
            </a:solidFill>
            <a:prstDash val="solid"/>
          </a:ln>
        </p:spPr>
      </p:sp>
      <p:sp>
        <p:nvSpPr>
          <p:cNvPr id="18" name="Shape 16"/>
          <p:cNvSpPr/>
          <p:nvPr/>
        </p:nvSpPr>
        <p:spPr>
          <a:xfrm>
            <a:off x="2651760" y="2926080"/>
            <a:ext cx="256032" cy="256032"/>
          </a:xfrm>
          <a:prstGeom prst="ellipse">
            <a:avLst/>
          </a:prstGeom>
          <a:solidFill>
            <a:srgbClr val="0D9488"/>
          </a:solidFill>
          <a:ln w="12700">
            <a:solidFill>
              <a:srgbClr val="0D9488"/>
            </a:solidFill>
            <a:prstDash val="solid"/>
          </a:ln>
        </p:spPr>
      </p:sp>
      <p:sp>
        <p:nvSpPr>
          <p:cNvPr id="19" name="Shape 17"/>
          <p:cNvSpPr/>
          <p:nvPr/>
        </p:nvSpPr>
        <p:spPr>
          <a:xfrm>
            <a:off x="1371600" y="3246120"/>
            <a:ext cx="256032" cy="256032"/>
          </a:xfrm>
          <a:prstGeom prst="ellipse">
            <a:avLst/>
          </a:prstGeom>
          <a:solidFill>
            <a:srgbClr val="0D9488"/>
          </a:solidFill>
          <a:ln w="12700">
            <a:solidFill>
              <a:srgbClr val="0D9488"/>
            </a:solidFill>
            <a:prstDash val="solid"/>
          </a:ln>
        </p:spPr>
      </p:sp>
      <p:sp>
        <p:nvSpPr>
          <p:cNvPr id="20" name="Shape 18"/>
          <p:cNvSpPr/>
          <p:nvPr/>
        </p:nvSpPr>
        <p:spPr>
          <a:xfrm>
            <a:off x="2194560" y="4114800"/>
            <a:ext cx="256032" cy="256032"/>
          </a:xfrm>
          <a:prstGeom prst="ellipse">
            <a:avLst/>
          </a:prstGeom>
          <a:solidFill>
            <a:srgbClr val="0D9488"/>
          </a:solidFill>
          <a:ln w="12700">
            <a:solidFill>
              <a:srgbClr val="0D9488"/>
            </a:solidFill>
            <a:prstDash val="solid"/>
          </a:ln>
        </p:spPr>
      </p:sp>
      <p:sp>
        <p:nvSpPr>
          <p:cNvPr id="21" name="Text 19"/>
          <p:cNvSpPr/>
          <p:nvPr/>
        </p:nvSpPr>
        <p:spPr>
          <a:xfrm>
            <a:off x="457200" y="4434840"/>
            <a:ext cx="3749040" cy="292608"/>
          </a:xfrm>
          <a:prstGeom prst="rect">
            <a:avLst/>
          </a:prstGeom>
          <a:noFill/>
          <a:ln/>
        </p:spPr>
        <p:txBody>
          <a:bodyPr wrap="square" lIns="0" tIns="0" rIns="0" bIns="0" rtlCol="0" anchor="ctr"/>
          <a:lstStyle/>
          <a:p>
            <a:pPr marL="0" indent="0" algn="ctr">
              <a:buNone/>
            </a:pPr>
            <a:r>
              <a:rPr lang="en-US" sz="1100" dirty="0">
                <a:solidFill>
                  <a:srgbClr val="64748B"/>
                </a:solidFill>
                <a:latin typeface="Calibri" pitchFamily="34" charset="0"/>
                <a:ea typeface="Calibri" pitchFamily="34" charset="-122"/>
                <a:cs typeface="Calibri" pitchFamily="34" charset="-120"/>
              </a:rPr>
              <a:t>Teal = Class A    Coral = Class B</a:t>
            </a:r>
            <a:endParaRPr lang="en-US" sz="1100" dirty="0"/>
          </a:p>
        </p:txBody>
      </p:sp>
      <p:sp>
        <p:nvSpPr>
          <p:cNvPr id="22" name="Shape 20"/>
          <p:cNvSpPr/>
          <p:nvPr/>
        </p:nvSpPr>
        <p:spPr>
          <a:xfrm>
            <a:off x="4434840" y="3017520"/>
            <a:ext cx="548640" cy="0"/>
          </a:xfrm>
          <a:prstGeom prst="line">
            <a:avLst/>
          </a:prstGeom>
          <a:noFill/>
          <a:ln w="38100">
            <a:solidFill>
              <a:srgbClr val="F59E0B"/>
            </a:solidFill>
            <a:prstDash val="solid"/>
          </a:ln>
        </p:spPr>
      </p:sp>
      <p:sp>
        <p:nvSpPr>
          <p:cNvPr id="23" name="Text 21"/>
          <p:cNvSpPr/>
          <p:nvPr/>
        </p:nvSpPr>
        <p:spPr>
          <a:xfrm>
            <a:off x="4370832" y="3063240"/>
            <a:ext cx="685800" cy="685800"/>
          </a:xfrm>
          <a:prstGeom prst="rect">
            <a:avLst/>
          </a:prstGeom>
          <a:noFill/>
          <a:ln/>
        </p:spPr>
        <p:txBody>
          <a:bodyPr wrap="square" lIns="0" tIns="0" rIns="0" bIns="0" rtlCol="0" anchor="ctr"/>
          <a:lstStyle/>
          <a:p>
            <a:pPr marL="0" indent="0" algn="ctr">
              <a:buNone/>
            </a:pPr>
            <a:r>
              <a:rPr lang="en-US" sz="1000" b="1" dirty="0">
                <a:solidFill>
                  <a:srgbClr val="F59E0B"/>
                </a:solidFill>
                <a:latin typeface="Calibri" pitchFamily="34" charset="0"/>
                <a:ea typeface="Calibri" pitchFamily="34" charset="-122"/>
                <a:cs typeface="Calibri" pitchFamily="34" charset="-120"/>
              </a:rPr>
              <a:t>✨ Kernel</a:t>
            </a:r>
            <a:endParaRPr lang="en-US" sz="1000" dirty="0"/>
          </a:p>
          <a:p>
            <a:pPr marL="0" indent="0" algn="ctr">
              <a:buNone/>
            </a:pPr>
            <a:r>
              <a:rPr lang="en-US" sz="1000" b="1" dirty="0">
                <a:solidFill>
                  <a:srgbClr val="F59E0B"/>
                </a:solidFill>
                <a:latin typeface="Calibri" pitchFamily="34" charset="0"/>
                <a:ea typeface="Calibri" pitchFamily="34" charset="-122"/>
                <a:cs typeface="Calibri" pitchFamily="34" charset="-120"/>
              </a:rPr>
              <a:t>Trick</a:t>
            </a:r>
            <a:endParaRPr lang="en-US" sz="1000" dirty="0"/>
          </a:p>
        </p:txBody>
      </p:sp>
      <p:sp>
        <p:nvSpPr>
          <p:cNvPr id="24" name="Shape 22"/>
          <p:cNvSpPr/>
          <p:nvPr/>
        </p:nvSpPr>
        <p:spPr>
          <a:xfrm>
            <a:off x="5074920" y="1325880"/>
            <a:ext cx="3749040" cy="3520440"/>
          </a:xfrm>
          <a:prstGeom prst="roundRect">
            <a:avLst>
              <a:gd name="adj" fmla="val 3117"/>
            </a:avLst>
          </a:prstGeom>
          <a:solidFill>
            <a:srgbClr val="132240"/>
          </a:solidFill>
          <a:ln w="25400">
            <a:solidFill>
              <a:srgbClr val="0D9488"/>
            </a:solidFill>
            <a:prstDash val="solid"/>
          </a:ln>
        </p:spPr>
      </p:sp>
      <p:sp>
        <p:nvSpPr>
          <p:cNvPr id="25" name="Text 23"/>
          <p:cNvSpPr/>
          <p:nvPr/>
        </p:nvSpPr>
        <p:spPr>
          <a:xfrm>
            <a:off x="5166360" y="1417320"/>
            <a:ext cx="3566160" cy="384048"/>
          </a:xfrm>
          <a:prstGeom prst="rect">
            <a:avLst/>
          </a:prstGeom>
          <a:noFill/>
          <a:ln/>
        </p:spPr>
        <p:txBody>
          <a:bodyPr wrap="square" lIns="0" tIns="0" rIns="0" bIns="0" rtlCol="0" anchor="ctr"/>
          <a:lstStyle/>
          <a:p>
            <a:pPr marL="0" indent="0" algn="ctr">
              <a:buNone/>
            </a:pPr>
            <a:r>
              <a:rPr lang="en-US" sz="1500" b="1" dirty="0">
                <a:solidFill>
                  <a:srgbClr val="0D9488"/>
                </a:solidFill>
                <a:latin typeface="Calibri" pitchFamily="34" charset="0"/>
                <a:ea typeface="Calibri" pitchFamily="34" charset="-122"/>
                <a:cs typeface="Calibri" pitchFamily="34" charset="-120"/>
              </a:rPr>
              <a:t>✅  SOLUTION</a:t>
            </a:r>
            <a:endParaRPr lang="en-US" sz="1500" dirty="0"/>
          </a:p>
        </p:txBody>
      </p:sp>
      <p:sp>
        <p:nvSpPr>
          <p:cNvPr id="26" name="Text 24"/>
          <p:cNvSpPr/>
          <p:nvPr/>
        </p:nvSpPr>
        <p:spPr>
          <a:xfrm>
            <a:off x="5166360" y="1783080"/>
            <a:ext cx="3566160" cy="320040"/>
          </a:xfrm>
          <a:prstGeom prst="rect">
            <a:avLst/>
          </a:prstGeom>
          <a:noFill/>
          <a:ln/>
        </p:spPr>
        <p:txBody>
          <a:bodyPr wrap="square" lIns="0" tIns="0" rIns="0" bIns="0" rtlCol="0" anchor="ctr"/>
          <a:lstStyle/>
          <a:p>
            <a:pPr marL="0" indent="0" algn="ctr">
              <a:buNone/>
            </a:pPr>
            <a:r>
              <a:rPr lang="en-US" sz="1200" dirty="0">
                <a:solidFill>
                  <a:srgbClr val="FFFFFF"/>
                </a:solidFill>
                <a:latin typeface="Calibri" pitchFamily="34" charset="0"/>
                <a:ea typeface="Calibri" pitchFamily="34" charset="-122"/>
                <a:cs typeface="Calibri" pitchFamily="34" charset="-120"/>
              </a:rPr>
              <a:t>Circular boundary in higher dimension!</a:t>
            </a:r>
            <a:endParaRPr lang="en-US" sz="1200" dirty="0"/>
          </a:p>
        </p:txBody>
      </p:sp>
      <p:sp>
        <p:nvSpPr>
          <p:cNvPr id="27" name="Shape 25"/>
          <p:cNvSpPr/>
          <p:nvPr/>
        </p:nvSpPr>
        <p:spPr>
          <a:xfrm>
            <a:off x="5760720" y="2468880"/>
            <a:ext cx="256032" cy="256032"/>
          </a:xfrm>
          <a:prstGeom prst="ellipse">
            <a:avLst/>
          </a:prstGeom>
          <a:solidFill>
            <a:srgbClr val="0D9488"/>
          </a:solidFill>
          <a:ln w="12700">
            <a:solidFill>
              <a:srgbClr val="0D9488"/>
            </a:solidFill>
            <a:prstDash val="solid"/>
          </a:ln>
        </p:spPr>
      </p:sp>
      <p:sp>
        <p:nvSpPr>
          <p:cNvPr id="28" name="Shape 26"/>
          <p:cNvSpPr/>
          <p:nvPr/>
        </p:nvSpPr>
        <p:spPr>
          <a:xfrm>
            <a:off x="5943600" y="3017520"/>
            <a:ext cx="256032" cy="256032"/>
          </a:xfrm>
          <a:prstGeom prst="ellipse">
            <a:avLst/>
          </a:prstGeom>
          <a:solidFill>
            <a:srgbClr val="0D9488"/>
          </a:solidFill>
          <a:ln w="12700">
            <a:solidFill>
              <a:srgbClr val="0D9488"/>
            </a:solidFill>
            <a:prstDash val="solid"/>
          </a:ln>
        </p:spPr>
      </p:sp>
      <p:sp>
        <p:nvSpPr>
          <p:cNvPr id="29" name="Shape 27"/>
          <p:cNvSpPr/>
          <p:nvPr/>
        </p:nvSpPr>
        <p:spPr>
          <a:xfrm>
            <a:off x="5669280" y="3474720"/>
            <a:ext cx="256032" cy="256032"/>
          </a:xfrm>
          <a:prstGeom prst="ellipse">
            <a:avLst/>
          </a:prstGeom>
          <a:solidFill>
            <a:srgbClr val="0D9488"/>
          </a:solidFill>
          <a:ln w="12700">
            <a:solidFill>
              <a:srgbClr val="0D9488"/>
            </a:solidFill>
            <a:prstDash val="solid"/>
          </a:ln>
        </p:spPr>
      </p:sp>
      <p:sp>
        <p:nvSpPr>
          <p:cNvPr id="30" name="Shape 28"/>
          <p:cNvSpPr/>
          <p:nvPr/>
        </p:nvSpPr>
        <p:spPr>
          <a:xfrm>
            <a:off x="6035040" y="2286000"/>
            <a:ext cx="256032" cy="256032"/>
          </a:xfrm>
          <a:prstGeom prst="ellipse">
            <a:avLst/>
          </a:prstGeom>
          <a:solidFill>
            <a:srgbClr val="0D9488"/>
          </a:solidFill>
          <a:ln w="12700">
            <a:solidFill>
              <a:srgbClr val="0D9488"/>
            </a:solidFill>
            <a:prstDash val="solid"/>
          </a:ln>
        </p:spPr>
      </p:sp>
      <p:sp>
        <p:nvSpPr>
          <p:cNvPr id="31" name="Shape 29"/>
          <p:cNvSpPr/>
          <p:nvPr/>
        </p:nvSpPr>
        <p:spPr>
          <a:xfrm>
            <a:off x="5852160" y="3749040"/>
            <a:ext cx="256032" cy="256032"/>
          </a:xfrm>
          <a:prstGeom prst="ellipse">
            <a:avLst/>
          </a:prstGeom>
          <a:solidFill>
            <a:srgbClr val="0D9488"/>
          </a:solidFill>
          <a:ln w="12700">
            <a:solidFill>
              <a:srgbClr val="0D9488"/>
            </a:solidFill>
            <a:prstDash val="solid"/>
          </a:ln>
        </p:spPr>
      </p:sp>
      <p:sp>
        <p:nvSpPr>
          <p:cNvPr id="32" name="Shape 30"/>
          <p:cNvSpPr/>
          <p:nvPr/>
        </p:nvSpPr>
        <p:spPr>
          <a:xfrm>
            <a:off x="7040880" y="2377440"/>
            <a:ext cx="256032" cy="256032"/>
          </a:xfrm>
          <a:prstGeom prst="ellipse">
            <a:avLst/>
          </a:prstGeom>
          <a:solidFill>
            <a:srgbClr val="F43F5E"/>
          </a:solidFill>
          <a:ln w="12700">
            <a:solidFill>
              <a:srgbClr val="F43F5E"/>
            </a:solidFill>
            <a:prstDash val="solid"/>
          </a:ln>
        </p:spPr>
      </p:sp>
      <p:sp>
        <p:nvSpPr>
          <p:cNvPr id="33" name="Shape 31"/>
          <p:cNvSpPr/>
          <p:nvPr/>
        </p:nvSpPr>
        <p:spPr>
          <a:xfrm>
            <a:off x="7498080" y="2560320"/>
            <a:ext cx="256032" cy="256032"/>
          </a:xfrm>
          <a:prstGeom prst="ellipse">
            <a:avLst/>
          </a:prstGeom>
          <a:solidFill>
            <a:srgbClr val="F43F5E"/>
          </a:solidFill>
          <a:ln w="12700">
            <a:solidFill>
              <a:srgbClr val="F43F5E"/>
            </a:solidFill>
            <a:prstDash val="solid"/>
          </a:ln>
        </p:spPr>
      </p:sp>
      <p:sp>
        <p:nvSpPr>
          <p:cNvPr id="34" name="Shape 32"/>
          <p:cNvSpPr/>
          <p:nvPr/>
        </p:nvSpPr>
        <p:spPr>
          <a:xfrm>
            <a:off x="7223760" y="3108960"/>
            <a:ext cx="256032" cy="256032"/>
          </a:xfrm>
          <a:prstGeom prst="ellipse">
            <a:avLst/>
          </a:prstGeom>
          <a:solidFill>
            <a:srgbClr val="F43F5E"/>
          </a:solidFill>
          <a:ln w="12700">
            <a:solidFill>
              <a:srgbClr val="F43F5E"/>
            </a:solidFill>
            <a:prstDash val="solid"/>
          </a:ln>
        </p:spPr>
      </p:sp>
      <p:sp>
        <p:nvSpPr>
          <p:cNvPr id="35" name="Shape 33"/>
          <p:cNvSpPr/>
          <p:nvPr/>
        </p:nvSpPr>
        <p:spPr>
          <a:xfrm>
            <a:off x="7589520" y="3566160"/>
            <a:ext cx="256032" cy="256032"/>
          </a:xfrm>
          <a:prstGeom prst="ellipse">
            <a:avLst/>
          </a:prstGeom>
          <a:solidFill>
            <a:srgbClr val="F43F5E"/>
          </a:solidFill>
          <a:ln w="12700">
            <a:solidFill>
              <a:srgbClr val="F43F5E"/>
            </a:solidFill>
            <a:prstDash val="solid"/>
          </a:ln>
        </p:spPr>
      </p:sp>
      <p:sp>
        <p:nvSpPr>
          <p:cNvPr id="36" name="Shape 34"/>
          <p:cNvSpPr/>
          <p:nvPr/>
        </p:nvSpPr>
        <p:spPr>
          <a:xfrm>
            <a:off x="7315200" y="3840480"/>
            <a:ext cx="256032" cy="256032"/>
          </a:xfrm>
          <a:prstGeom prst="ellipse">
            <a:avLst/>
          </a:prstGeom>
          <a:solidFill>
            <a:srgbClr val="F43F5E"/>
          </a:solidFill>
          <a:ln w="12700">
            <a:solidFill>
              <a:srgbClr val="F43F5E"/>
            </a:solidFill>
            <a:prstDash val="solid"/>
          </a:ln>
        </p:spPr>
      </p:sp>
      <p:sp>
        <p:nvSpPr>
          <p:cNvPr id="37" name="Shape 35"/>
          <p:cNvSpPr/>
          <p:nvPr/>
        </p:nvSpPr>
        <p:spPr>
          <a:xfrm>
            <a:off x="6263640" y="2331720"/>
            <a:ext cx="1737360" cy="1783080"/>
          </a:xfrm>
          <a:prstGeom prst="ellipse">
            <a:avLst/>
          </a:prstGeom>
          <a:solidFill>
            <a:srgbClr val="0D9488">
              <a:alpha val="12000"/>
            </a:srgbClr>
          </a:solidFill>
          <a:ln w="25400">
            <a:solidFill>
              <a:srgbClr val="0D9488"/>
            </a:solidFill>
            <a:prstDash val="solid"/>
          </a:ln>
        </p:spPr>
      </p:sp>
      <p:sp>
        <p:nvSpPr>
          <p:cNvPr id="38" name="Text 36"/>
          <p:cNvSpPr/>
          <p:nvPr/>
        </p:nvSpPr>
        <p:spPr>
          <a:xfrm>
            <a:off x="5166360" y="4206240"/>
            <a:ext cx="3566160" cy="566928"/>
          </a:xfrm>
          <a:prstGeom prst="rect">
            <a:avLst/>
          </a:prstGeom>
          <a:noFill/>
          <a:ln/>
        </p:spPr>
        <p:txBody>
          <a:bodyPr wrap="square" lIns="0" tIns="0" rIns="0" bIns="0" rtlCol="0" anchor="ctr"/>
          <a:lstStyle/>
          <a:p>
            <a:pPr marL="0" indent="0" algn="ctr">
              <a:buNone/>
            </a:pPr>
            <a:r>
              <a:rPr lang="en-US" sz="1100" dirty="0">
                <a:solidFill>
                  <a:srgbClr val="CCFBF1"/>
                </a:solidFill>
                <a:latin typeface="Calibri" pitchFamily="34" charset="0"/>
                <a:ea typeface="Calibri" pitchFamily="34" charset="-122"/>
                <a:cs typeface="Calibri" pitchFamily="34" charset="-120"/>
              </a:rPr>
              <a:t>The kernel lifts data into higher dimensions where it becomes linearly separable!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3E"/>
          </a:solidFill>
          <a:ln w="12700">
            <a:solidFill>
              <a:srgbClr val="0D1B3E"/>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05  |  The Kernel Trick — Step by Step</a:t>
            </a:r>
            <a:endParaRPr lang="en-US" sz="2200" dirty="0"/>
          </a:p>
        </p:txBody>
      </p:sp>
      <p:sp>
        <p:nvSpPr>
          <p:cNvPr id="4" name="Shape 2"/>
          <p:cNvSpPr/>
          <p:nvPr/>
        </p:nvSpPr>
        <p:spPr>
          <a:xfrm>
            <a:off x="347472" y="914400"/>
            <a:ext cx="2743200" cy="3268980"/>
          </a:xfrm>
          <a:prstGeom prst="roundRect">
            <a:avLst>
              <a:gd name="adj" fmla="val 3333"/>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5" name="Shape 3"/>
          <p:cNvSpPr/>
          <p:nvPr/>
        </p:nvSpPr>
        <p:spPr>
          <a:xfrm>
            <a:off x="1463040" y="960120"/>
            <a:ext cx="512064" cy="512064"/>
          </a:xfrm>
          <a:prstGeom prst="ellipse">
            <a:avLst/>
          </a:prstGeom>
          <a:solidFill>
            <a:srgbClr val="F43F5E"/>
          </a:solidFill>
          <a:ln w="12700">
            <a:solidFill>
              <a:srgbClr val="F43F5E"/>
            </a:solidFill>
            <a:prstDash val="solid"/>
          </a:ln>
        </p:spPr>
      </p:sp>
      <p:sp>
        <p:nvSpPr>
          <p:cNvPr id="6" name="Text 4"/>
          <p:cNvSpPr/>
          <p:nvPr/>
        </p:nvSpPr>
        <p:spPr>
          <a:xfrm>
            <a:off x="1463040" y="960120"/>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216152" y="1572768"/>
            <a:ext cx="1005840" cy="594360"/>
          </a:xfrm>
          <a:prstGeom prst="rect">
            <a:avLst/>
          </a:prstGeom>
          <a:noFill/>
          <a:ln/>
        </p:spPr>
        <p:txBody>
          <a:bodyPr wrap="square" lIns="0" tIns="0" rIns="0" bIns="0" rtlCol="0" anchor="ctr"/>
          <a:lstStyle/>
          <a:p>
            <a:pPr marL="0" indent="0" algn="ctr">
              <a:buNone/>
            </a:pPr>
            <a:endParaRPr lang="en-US" sz="3000" dirty="0"/>
          </a:p>
        </p:txBody>
      </p:sp>
      <p:sp>
        <p:nvSpPr>
          <p:cNvPr id="8" name="Text 6"/>
          <p:cNvSpPr/>
          <p:nvPr/>
        </p:nvSpPr>
        <p:spPr>
          <a:xfrm>
            <a:off x="438912" y="2212848"/>
            <a:ext cx="2560320" cy="502920"/>
          </a:xfrm>
          <a:prstGeom prst="rect">
            <a:avLst/>
          </a:prstGeom>
          <a:noFill/>
          <a:ln/>
        </p:spPr>
        <p:txBody>
          <a:bodyPr wrap="square" lIns="0" tIns="0" rIns="0" bIns="0" rtlCol="0" anchor="ctr"/>
          <a:lstStyle/>
          <a:p>
            <a:pPr marL="0" indent="0" algn="ctr">
              <a:buNone/>
            </a:pPr>
            <a:r>
              <a:rPr lang="en-US" sz="1300" b="1" dirty="0">
                <a:solidFill>
                  <a:srgbClr val="0D1B3E"/>
                </a:solidFill>
                <a:latin typeface="Cambria" pitchFamily="34" charset="0"/>
                <a:ea typeface="Cambria" pitchFamily="34" charset="-122"/>
                <a:cs typeface="Cambria" pitchFamily="34" charset="-120"/>
              </a:rPr>
              <a:t>Start: Mixed up in 2D</a:t>
            </a:r>
            <a:endParaRPr lang="en-US" sz="1300" dirty="0"/>
          </a:p>
        </p:txBody>
      </p:sp>
      <p:sp>
        <p:nvSpPr>
          <p:cNvPr id="9" name="Text 7"/>
          <p:cNvSpPr/>
          <p:nvPr/>
        </p:nvSpPr>
        <p:spPr>
          <a:xfrm>
            <a:off x="438912" y="2743200"/>
            <a:ext cx="2560320" cy="914400"/>
          </a:xfrm>
          <a:prstGeom prst="rect">
            <a:avLst/>
          </a:prstGeom>
          <a:noFill/>
          <a:ln/>
        </p:spPr>
        <p:txBody>
          <a:bodyPr wrap="square" lIns="50800" tIns="50800" rIns="50800" bIns="5080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Green and orange dots jumbled together. No straight line can divide them!</a:t>
            </a:r>
            <a:endParaRPr lang="en-US" sz="1200" dirty="0"/>
          </a:p>
        </p:txBody>
      </p:sp>
      <p:sp>
        <p:nvSpPr>
          <p:cNvPr id="10" name="Text 8"/>
          <p:cNvSpPr/>
          <p:nvPr/>
        </p:nvSpPr>
        <p:spPr>
          <a:xfrm>
            <a:off x="3163824" y="2560320"/>
            <a:ext cx="256032" cy="457200"/>
          </a:xfrm>
          <a:prstGeom prst="rect">
            <a:avLst/>
          </a:prstGeom>
          <a:noFill/>
          <a:ln/>
        </p:spPr>
        <p:txBody>
          <a:bodyPr wrap="square" lIns="0" tIns="0" rIns="0" bIns="0" rtlCol="0" anchor="ctr"/>
          <a:lstStyle/>
          <a:p>
            <a:pPr marL="0" indent="0" algn="ctr">
              <a:buNone/>
            </a:pPr>
            <a:r>
              <a:rPr lang="en-US" sz="2400" b="1" dirty="0">
                <a:solidFill>
                  <a:srgbClr val="0D9488"/>
                </a:solidFill>
              </a:rPr>
              <a:t>→</a:t>
            </a:r>
            <a:endParaRPr lang="en-US" sz="2400" dirty="0"/>
          </a:p>
        </p:txBody>
      </p:sp>
      <p:sp>
        <p:nvSpPr>
          <p:cNvPr id="11" name="Shape 9"/>
          <p:cNvSpPr/>
          <p:nvPr/>
        </p:nvSpPr>
        <p:spPr>
          <a:xfrm>
            <a:off x="3291840" y="914400"/>
            <a:ext cx="2743200" cy="3268980"/>
          </a:xfrm>
          <a:prstGeom prst="roundRect">
            <a:avLst>
              <a:gd name="adj" fmla="val 3333"/>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12" name="Shape 10"/>
          <p:cNvSpPr/>
          <p:nvPr/>
        </p:nvSpPr>
        <p:spPr>
          <a:xfrm>
            <a:off x="4407408" y="960120"/>
            <a:ext cx="512064" cy="512064"/>
          </a:xfrm>
          <a:prstGeom prst="ellipse">
            <a:avLst/>
          </a:prstGeom>
          <a:solidFill>
            <a:srgbClr val="F59E0B"/>
          </a:solidFill>
          <a:ln w="12700">
            <a:solidFill>
              <a:srgbClr val="F59E0B"/>
            </a:solidFill>
            <a:prstDash val="solid"/>
          </a:ln>
        </p:spPr>
      </p:sp>
      <p:sp>
        <p:nvSpPr>
          <p:cNvPr id="13" name="Text 11"/>
          <p:cNvSpPr/>
          <p:nvPr/>
        </p:nvSpPr>
        <p:spPr>
          <a:xfrm>
            <a:off x="4407408" y="960120"/>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4160520" y="1572768"/>
            <a:ext cx="1005840" cy="594360"/>
          </a:xfrm>
          <a:prstGeom prst="rect">
            <a:avLst/>
          </a:prstGeom>
          <a:noFill/>
          <a:ln/>
        </p:spPr>
        <p:txBody>
          <a:bodyPr wrap="square" lIns="0" tIns="0" rIns="0" bIns="0" rtlCol="0" anchor="ctr"/>
          <a:lstStyle/>
          <a:p>
            <a:pPr marL="0" indent="0" algn="ctr">
              <a:buNone/>
            </a:pPr>
            <a:endParaRPr lang="en-US" sz="3000" dirty="0"/>
          </a:p>
        </p:txBody>
      </p:sp>
      <p:sp>
        <p:nvSpPr>
          <p:cNvPr id="15" name="Text 13"/>
          <p:cNvSpPr/>
          <p:nvPr/>
        </p:nvSpPr>
        <p:spPr>
          <a:xfrm>
            <a:off x="3383280" y="2212848"/>
            <a:ext cx="2560320" cy="502920"/>
          </a:xfrm>
          <a:prstGeom prst="rect">
            <a:avLst/>
          </a:prstGeom>
          <a:noFill/>
          <a:ln/>
        </p:spPr>
        <p:txBody>
          <a:bodyPr wrap="square" lIns="0" tIns="0" rIns="0" bIns="0" rtlCol="0" anchor="ctr"/>
          <a:lstStyle/>
          <a:p>
            <a:pPr marL="0" indent="0" algn="ctr">
              <a:buNone/>
            </a:pPr>
            <a:r>
              <a:rPr lang="en-US" sz="1300" b="1" dirty="0">
                <a:solidFill>
                  <a:srgbClr val="0D1B3E"/>
                </a:solidFill>
                <a:latin typeface="Cambria" pitchFamily="34" charset="0"/>
                <a:ea typeface="Cambria" pitchFamily="34" charset="-122"/>
                <a:cs typeface="Cambria" pitchFamily="34" charset="-120"/>
              </a:rPr>
              <a:t>Kernel Lifts to 3D</a:t>
            </a:r>
            <a:endParaRPr lang="en-US" sz="1300" dirty="0"/>
          </a:p>
        </p:txBody>
      </p:sp>
      <p:sp>
        <p:nvSpPr>
          <p:cNvPr id="16" name="Text 14"/>
          <p:cNvSpPr/>
          <p:nvPr/>
        </p:nvSpPr>
        <p:spPr>
          <a:xfrm>
            <a:off x="3383280" y="2743200"/>
            <a:ext cx="2560320" cy="914400"/>
          </a:xfrm>
          <a:prstGeom prst="rect">
            <a:avLst/>
          </a:prstGeom>
          <a:noFill/>
          <a:ln/>
        </p:spPr>
        <p:txBody>
          <a:bodyPr wrap="square" lIns="50800" tIns="50800" rIns="50800" bIns="5080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The kernel function maps each point into higher dimensions — like lifting dots off a table!</a:t>
            </a:r>
            <a:endParaRPr lang="en-US" sz="1200" dirty="0"/>
          </a:p>
        </p:txBody>
      </p:sp>
      <p:sp>
        <p:nvSpPr>
          <p:cNvPr id="17" name="Text 15"/>
          <p:cNvSpPr/>
          <p:nvPr/>
        </p:nvSpPr>
        <p:spPr>
          <a:xfrm>
            <a:off x="6108192" y="2560320"/>
            <a:ext cx="256032" cy="457200"/>
          </a:xfrm>
          <a:prstGeom prst="rect">
            <a:avLst/>
          </a:prstGeom>
          <a:noFill/>
          <a:ln/>
        </p:spPr>
        <p:txBody>
          <a:bodyPr wrap="square" lIns="0" tIns="0" rIns="0" bIns="0" rtlCol="0" anchor="ctr"/>
          <a:lstStyle/>
          <a:p>
            <a:pPr marL="0" indent="0" algn="ctr">
              <a:buNone/>
            </a:pPr>
            <a:r>
              <a:rPr lang="en-US" sz="2400" b="1" dirty="0">
                <a:solidFill>
                  <a:srgbClr val="0D9488"/>
                </a:solidFill>
              </a:rPr>
              <a:t>→</a:t>
            </a:r>
            <a:endParaRPr lang="en-US" sz="2400" dirty="0"/>
          </a:p>
        </p:txBody>
      </p:sp>
      <p:sp>
        <p:nvSpPr>
          <p:cNvPr id="18" name="Shape 16"/>
          <p:cNvSpPr/>
          <p:nvPr/>
        </p:nvSpPr>
        <p:spPr>
          <a:xfrm>
            <a:off x="6236208" y="914400"/>
            <a:ext cx="2743200" cy="3268980"/>
          </a:xfrm>
          <a:prstGeom prst="roundRect">
            <a:avLst>
              <a:gd name="adj" fmla="val 3333"/>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19" name="Shape 17"/>
          <p:cNvSpPr/>
          <p:nvPr/>
        </p:nvSpPr>
        <p:spPr>
          <a:xfrm>
            <a:off x="7351776" y="960120"/>
            <a:ext cx="512064" cy="512064"/>
          </a:xfrm>
          <a:prstGeom prst="ellipse">
            <a:avLst/>
          </a:prstGeom>
          <a:solidFill>
            <a:srgbClr val="0D9488"/>
          </a:solidFill>
          <a:ln w="12700">
            <a:solidFill>
              <a:srgbClr val="0D9488"/>
            </a:solidFill>
            <a:prstDash val="solid"/>
          </a:ln>
        </p:spPr>
      </p:sp>
      <p:sp>
        <p:nvSpPr>
          <p:cNvPr id="20" name="Text 18"/>
          <p:cNvSpPr/>
          <p:nvPr/>
        </p:nvSpPr>
        <p:spPr>
          <a:xfrm>
            <a:off x="7351776" y="960120"/>
            <a:ext cx="512064" cy="512064"/>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p:nvPr/>
        </p:nvSpPr>
        <p:spPr>
          <a:xfrm>
            <a:off x="7104888" y="1572768"/>
            <a:ext cx="1005840" cy="594360"/>
          </a:xfrm>
          <a:prstGeom prst="rect">
            <a:avLst/>
          </a:prstGeom>
          <a:noFill/>
          <a:ln/>
        </p:spPr>
        <p:txBody>
          <a:bodyPr wrap="square" lIns="0" tIns="0" rIns="0" bIns="0" rtlCol="0" anchor="ctr"/>
          <a:lstStyle/>
          <a:p>
            <a:pPr marL="0" indent="0" algn="ctr">
              <a:buNone/>
            </a:pPr>
            <a:endParaRPr lang="en-US" sz="3000" dirty="0"/>
          </a:p>
        </p:txBody>
      </p:sp>
      <p:sp>
        <p:nvSpPr>
          <p:cNvPr id="22" name="Text 20"/>
          <p:cNvSpPr/>
          <p:nvPr/>
        </p:nvSpPr>
        <p:spPr>
          <a:xfrm>
            <a:off x="6327648" y="2212848"/>
            <a:ext cx="2560320" cy="502920"/>
          </a:xfrm>
          <a:prstGeom prst="rect">
            <a:avLst/>
          </a:prstGeom>
          <a:noFill/>
          <a:ln/>
        </p:spPr>
        <p:txBody>
          <a:bodyPr wrap="square" lIns="0" tIns="0" rIns="0" bIns="0" rtlCol="0" anchor="ctr"/>
          <a:lstStyle/>
          <a:p>
            <a:pPr marL="0" indent="0" algn="ctr">
              <a:buNone/>
            </a:pPr>
            <a:r>
              <a:rPr lang="en-US" sz="1300" b="1" dirty="0">
                <a:solidFill>
                  <a:srgbClr val="0D1B3E"/>
                </a:solidFill>
                <a:latin typeface="Cambria" pitchFamily="34" charset="0"/>
                <a:ea typeface="Cambria" pitchFamily="34" charset="-122"/>
                <a:cs typeface="Cambria" pitchFamily="34" charset="-120"/>
              </a:rPr>
              <a:t>Now Separable!</a:t>
            </a:r>
            <a:endParaRPr lang="en-US" sz="1300" dirty="0"/>
          </a:p>
        </p:txBody>
      </p:sp>
      <p:sp>
        <p:nvSpPr>
          <p:cNvPr id="23" name="Text 21"/>
          <p:cNvSpPr/>
          <p:nvPr/>
        </p:nvSpPr>
        <p:spPr>
          <a:xfrm>
            <a:off x="6327648" y="2743200"/>
            <a:ext cx="2560320" cy="914400"/>
          </a:xfrm>
          <a:prstGeom prst="rect">
            <a:avLst/>
          </a:prstGeom>
          <a:noFill/>
          <a:ln/>
        </p:spPr>
        <p:txBody>
          <a:bodyPr wrap="square" lIns="50800" tIns="50800" rIns="50800" bIns="50800" rtlCol="0" anchor="ctr"/>
          <a:lstStyle/>
          <a:p>
            <a:pPr marL="0" indent="0" algn="ctr">
              <a:buNone/>
            </a:pPr>
            <a:r>
              <a:rPr lang="en-US" sz="1200" dirty="0">
                <a:solidFill>
                  <a:srgbClr val="334155"/>
                </a:solidFill>
                <a:latin typeface="Calibri" pitchFamily="34" charset="0"/>
                <a:ea typeface="Calibri" pitchFamily="34" charset="-122"/>
                <a:cs typeface="Calibri" pitchFamily="34" charset="-120"/>
              </a:rPr>
              <a:t>In the new dimension, dots separate perfectly. A flat plane can now divide them cleanly.</a:t>
            </a:r>
            <a:endParaRPr lang="en-US" sz="1200" dirty="0"/>
          </a:p>
        </p:txBody>
      </p:sp>
      <p:sp>
        <p:nvSpPr>
          <p:cNvPr id="24" name="Shape 22"/>
          <p:cNvSpPr/>
          <p:nvPr/>
        </p:nvSpPr>
        <p:spPr>
          <a:xfrm>
            <a:off x="438912" y="4303776"/>
            <a:ext cx="8449056" cy="566928"/>
          </a:xfrm>
          <a:prstGeom prst="roundRect">
            <a:avLst>
              <a:gd name="adj" fmla="val 12903"/>
            </a:avLst>
          </a:prstGeom>
          <a:solidFill>
            <a:srgbClr val="CCFBF1"/>
          </a:solidFill>
          <a:ln w="12700">
            <a:solidFill>
              <a:srgbClr val="0D9488"/>
            </a:solidFill>
            <a:prstDash val="solid"/>
          </a:ln>
        </p:spPr>
      </p:sp>
      <p:sp>
        <p:nvSpPr>
          <p:cNvPr id="25" name="Text 23"/>
          <p:cNvSpPr/>
          <p:nvPr/>
        </p:nvSpPr>
        <p:spPr>
          <a:xfrm>
            <a:off x="566928" y="4302252"/>
            <a:ext cx="8229600" cy="566928"/>
          </a:xfrm>
          <a:prstGeom prst="rect">
            <a:avLst/>
          </a:prstGeom>
          <a:noFill/>
          <a:ln/>
        </p:spPr>
        <p:txBody>
          <a:bodyPr wrap="square" lIns="76200" tIns="76200" rIns="76200" bIns="7620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  Key Insight: The kernel never actually computes the full higher-dimensional coordinates. It uses a mathematical shortcut to compute distances directly — making it very fast and memory-efficient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3E"/>
          </a:solidFill>
          <a:ln w="12700">
            <a:solidFill>
              <a:srgbClr val="0D1B3E"/>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06  |  Types of Kernels</a:t>
            </a:r>
            <a:endParaRPr lang="en-US" sz="2200" dirty="0"/>
          </a:p>
        </p:txBody>
      </p:sp>
      <p:sp>
        <p:nvSpPr>
          <p:cNvPr id="4" name="Text 2"/>
          <p:cNvSpPr/>
          <p:nvPr/>
        </p:nvSpPr>
        <p:spPr>
          <a:xfrm>
            <a:off x="457200" y="868680"/>
            <a:ext cx="8229600" cy="411480"/>
          </a:xfrm>
          <a:prstGeom prst="rect">
            <a:avLst/>
          </a:prstGeom>
          <a:noFill/>
          <a:ln/>
        </p:spPr>
        <p:txBody>
          <a:bodyPr wrap="square" lIns="0" tIns="0" rIns="0" bIns="0" rtlCol="0" anchor="ctr"/>
          <a:lstStyle/>
          <a:p>
            <a:pPr marL="0" indent="0">
              <a:buNone/>
            </a:pPr>
            <a:r>
              <a:rPr lang="en-US" sz="1300" dirty="0">
                <a:solidFill>
                  <a:srgbClr val="334155"/>
                </a:solidFill>
                <a:latin typeface="Calibri" pitchFamily="34" charset="0"/>
                <a:ea typeface="Calibri" pitchFamily="34" charset="-122"/>
                <a:cs typeface="Calibri" pitchFamily="34" charset="-120"/>
              </a:rPr>
              <a:t>Kernel functions transform input data into higher-dimensional space, enabling classification of non-linear patterns.</a:t>
            </a:r>
            <a:endParaRPr lang="en-US" sz="1300" dirty="0"/>
          </a:p>
        </p:txBody>
      </p:sp>
      <p:sp>
        <p:nvSpPr>
          <p:cNvPr id="5" name="Shape 3"/>
          <p:cNvSpPr/>
          <p:nvPr/>
        </p:nvSpPr>
        <p:spPr>
          <a:xfrm>
            <a:off x="347472" y="1371600"/>
            <a:ext cx="4114800" cy="1691640"/>
          </a:xfrm>
          <a:prstGeom prst="roundRect">
            <a:avLst>
              <a:gd name="adj" fmla="val 5405"/>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6" name="Shape 4"/>
          <p:cNvSpPr/>
          <p:nvPr/>
        </p:nvSpPr>
        <p:spPr>
          <a:xfrm>
            <a:off x="457200" y="1481328"/>
            <a:ext cx="566928" cy="566928"/>
          </a:xfrm>
          <a:prstGeom prst="ellipse">
            <a:avLst/>
          </a:prstGeom>
          <a:solidFill>
            <a:srgbClr val="38BDF8"/>
          </a:solidFill>
          <a:ln w="12700">
            <a:solidFill>
              <a:srgbClr val="38BDF8"/>
            </a:solidFill>
            <a:prstDash val="solid"/>
          </a:ln>
        </p:spPr>
      </p:sp>
      <p:sp>
        <p:nvSpPr>
          <p:cNvPr id="7" name="Text 5"/>
          <p:cNvSpPr/>
          <p:nvPr/>
        </p:nvSpPr>
        <p:spPr>
          <a:xfrm>
            <a:off x="457200" y="1481328"/>
            <a:ext cx="566928" cy="56692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8" name="Text 6"/>
          <p:cNvSpPr/>
          <p:nvPr/>
        </p:nvSpPr>
        <p:spPr>
          <a:xfrm>
            <a:off x="1124712" y="1463040"/>
            <a:ext cx="2560320" cy="347472"/>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Linear Kernel</a:t>
            </a:r>
            <a:endParaRPr lang="en-US" sz="1300" dirty="0"/>
          </a:p>
        </p:txBody>
      </p:sp>
      <p:sp>
        <p:nvSpPr>
          <p:cNvPr id="9" name="Shape 7"/>
          <p:cNvSpPr/>
          <p:nvPr/>
        </p:nvSpPr>
        <p:spPr>
          <a:xfrm>
            <a:off x="1124712" y="1773936"/>
            <a:ext cx="1371600" cy="246888"/>
          </a:xfrm>
          <a:prstGeom prst="roundRect">
            <a:avLst>
              <a:gd name="adj" fmla="val 18519"/>
            </a:avLst>
          </a:prstGeom>
          <a:solidFill>
            <a:srgbClr val="38BDF8">
              <a:alpha val="20000"/>
            </a:srgbClr>
          </a:solidFill>
          <a:ln w="12700">
            <a:solidFill>
              <a:srgbClr val="38BDF8"/>
            </a:solidFill>
            <a:prstDash val="solid"/>
          </a:ln>
        </p:spPr>
      </p:sp>
      <p:sp>
        <p:nvSpPr>
          <p:cNvPr id="10" name="Text 8"/>
          <p:cNvSpPr/>
          <p:nvPr/>
        </p:nvSpPr>
        <p:spPr>
          <a:xfrm>
            <a:off x="1124712" y="1773936"/>
            <a:ext cx="1371600" cy="246888"/>
          </a:xfrm>
          <a:prstGeom prst="rect">
            <a:avLst/>
          </a:prstGeom>
          <a:noFill/>
          <a:ln/>
        </p:spPr>
        <p:txBody>
          <a:bodyPr wrap="square" lIns="0" tIns="0" rIns="0" bIns="0" rtlCol="0" anchor="ctr"/>
          <a:lstStyle/>
          <a:p>
            <a:pPr marL="0" indent="0" algn="ctr">
              <a:buNone/>
            </a:pPr>
            <a:r>
              <a:rPr lang="en-US" sz="900" dirty="0">
                <a:solidFill>
                  <a:srgbClr val="334155"/>
                </a:solidFill>
                <a:latin typeface="Courier New" pitchFamily="34" charset="0"/>
                <a:ea typeface="Courier New" pitchFamily="34" charset="-122"/>
                <a:cs typeface="Courier New" pitchFamily="34" charset="-120"/>
              </a:rPr>
              <a:t>K(x,y) = xᵀy</a:t>
            </a:r>
            <a:endParaRPr lang="en-US" sz="900" dirty="0"/>
          </a:p>
        </p:txBody>
      </p:sp>
      <p:sp>
        <p:nvSpPr>
          <p:cNvPr id="11" name="Text 9"/>
          <p:cNvSpPr/>
          <p:nvPr/>
        </p:nvSpPr>
        <p:spPr>
          <a:xfrm>
            <a:off x="1124712" y="2048256"/>
            <a:ext cx="3200400" cy="256032"/>
          </a:xfrm>
          <a:prstGeom prst="rect">
            <a:avLst/>
          </a:prstGeom>
          <a:noFill/>
          <a:ln/>
        </p:spPr>
        <p:txBody>
          <a:bodyPr wrap="square" lIns="0" tIns="0" rIns="0" bIns="0" rtlCol="0" anchor="ctr"/>
          <a:lstStyle/>
          <a:p>
            <a:pPr marL="0" indent="0">
              <a:buNone/>
            </a:pPr>
            <a:r>
              <a:rPr lang="en-US" sz="1100" b="1" dirty="0">
                <a:solidFill>
                  <a:srgbClr val="38BDF8"/>
                </a:solidFill>
                <a:latin typeface="Calibri" pitchFamily="34" charset="0"/>
                <a:ea typeface="Calibri" pitchFamily="34" charset="-122"/>
                <a:cs typeface="Calibri" pitchFamily="34" charset="-120"/>
              </a:rPr>
              <a:t>Best for: Linearly separable data</a:t>
            </a:r>
            <a:endParaRPr lang="en-US" sz="1100" dirty="0"/>
          </a:p>
        </p:txBody>
      </p:sp>
      <p:sp>
        <p:nvSpPr>
          <p:cNvPr id="12" name="Text 10"/>
          <p:cNvSpPr/>
          <p:nvPr/>
        </p:nvSpPr>
        <p:spPr>
          <a:xfrm>
            <a:off x="457200" y="2395728"/>
            <a:ext cx="3886200" cy="594360"/>
          </a:xfrm>
          <a:prstGeom prst="rect">
            <a:avLst/>
          </a:prstGeom>
          <a:noFill/>
          <a:ln/>
        </p:spPr>
        <p:txBody>
          <a:bodyPr wrap="square" lIns="25400" tIns="25400" rIns="25400" bIns="25400" rtlCol="0" anchor="ctr"/>
          <a:lstStyle/>
          <a:p>
            <a:pPr marL="0" indent="0">
              <a:buNone/>
            </a:pPr>
            <a:r>
              <a:rPr lang="en-US" sz="1100" i="1" dirty="0">
                <a:solidFill>
                  <a:srgbClr val="334155"/>
                </a:solidFill>
                <a:latin typeface="Calibri" pitchFamily="34" charset="0"/>
                <a:ea typeface="Calibri" pitchFamily="34" charset="-122"/>
                <a:cs typeface="Calibri" pitchFamily="34" charset="-120"/>
              </a:rPr>
              <a:t>Like a straight ruler drawing a clear line between groups — simple and fast.</a:t>
            </a:r>
            <a:endParaRPr lang="en-US" sz="1100" dirty="0"/>
          </a:p>
        </p:txBody>
      </p:sp>
      <p:sp>
        <p:nvSpPr>
          <p:cNvPr id="13" name="Shape 11"/>
          <p:cNvSpPr/>
          <p:nvPr/>
        </p:nvSpPr>
        <p:spPr>
          <a:xfrm>
            <a:off x="4690872" y="1371600"/>
            <a:ext cx="4114800" cy="1691640"/>
          </a:xfrm>
          <a:prstGeom prst="roundRect">
            <a:avLst>
              <a:gd name="adj" fmla="val 5405"/>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14" name="Shape 12"/>
          <p:cNvSpPr/>
          <p:nvPr/>
        </p:nvSpPr>
        <p:spPr>
          <a:xfrm>
            <a:off x="4800600" y="1481328"/>
            <a:ext cx="566928" cy="566928"/>
          </a:xfrm>
          <a:prstGeom prst="ellipse">
            <a:avLst/>
          </a:prstGeom>
          <a:solidFill>
            <a:srgbClr val="F59E0B"/>
          </a:solidFill>
          <a:ln w="12700">
            <a:solidFill>
              <a:srgbClr val="F59E0B"/>
            </a:solidFill>
            <a:prstDash val="solid"/>
          </a:ln>
        </p:spPr>
      </p:sp>
      <p:sp>
        <p:nvSpPr>
          <p:cNvPr id="15" name="Text 13"/>
          <p:cNvSpPr/>
          <p:nvPr/>
        </p:nvSpPr>
        <p:spPr>
          <a:xfrm>
            <a:off x="4800600" y="1481328"/>
            <a:ext cx="566928" cy="56692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6" name="Text 14"/>
          <p:cNvSpPr/>
          <p:nvPr/>
        </p:nvSpPr>
        <p:spPr>
          <a:xfrm>
            <a:off x="5468112" y="1463040"/>
            <a:ext cx="2560320" cy="347472"/>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Polynomial Kernel</a:t>
            </a:r>
            <a:endParaRPr lang="en-US" sz="1300" dirty="0"/>
          </a:p>
        </p:txBody>
      </p:sp>
      <p:sp>
        <p:nvSpPr>
          <p:cNvPr id="17" name="Shape 15"/>
          <p:cNvSpPr/>
          <p:nvPr/>
        </p:nvSpPr>
        <p:spPr>
          <a:xfrm>
            <a:off x="5468112" y="1773936"/>
            <a:ext cx="1371600" cy="246888"/>
          </a:xfrm>
          <a:prstGeom prst="roundRect">
            <a:avLst>
              <a:gd name="adj" fmla="val 18519"/>
            </a:avLst>
          </a:prstGeom>
          <a:solidFill>
            <a:srgbClr val="F59E0B">
              <a:alpha val="20000"/>
            </a:srgbClr>
          </a:solidFill>
          <a:ln w="12700">
            <a:solidFill>
              <a:srgbClr val="F59E0B"/>
            </a:solidFill>
            <a:prstDash val="solid"/>
          </a:ln>
        </p:spPr>
      </p:sp>
      <p:sp>
        <p:nvSpPr>
          <p:cNvPr id="18" name="Text 16"/>
          <p:cNvSpPr/>
          <p:nvPr/>
        </p:nvSpPr>
        <p:spPr>
          <a:xfrm>
            <a:off x="5468112" y="1773936"/>
            <a:ext cx="1371600" cy="246888"/>
          </a:xfrm>
          <a:prstGeom prst="rect">
            <a:avLst/>
          </a:prstGeom>
          <a:noFill/>
          <a:ln/>
        </p:spPr>
        <p:txBody>
          <a:bodyPr wrap="square" lIns="0" tIns="0" rIns="0" bIns="0" rtlCol="0" anchor="ctr"/>
          <a:lstStyle/>
          <a:p>
            <a:pPr marL="0" indent="0" algn="ctr">
              <a:buNone/>
            </a:pPr>
            <a:r>
              <a:rPr lang="en-US" sz="900" dirty="0">
                <a:solidFill>
                  <a:srgbClr val="334155"/>
                </a:solidFill>
                <a:latin typeface="Courier New" pitchFamily="34" charset="0"/>
                <a:ea typeface="Courier New" pitchFamily="34" charset="-122"/>
                <a:cs typeface="Courier New" pitchFamily="34" charset="-120"/>
              </a:rPr>
              <a:t>K(x,y) = (xᵀy + c)ᵈ</a:t>
            </a:r>
            <a:endParaRPr lang="en-US" sz="900" dirty="0"/>
          </a:p>
        </p:txBody>
      </p:sp>
      <p:sp>
        <p:nvSpPr>
          <p:cNvPr id="19" name="Text 17"/>
          <p:cNvSpPr/>
          <p:nvPr/>
        </p:nvSpPr>
        <p:spPr>
          <a:xfrm>
            <a:off x="5468112" y="2048256"/>
            <a:ext cx="3200400" cy="256032"/>
          </a:xfrm>
          <a:prstGeom prst="rect">
            <a:avLst/>
          </a:prstGeom>
          <a:noFill/>
          <a:ln/>
        </p:spPr>
        <p:txBody>
          <a:bodyPr wrap="square" lIns="0" tIns="0" rIns="0" bIns="0" rtlCol="0" anchor="ctr"/>
          <a:lstStyle/>
          <a:p>
            <a:pPr marL="0" indent="0">
              <a:buNone/>
            </a:pPr>
            <a:r>
              <a:rPr lang="en-US" sz="1100" b="1" dirty="0">
                <a:solidFill>
                  <a:srgbClr val="F59E0B"/>
                </a:solidFill>
                <a:latin typeface="Calibri" pitchFamily="34" charset="0"/>
                <a:ea typeface="Calibri" pitchFamily="34" charset="-122"/>
                <a:cs typeface="Calibri" pitchFamily="34" charset="-120"/>
              </a:rPr>
              <a:t>Best for: Curved decision boundaries</a:t>
            </a:r>
            <a:endParaRPr lang="en-US" sz="1100" dirty="0"/>
          </a:p>
        </p:txBody>
      </p:sp>
      <p:sp>
        <p:nvSpPr>
          <p:cNvPr id="20" name="Text 18"/>
          <p:cNvSpPr/>
          <p:nvPr/>
        </p:nvSpPr>
        <p:spPr>
          <a:xfrm>
            <a:off x="4800600" y="2395728"/>
            <a:ext cx="3886200" cy="594360"/>
          </a:xfrm>
          <a:prstGeom prst="rect">
            <a:avLst/>
          </a:prstGeom>
          <a:noFill/>
          <a:ln/>
        </p:spPr>
        <p:txBody>
          <a:bodyPr wrap="square" lIns="25400" tIns="25400" rIns="25400" bIns="25400" rtlCol="0" anchor="ctr"/>
          <a:lstStyle/>
          <a:p>
            <a:pPr marL="0" indent="0">
              <a:buNone/>
            </a:pPr>
            <a:r>
              <a:rPr lang="en-US" sz="1100" i="1" dirty="0">
                <a:solidFill>
                  <a:srgbClr val="334155"/>
                </a:solidFill>
                <a:latin typeface="Calibri" pitchFamily="34" charset="0"/>
                <a:ea typeface="Calibri" pitchFamily="34" charset="-122"/>
                <a:cs typeface="Calibri" pitchFamily="34" charset="-120"/>
              </a:rPr>
              <a:t>Like a curved ruler fitting more complex patterns — handles some non-linearity.</a:t>
            </a:r>
            <a:endParaRPr lang="en-US" sz="1100" dirty="0"/>
          </a:p>
        </p:txBody>
      </p:sp>
      <p:sp>
        <p:nvSpPr>
          <p:cNvPr id="21" name="Shape 19"/>
          <p:cNvSpPr/>
          <p:nvPr/>
        </p:nvSpPr>
        <p:spPr>
          <a:xfrm>
            <a:off x="347472" y="3200400"/>
            <a:ext cx="4114800" cy="1691640"/>
          </a:xfrm>
          <a:prstGeom prst="roundRect">
            <a:avLst>
              <a:gd name="adj" fmla="val 5405"/>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22" name="Shape 20"/>
          <p:cNvSpPr/>
          <p:nvPr/>
        </p:nvSpPr>
        <p:spPr>
          <a:xfrm>
            <a:off x="457200" y="3310128"/>
            <a:ext cx="566928" cy="566928"/>
          </a:xfrm>
          <a:prstGeom prst="ellipse">
            <a:avLst/>
          </a:prstGeom>
          <a:solidFill>
            <a:srgbClr val="0D9488"/>
          </a:solidFill>
          <a:ln w="12700">
            <a:solidFill>
              <a:srgbClr val="0D9488"/>
            </a:solidFill>
            <a:prstDash val="solid"/>
          </a:ln>
        </p:spPr>
      </p:sp>
      <p:sp>
        <p:nvSpPr>
          <p:cNvPr id="23" name="Text 21"/>
          <p:cNvSpPr/>
          <p:nvPr/>
        </p:nvSpPr>
        <p:spPr>
          <a:xfrm>
            <a:off x="457200" y="3310128"/>
            <a:ext cx="566928" cy="56692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4" name="Text 22"/>
          <p:cNvSpPr/>
          <p:nvPr/>
        </p:nvSpPr>
        <p:spPr>
          <a:xfrm>
            <a:off x="1124712" y="3291840"/>
            <a:ext cx="2560320" cy="347472"/>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RBF Kernel</a:t>
            </a:r>
            <a:endParaRPr lang="en-US" sz="1300" dirty="0"/>
          </a:p>
        </p:txBody>
      </p:sp>
      <p:sp>
        <p:nvSpPr>
          <p:cNvPr id="25" name="Shape 23"/>
          <p:cNvSpPr/>
          <p:nvPr/>
        </p:nvSpPr>
        <p:spPr>
          <a:xfrm>
            <a:off x="1124712" y="3602736"/>
            <a:ext cx="1371600" cy="347472"/>
          </a:xfrm>
          <a:prstGeom prst="roundRect">
            <a:avLst>
              <a:gd name="adj" fmla="val 18519"/>
            </a:avLst>
          </a:prstGeom>
          <a:solidFill>
            <a:srgbClr val="0D9488">
              <a:alpha val="20000"/>
            </a:srgbClr>
          </a:solidFill>
          <a:ln w="12700">
            <a:solidFill>
              <a:srgbClr val="0D9488"/>
            </a:solidFill>
            <a:prstDash val="solid"/>
          </a:ln>
        </p:spPr>
      </p:sp>
      <p:sp>
        <p:nvSpPr>
          <p:cNvPr id="26" name="Text 24"/>
          <p:cNvSpPr/>
          <p:nvPr/>
        </p:nvSpPr>
        <p:spPr>
          <a:xfrm>
            <a:off x="1124712" y="3602736"/>
            <a:ext cx="1371600" cy="347472"/>
          </a:xfrm>
          <a:prstGeom prst="rect">
            <a:avLst/>
          </a:prstGeom>
          <a:noFill/>
          <a:ln/>
        </p:spPr>
        <p:txBody>
          <a:bodyPr wrap="square" lIns="0" tIns="0" rIns="0" bIns="0" rtlCol="0" anchor="ctr"/>
          <a:lstStyle/>
          <a:p>
            <a:pPr marL="0" indent="0" algn="ctr">
              <a:buNone/>
            </a:pPr>
            <a:r>
              <a:rPr lang="en-US" sz="900" dirty="0">
                <a:solidFill>
                  <a:srgbClr val="334155"/>
                </a:solidFill>
                <a:latin typeface="Courier New" pitchFamily="34" charset="0"/>
                <a:ea typeface="Courier New" pitchFamily="34" charset="-122"/>
                <a:cs typeface="Courier New" pitchFamily="34" charset="-120"/>
              </a:rPr>
              <a:t>K(x,y) = exp(−γ‖x−y‖²)</a:t>
            </a:r>
            <a:endParaRPr lang="en-US" sz="900" dirty="0"/>
          </a:p>
        </p:txBody>
      </p:sp>
      <p:sp>
        <p:nvSpPr>
          <p:cNvPr id="27" name="Text 25"/>
          <p:cNvSpPr/>
          <p:nvPr/>
        </p:nvSpPr>
        <p:spPr>
          <a:xfrm>
            <a:off x="1124712" y="3877056"/>
            <a:ext cx="3200400" cy="256032"/>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Best for: Complex non-linear data</a:t>
            </a:r>
            <a:endParaRPr lang="en-US" sz="1100" dirty="0"/>
          </a:p>
        </p:txBody>
      </p:sp>
      <p:sp>
        <p:nvSpPr>
          <p:cNvPr id="28" name="Text 26"/>
          <p:cNvSpPr/>
          <p:nvPr/>
        </p:nvSpPr>
        <p:spPr>
          <a:xfrm>
            <a:off x="457200" y="4224528"/>
            <a:ext cx="3886200" cy="594360"/>
          </a:xfrm>
          <a:prstGeom prst="rect">
            <a:avLst/>
          </a:prstGeom>
          <a:noFill/>
          <a:ln/>
        </p:spPr>
        <p:txBody>
          <a:bodyPr wrap="square" lIns="25400" tIns="25400" rIns="25400" bIns="25400" rtlCol="0" anchor="ctr"/>
          <a:lstStyle/>
          <a:p>
            <a:pPr marL="0" indent="0">
              <a:buNone/>
            </a:pPr>
            <a:r>
              <a:rPr lang="en-US" sz="1100" i="1" dirty="0">
                <a:solidFill>
                  <a:srgbClr val="334155"/>
                </a:solidFill>
                <a:latin typeface="Calibri" pitchFamily="34" charset="0"/>
                <a:ea typeface="Calibri" pitchFamily="34" charset="-122"/>
                <a:cs typeface="Calibri" pitchFamily="34" charset="-120"/>
              </a:rPr>
              <a:t>Like a flexible rubber sheet that stretches and bends to separate any shape of data — very powerful!</a:t>
            </a:r>
            <a:endParaRPr lang="en-US" sz="1100" dirty="0"/>
          </a:p>
        </p:txBody>
      </p:sp>
      <p:sp>
        <p:nvSpPr>
          <p:cNvPr id="29" name="Shape 27"/>
          <p:cNvSpPr/>
          <p:nvPr/>
        </p:nvSpPr>
        <p:spPr>
          <a:xfrm>
            <a:off x="4690872" y="3200400"/>
            <a:ext cx="4114800" cy="1691640"/>
          </a:xfrm>
          <a:prstGeom prst="roundRect">
            <a:avLst>
              <a:gd name="adj" fmla="val 5405"/>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30" name="Shape 28"/>
          <p:cNvSpPr/>
          <p:nvPr/>
        </p:nvSpPr>
        <p:spPr>
          <a:xfrm>
            <a:off x="4800600" y="3310128"/>
            <a:ext cx="566928" cy="566928"/>
          </a:xfrm>
          <a:prstGeom prst="ellipse">
            <a:avLst/>
          </a:prstGeom>
          <a:solidFill>
            <a:srgbClr val="8B5CF6"/>
          </a:solidFill>
          <a:ln w="12700">
            <a:solidFill>
              <a:srgbClr val="8B5CF6"/>
            </a:solidFill>
            <a:prstDash val="solid"/>
          </a:ln>
        </p:spPr>
      </p:sp>
      <p:sp>
        <p:nvSpPr>
          <p:cNvPr id="31" name="Text 29"/>
          <p:cNvSpPr/>
          <p:nvPr/>
        </p:nvSpPr>
        <p:spPr>
          <a:xfrm>
            <a:off x="4800600" y="3310128"/>
            <a:ext cx="566928" cy="566928"/>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2" name="Text 30"/>
          <p:cNvSpPr/>
          <p:nvPr/>
        </p:nvSpPr>
        <p:spPr>
          <a:xfrm>
            <a:off x="5468112" y="3291840"/>
            <a:ext cx="2560320" cy="347472"/>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Sigmoid Kernel</a:t>
            </a:r>
            <a:endParaRPr lang="en-US" sz="1300" dirty="0"/>
          </a:p>
        </p:txBody>
      </p:sp>
      <p:sp>
        <p:nvSpPr>
          <p:cNvPr id="33" name="Shape 31"/>
          <p:cNvSpPr/>
          <p:nvPr/>
        </p:nvSpPr>
        <p:spPr>
          <a:xfrm>
            <a:off x="5468112" y="3602736"/>
            <a:ext cx="1748028" cy="256032"/>
          </a:xfrm>
          <a:prstGeom prst="roundRect">
            <a:avLst>
              <a:gd name="adj" fmla="val 18519"/>
            </a:avLst>
          </a:prstGeom>
          <a:solidFill>
            <a:srgbClr val="8B5CF6">
              <a:alpha val="20000"/>
            </a:srgbClr>
          </a:solidFill>
          <a:ln w="12700">
            <a:solidFill>
              <a:srgbClr val="8B5CF6"/>
            </a:solidFill>
            <a:prstDash val="solid"/>
          </a:ln>
        </p:spPr>
      </p:sp>
      <p:sp>
        <p:nvSpPr>
          <p:cNvPr id="34" name="Text 32"/>
          <p:cNvSpPr/>
          <p:nvPr/>
        </p:nvSpPr>
        <p:spPr>
          <a:xfrm>
            <a:off x="5468112" y="3602736"/>
            <a:ext cx="1748028" cy="246888"/>
          </a:xfrm>
          <a:prstGeom prst="rect">
            <a:avLst/>
          </a:prstGeom>
          <a:noFill/>
          <a:ln/>
        </p:spPr>
        <p:txBody>
          <a:bodyPr wrap="square" lIns="0" tIns="0" rIns="0" bIns="0" rtlCol="0" anchor="ctr"/>
          <a:lstStyle/>
          <a:p>
            <a:pPr marL="0" indent="0" algn="ctr">
              <a:buNone/>
            </a:pPr>
            <a:r>
              <a:rPr lang="en-US" sz="900" dirty="0">
                <a:solidFill>
                  <a:srgbClr val="334155"/>
                </a:solidFill>
                <a:latin typeface="Courier New" pitchFamily="34" charset="0"/>
                <a:ea typeface="Courier New" pitchFamily="34" charset="-122"/>
                <a:cs typeface="Courier New" pitchFamily="34" charset="-120"/>
              </a:rPr>
              <a:t>K(x,y) = tanh(αxᵀy + c)</a:t>
            </a:r>
            <a:endParaRPr lang="en-US" sz="900" dirty="0"/>
          </a:p>
        </p:txBody>
      </p:sp>
      <p:sp>
        <p:nvSpPr>
          <p:cNvPr id="35" name="Text 33"/>
          <p:cNvSpPr/>
          <p:nvPr/>
        </p:nvSpPr>
        <p:spPr>
          <a:xfrm>
            <a:off x="5468112" y="3877056"/>
            <a:ext cx="3200400" cy="256032"/>
          </a:xfrm>
          <a:prstGeom prst="rect">
            <a:avLst/>
          </a:prstGeom>
          <a:noFill/>
          <a:ln/>
        </p:spPr>
        <p:txBody>
          <a:bodyPr wrap="square" lIns="0" tIns="0" rIns="0" bIns="0" rtlCol="0" anchor="ctr"/>
          <a:lstStyle/>
          <a:p>
            <a:pPr marL="0" indent="0">
              <a:buNone/>
            </a:pPr>
            <a:r>
              <a:rPr lang="en-US" sz="1100" b="1" dirty="0">
                <a:solidFill>
                  <a:srgbClr val="8B5CF6"/>
                </a:solidFill>
                <a:latin typeface="Calibri" pitchFamily="34" charset="0"/>
                <a:ea typeface="Calibri" pitchFamily="34" charset="-122"/>
                <a:cs typeface="Calibri" pitchFamily="34" charset="-120"/>
              </a:rPr>
              <a:t>Best for: Neural network-style problems</a:t>
            </a:r>
            <a:endParaRPr lang="en-US" sz="1100" dirty="0"/>
          </a:p>
        </p:txBody>
      </p:sp>
      <p:sp>
        <p:nvSpPr>
          <p:cNvPr id="36" name="Text 34"/>
          <p:cNvSpPr/>
          <p:nvPr/>
        </p:nvSpPr>
        <p:spPr>
          <a:xfrm>
            <a:off x="4800600" y="4224528"/>
            <a:ext cx="3886200" cy="594360"/>
          </a:xfrm>
          <a:prstGeom prst="rect">
            <a:avLst/>
          </a:prstGeom>
          <a:noFill/>
          <a:ln/>
        </p:spPr>
        <p:txBody>
          <a:bodyPr wrap="square" lIns="25400" tIns="25400" rIns="25400" bIns="25400" rtlCol="0" anchor="ctr"/>
          <a:lstStyle/>
          <a:p>
            <a:pPr marL="0" indent="0">
              <a:buNone/>
            </a:pPr>
            <a:r>
              <a:rPr lang="en-US" sz="1100" i="1" dirty="0">
                <a:solidFill>
                  <a:srgbClr val="334155"/>
                </a:solidFill>
                <a:latin typeface="Calibri" pitchFamily="34" charset="0"/>
                <a:ea typeface="Calibri" pitchFamily="34" charset="-122"/>
                <a:cs typeface="Calibri" pitchFamily="34" charset="-120"/>
              </a:rPr>
              <a:t>Its S-shaped curve mimics biological neuron activation — effective for certain non-linear problems.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3E"/>
          </a:solidFill>
          <a:ln w="12700">
            <a:solidFill>
              <a:srgbClr val="0D1B3E"/>
            </a:solidFill>
            <a:prstDash val="solid"/>
          </a:ln>
        </p:spPr>
        <p:txBody>
          <a:bodyPr/>
          <a:lstStyle/>
          <a:p>
            <a:endParaRPr lang="en-KE" dirty="0"/>
          </a:p>
        </p:txBody>
      </p:sp>
      <p:sp>
        <p:nvSpPr>
          <p:cNvPr id="3" name="Text 1"/>
          <p:cNvSpPr/>
          <p:nvPr/>
        </p:nvSpPr>
        <p:spPr>
          <a:xfrm>
            <a:off x="457200" y="0"/>
            <a:ext cx="8229600" cy="77724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07  |  Linear vs RBF Kernel</a:t>
            </a:r>
            <a:endParaRPr lang="en-US" sz="2200" dirty="0"/>
          </a:p>
        </p:txBody>
      </p:sp>
      <p:sp>
        <p:nvSpPr>
          <p:cNvPr id="4" name="Text 2"/>
          <p:cNvSpPr/>
          <p:nvPr/>
        </p:nvSpPr>
        <p:spPr>
          <a:xfrm>
            <a:off x="457200" y="868680"/>
            <a:ext cx="8229600" cy="347472"/>
          </a:xfrm>
          <a:prstGeom prst="rect">
            <a:avLst/>
          </a:prstGeom>
          <a:noFill/>
          <a:ln/>
        </p:spPr>
        <p:txBody>
          <a:bodyPr wrap="square" lIns="0" tIns="0" rIns="0" bIns="0" rtlCol="0" anchor="ctr"/>
          <a:lstStyle/>
          <a:p>
            <a:pPr marL="0" indent="0">
              <a:buNone/>
            </a:pPr>
            <a:r>
              <a:rPr lang="en-US" sz="1300" i="1" dirty="0">
                <a:solidFill>
                  <a:srgbClr val="334155"/>
                </a:solidFill>
                <a:latin typeface="Calibri" pitchFamily="34" charset="0"/>
                <a:ea typeface="Calibri" pitchFamily="34" charset="-122"/>
                <a:cs typeface="Calibri" pitchFamily="34" charset="-120"/>
              </a:rPr>
              <a:t>Choosing the right kernel strategy is critical. Here's a direct comparison:</a:t>
            </a:r>
            <a:endParaRPr lang="en-US" sz="1300" dirty="0"/>
          </a:p>
        </p:txBody>
      </p:sp>
      <p:sp>
        <p:nvSpPr>
          <p:cNvPr id="5" name="Shape 3"/>
          <p:cNvSpPr/>
          <p:nvPr/>
        </p:nvSpPr>
        <p:spPr>
          <a:xfrm>
            <a:off x="347472" y="1298448"/>
            <a:ext cx="4133088" cy="3520440"/>
          </a:xfrm>
          <a:prstGeom prst="roundRect">
            <a:avLst>
              <a:gd name="adj" fmla="val 3117"/>
            </a:avLst>
          </a:prstGeom>
          <a:solidFill>
            <a:srgbClr val="FFFFFF"/>
          </a:solidFill>
          <a:ln w="25400">
            <a:solidFill>
              <a:srgbClr val="38BDF8"/>
            </a:solidFill>
            <a:prstDash val="solid"/>
          </a:ln>
          <a:effectLst>
            <a:outerShdw blurRad="101600" dist="38100" dir="2700000" algn="bl" rotWithShape="0">
              <a:srgbClr val="000000">
                <a:alpha val="10000"/>
              </a:srgbClr>
            </a:outerShdw>
          </a:effectLst>
        </p:spPr>
      </p:sp>
      <p:sp>
        <p:nvSpPr>
          <p:cNvPr id="6" name="Shape 4"/>
          <p:cNvSpPr/>
          <p:nvPr/>
        </p:nvSpPr>
        <p:spPr>
          <a:xfrm>
            <a:off x="347472" y="1298448"/>
            <a:ext cx="4133088" cy="548640"/>
          </a:xfrm>
          <a:prstGeom prst="roundRect">
            <a:avLst>
              <a:gd name="adj" fmla="val 20000"/>
            </a:avLst>
          </a:prstGeom>
          <a:solidFill>
            <a:srgbClr val="38BDF8"/>
          </a:solidFill>
          <a:ln w="12700">
            <a:solidFill>
              <a:srgbClr val="38BDF8"/>
            </a:solidFill>
            <a:prstDash val="solid"/>
          </a:ln>
        </p:spPr>
      </p:sp>
      <p:sp>
        <p:nvSpPr>
          <p:cNvPr id="7" name="Text 5"/>
          <p:cNvSpPr/>
          <p:nvPr/>
        </p:nvSpPr>
        <p:spPr>
          <a:xfrm>
            <a:off x="411480" y="1298448"/>
            <a:ext cx="4005072"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  Linear Kernel</a:t>
            </a:r>
            <a:endParaRPr lang="en-US" sz="1600" dirty="0"/>
          </a:p>
        </p:txBody>
      </p:sp>
      <p:sp>
        <p:nvSpPr>
          <p:cNvPr id="8" name="Text 6"/>
          <p:cNvSpPr/>
          <p:nvPr/>
        </p:nvSpPr>
        <p:spPr>
          <a:xfrm>
            <a:off x="411480" y="1883664"/>
            <a:ext cx="4005072" cy="347472"/>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The Straight Fence</a:t>
            </a:r>
            <a:endParaRPr lang="en-US" sz="1200" dirty="0"/>
          </a:p>
        </p:txBody>
      </p:sp>
      <p:sp>
        <p:nvSpPr>
          <p:cNvPr id="9" name="Text 7"/>
          <p:cNvSpPr/>
          <p:nvPr/>
        </p:nvSpPr>
        <p:spPr>
          <a:xfrm>
            <a:off x="502920" y="2258568"/>
            <a:ext cx="3840480" cy="347472"/>
          </a:xfrm>
          <a:prstGeom prst="rect">
            <a:avLst/>
          </a:prstGeom>
          <a:noFill/>
          <a:ln/>
        </p:spPr>
        <p:txBody>
          <a:bodyPr wrap="square" lIns="25400" tIns="25400" rIns="25400" bIns="2540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  </a:t>
            </a:r>
            <a:r>
              <a:rPr lang="en-US" sz="1200" dirty="0">
                <a:solidFill>
                  <a:srgbClr val="334155"/>
                </a:solidFill>
                <a:latin typeface="Calibri" pitchFamily="34" charset="0"/>
                <a:ea typeface="Calibri" pitchFamily="34" charset="-122"/>
                <a:cs typeface="Calibri" pitchFamily="34" charset="-120"/>
              </a:rPr>
              <a:t>Data is clearly separable by a straight line</a:t>
            </a:r>
            <a:endParaRPr lang="en-US" sz="1200" dirty="0"/>
          </a:p>
        </p:txBody>
      </p:sp>
      <p:sp>
        <p:nvSpPr>
          <p:cNvPr id="10" name="Text 8"/>
          <p:cNvSpPr/>
          <p:nvPr/>
        </p:nvSpPr>
        <p:spPr>
          <a:xfrm>
            <a:off x="502920" y="2642616"/>
            <a:ext cx="3840480" cy="347472"/>
          </a:xfrm>
          <a:prstGeom prst="rect">
            <a:avLst/>
          </a:prstGeom>
          <a:noFill/>
          <a:ln/>
        </p:spPr>
        <p:txBody>
          <a:bodyPr wrap="square" lIns="25400" tIns="25400" rIns="25400" bIns="2540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  </a:t>
            </a:r>
            <a:r>
              <a:rPr lang="en-US" sz="1200" dirty="0">
                <a:solidFill>
                  <a:srgbClr val="334155"/>
                </a:solidFill>
                <a:latin typeface="Calibri" pitchFamily="34" charset="0"/>
                <a:ea typeface="Calibri" pitchFamily="34" charset="-122"/>
                <a:cs typeface="Calibri" pitchFamily="34" charset="-120"/>
              </a:rPr>
              <a:t>Many features, few data points</a:t>
            </a:r>
            <a:endParaRPr lang="en-US" sz="1200" dirty="0"/>
          </a:p>
        </p:txBody>
      </p:sp>
      <p:sp>
        <p:nvSpPr>
          <p:cNvPr id="11" name="Text 9"/>
          <p:cNvSpPr/>
          <p:nvPr/>
        </p:nvSpPr>
        <p:spPr>
          <a:xfrm>
            <a:off x="502920" y="3026664"/>
            <a:ext cx="3840480" cy="347472"/>
          </a:xfrm>
          <a:prstGeom prst="rect">
            <a:avLst/>
          </a:prstGeom>
          <a:noFill/>
          <a:ln/>
        </p:spPr>
        <p:txBody>
          <a:bodyPr wrap="square" lIns="25400" tIns="25400" rIns="25400" bIns="2540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  </a:t>
            </a:r>
            <a:r>
              <a:rPr lang="en-US" sz="1200" dirty="0">
                <a:solidFill>
                  <a:srgbClr val="334155"/>
                </a:solidFill>
                <a:latin typeface="Calibri" pitchFamily="34" charset="0"/>
                <a:ea typeface="Calibri" pitchFamily="34" charset="-122"/>
                <a:cs typeface="Calibri" pitchFamily="34" charset="-120"/>
              </a:rPr>
              <a:t>Text classification (e.g., spam detection)</a:t>
            </a:r>
            <a:endParaRPr lang="en-US" sz="1200" dirty="0"/>
          </a:p>
        </p:txBody>
      </p:sp>
      <p:sp>
        <p:nvSpPr>
          <p:cNvPr id="12" name="Text 10"/>
          <p:cNvSpPr/>
          <p:nvPr/>
        </p:nvSpPr>
        <p:spPr>
          <a:xfrm>
            <a:off x="502920" y="3410712"/>
            <a:ext cx="3840480" cy="347472"/>
          </a:xfrm>
          <a:prstGeom prst="rect">
            <a:avLst/>
          </a:prstGeom>
          <a:noFill/>
          <a:ln/>
        </p:spPr>
        <p:txBody>
          <a:bodyPr wrap="square" lIns="25400" tIns="25400" rIns="25400" bIns="2540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  </a:t>
            </a:r>
            <a:r>
              <a:rPr lang="en-US" sz="1200" dirty="0">
                <a:solidFill>
                  <a:srgbClr val="334155"/>
                </a:solidFill>
                <a:latin typeface="Calibri" pitchFamily="34" charset="0"/>
                <a:ea typeface="Calibri" pitchFamily="34" charset="-122"/>
                <a:cs typeface="Calibri" pitchFamily="34" charset="-120"/>
              </a:rPr>
              <a:t>Faster training — great baseline</a:t>
            </a:r>
            <a:endParaRPr lang="en-US" sz="1200" dirty="0"/>
          </a:p>
        </p:txBody>
      </p:sp>
      <p:sp>
        <p:nvSpPr>
          <p:cNvPr id="13" name="Shape 11"/>
          <p:cNvSpPr/>
          <p:nvPr/>
        </p:nvSpPr>
        <p:spPr>
          <a:xfrm>
            <a:off x="502920" y="4315968"/>
            <a:ext cx="3822192" cy="384048"/>
          </a:xfrm>
          <a:prstGeom prst="roundRect">
            <a:avLst>
              <a:gd name="adj" fmla="val 16667"/>
            </a:avLst>
          </a:prstGeom>
          <a:solidFill>
            <a:srgbClr val="CCFBF1"/>
          </a:solidFill>
          <a:ln w="12700">
            <a:solidFill>
              <a:srgbClr val="0D9488"/>
            </a:solidFill>
            <a:prstDash val="solid"/>
          </a:ln>
        </p:spPr>
      </p:sp>
      <p:sp>
        <p:nvSpPr>
          <p:cNvPr id="14" name="Text 12"/>
          <p:cNvSpPr/>
          <p:nvPr/>
        </p:nvSpPr>
        <p:spPr>
          <a:xfrm>
            <a:off x="502920" y="4315968"/>
            <a:ext cx="3822192" cy="384048"/>
          </a:xfrm>
          <a:prstGeom prst="rect">
            <a:avLst/>
          </a:prstGeom>
          <a:noFill/>
          <a:ln/>
        </p:spPr>
        <p:txBody>
          <a:bodyPr wrap="square" lIns="0" tIns="0" rIns="0" bIns="0" rtlCol="0" anchor="ctr"/>
          <a:lstStyle/>
          <a:p>
            <a:pPr marL="0" indent="0" algn="ctr">
              <a:buNone/>
            </a:pPr>
            <a:r>
              <a:rPr lang="en-US" sz="1200" b="1" dirty="0">
                <a:solidFill>
                  <a:srgbClr val="0D9488"/>
                </a:solidFill>
                <a:latin typeface="Calibri" pitchFamily="34" charset="0"/>
                <a:ea typeface="Calibri" pitchFamily="34" charset="-122"/>
                <a:cs typeface="Calibri" pitchFamily="34" charset="-120"/>
              </a:rPr>
              <a:t>BASELINE — Test This First</a:t>
            </a:r>
            <a:endParaRPr lang="en-US" sz="1200" dirty="0"/>
          </a:p>
        </p:txBody>
      </p:sp>
      <p:sp>
        <p:nvSpPr>
          <p:cNvPr id="15" name="Shape 13"/>
          <p:cNvSpPr/>
          <p:nvPr/>
        </p:nvSpPr>
        <p:spPr>
          <a:xfrm>
            <a:off x="4224528" y="2834640"/>
            <a:ext cx="694944" cy="694944"/>
          </a:xfrm>
          <a:prstGeom prst="ellipse">
            <a:avLst/>
          </a:prstGeom>
          <a:solidFill>
            <a:srgbClr val="0D1B3E"/>
          </a:solidFill>
          <a:ln w="12700">
            <a:solidFill>
              <a:srgbClr val="0D1B3E"/>
            </a:solidFill>
            <a:prstDash val="solid"/>
          </a:ln>
        </p:spPr>
      </p:sp>
      <p:sp>
        <p:nvSpPr>
          <p:cNvPr id="16" name="Text 14"/>
          <p:cNvSpPr/>
          <p:nvPr/>
        </p:nvSpPr>
        <p:spPr>
          <a:xfrm>
            <a:off x="4224528" y="2834640"/>
            <a:ext cx="694944" cy="69494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VS</a:t>
            </a:r>
            <a:endParaRPr lang="en-US" sz="1200" dirty="0"/>
          </a:p>
        </p:txBody>
      </p:sp>
      <p:sp>
        <p:nvSpPr>
          <p:cNvPr id="17" name="Shape 15"/>
          <p:cNvSpPr/>
          <p:nvPr/>
        </p:nvSpPr>
        <p:spPr>
          <a:xfrm>
            <a:off x="4663440" y="1298448"/>
            <a:ext cx="4133088" cy="3520440"/>
          </a:xfrm>
          <a:prstGeom prst="roundRect">
            <a:avLst>
              <a:gd name="adj" fmla="val 3117"/>
            </a:avLst>
          </a:prstGeom>
          <a:solidFill>
            <a:srgbClr val="FFFFFF"/>
          </a:solidFill>
          <a:ln w="25400">
            <a:solidFill>
              <a:srgbClr val="0D9488"/>
            </a:solidFill>
            <a:prstDash val="solid"/>
          </a:ln>
          <a:effectLst>
            <a:outerShdw blurRad="101600" dist="38100" dir="2700000" algn="bl" rotWithShape="0">
              <a:srgbClr val="000000">
                <a:alpha val="10000"/>
              </a:srgbClr>
            </a:outerShdw>
          </a:effectLst>
        </p:spPr>
      </p:sp>
      <p:sp>
        <p:nvSpPr>
          <p:cNvPr id="18" name="Shape 16"/>
          <p:cNvSpPr/>
          <p:nvPr/>
        </p:nvSpPr>
        <p:spPr>
          <a:xfrm>
            <a:off x="4663440" y="1298448"/>
            <a:ext cx="4133088" cy="548640"/>
          </a:xfrm>
          <a:prstGeom prst="roundRect">
            <a:avLst>
              <a:gd name="adj" fmla="val 20000"/>
            </a:avLst>
          </a:prstGeom>
          <a:solidFill>
            <a:srgbClr val="0D9488"/>
          </a:solidFill>
          <a:ln w="12700">
            <a:solidFill>
              <a:srgbClr val="0D9488"/>
            </a:solidFill>
            <a:prstDash val="solid"/>
          </a:ln>
        </p:spPr>
      </p:sp>
      <p:sp>
        <p:nvSpPr>
          <p:cNvPr id="19" name="Text 17"/>
          <p:cNvSpPr/>
          <p:nvPr/>
        </p:nvSpPr>
        <p:spPr>
          <a:xfrm>
            <a:off x="4727448" y="1298448"/>
            <a:ext cx="4005072" cy="54864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  RBF Kernel</a:t>
            </a:r>
            <a:endParaRPr lang="en-US" sz="1600" dirty="0"/>
          </a:p>
        </p:txBody>
      </p:sp>
      <p:sp>
        <p:nvSpPr>
          <p:cNvPr id="20" name="Text 18"/>
          <p:cNvSpPr/>
          <p:nvPr/>
        </p:nvSpPr>
        <p:spPr>
          <a:xfrm>
            <a:off x="4727448" y="1883664"/>
            <a:ext cx="4005072" cy="347472"/>
          </a:xfrm>
          <a:prstGeom prst="rect">
            <a:avLst/>
          </a:prstGeom>
          <a:noFill/>
          <a:ln/>
        </p:spPr>
        <p:txBody>
          <a:bodyPr wrap="square" lIns="0" tIns="0" rIns="0" bIns="0" rtlCol="0" anchor="ctr"/>
          <a:lstStyle/>
          <a:p>
            <a:pPr marL="0" indent="0" algn="ctr">
              <a:buNone/>
            </a:pPr>
            <a:r>
              <a:rPr lang="en-US" sz="1200" i="1" dirty="0">
                <a:solidFill>
                  <a:srgbClr val="64748B"/>
                </a:solidFill>
                <a:latin typeface="Calibri" pitchFamily="34" charset="0"/>
                <a:ea typeface="Calibri" pitchFamily="34" charset="-122"/>
                <a:cs typeface="Calibri" pitchFamily="34" charset="-120"/>
              </a:rPr>
              <a:t>The Magic Fence — Curves &amp; Bends</a:t>
            </a:r>
            <a:endParaRPr lang="en-US" sz="1200" dirty="0"/>
          </a:p>
        </p:txBody>
      </p:sp>
      <p:sp>
        <p:nvSpPr>
          <p:cNvPr id="21" name="Text 19"/>
          <p:cNvSpPr/>
          <p:nvPr/>
        </p:nvSpPr>
        <p:spPr>
          <a:xfrm>
            <a:off x="4818888" y="2258568"/>
            <a:ext cx="3840480" cy="347472"/>
          </a:xfrm>
          <a:prstGeom prst="rect">
            <a:avLst/>
          </a:prstGeom>
          <a:noFill/>
          <a:ln/>
        </p:spPr>
        <p:txBody>
          <a:bodyPr wrap="square" lIns="25400" tIns="25400" rIns="25400" bIns="2540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  </a:t>
            </a:r>
            <a:r>
              <a:rPr lang="en-US" sz="1200" dirty="0">
                <a:solidFill>
                  <a:srgbClr val="334155"/>
                </a:solidFill>
                <a:latin typeface="Calibri" pitchFamily="34" charset="0"/>
                <a:ea typeface="Calibri" pitchFamily="34" charset="-122"/>
                <a:cs typeface="Calibri" pitchFamily="34" charset="-120"/>
              </a:rPr>
              <a:t>Data has complex, non-linear patterns</a:t>
            </a:r>
            <a:endParaRPr lang="en-US" sz="1200" dirty="0"/>
          </a:p>
        </p:txBody>
      </p:sp>
      <p:sp>
        <p:nvSpPr>
          <p:cNvPr id="22" name="Text 20"/>
          <p:cNvSpPr/>
          <p:nvPr/>
        </p:nvSpPr>
        <p:spPr>
          <a:xfrm>
            <a:off x="4818888" y="2642616"/>
            <a:ext cx="3840480" cy="347472"/>
          </a:xfrm>
          <a:prstGeom prst="rect">
            <a:avLst/>
          </a:prstGeom>
          <a:noFill/>
          <a:ln/>
        </p:spPr>
        <p:txBody>
          <a:bodyPr wrap="square" lIns="25400" tIns="25400" rIns="25400" bIns="2540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  </a:t>
            </a:r>
            <a:r>
              <a:rPr lang="en-US" sz="1200" dirty="0">
                <a:solidFill>
                  <a:srgbClr val="334155"/>
                </a:solidFill>
                <a:latin typeface="Calibri" pitchFamily="34" charset="0"/>
                <a:ea typeface="Calibri" pitchFamily="34" charset="-122"/>
                <a:cs typeface="Calibri" pitchFamily="34" charset="-120"/>
              </a:rPr>
              <a:t>Customer churn, image recognition</a:t>
            </a:r>
            <a:endParaRPr lang="en-US" sz="1200" dirty="0"/>
          </a:p>
        </p:txBody>
      </p:sp>
      <p:sp>
        <p:nvSpPr>
          <p:cNvPr id="23" name="Text 21"/>
          <p:cNvSpPr/>
          <p:nvPr/>
        </p:nvSpPr>
        <p:spPr>
          <a:xfrm>
            <a:off x="4818888" y="3026664"/>
            <a:ext cx="3840480" cy="347472"/>
          </a:xfrm>
          <a:prstGeom prst="rect">
            <a:avLst/>
          </a:prstGeom>
          <a:noFill/>
          <a:ln/>
        </p:spPr>
        <p:txBody>
          <a:bodyPr wrap="square" lIns="25400" tIns="25400" rIns="25400" bIns="2540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  </a:t>
            </a:r>
            <a:r>
              <a:rPr lang="en-US" sz="1200" dirty="0">
                <a:solidFill>
                  <a:srgbClr val="334155"/>
                </a:solidFill>
                <a:latin typeface="Calibri" pitchFamily="34" charset="0"/>
                <a:ea typeface="Calibri" pitchFamily="34" charset="-122"/>
                <a:cs typeface="Calibri" pitchFamily="34" charset="-120"/>
              </a:rPr>
              <a:t>When linear kernel under-performs</a:t>
            </a:r>
            <a:endParaRPr lang="en-US" sz="1200" dirty="0"/>
          </a:p>
        </p:txBody>
      </p:sp>
      <p:sp>
        <p:nvSpPr>
          <p:cNvPr id="24" name="Text 22"/>
          <p:cNvSpPr/>
          <p:nvPr/>
        </p:nvSpPr>
        <p:spPr>
          <a:xfrm>
            <a:off x="4818888" y="3410712"/>
            <a:ext cx="3840480" cy="347472"/>
          </a:xfrm>
          <a:prstGeom prst="rect">
            <a:avLst/>
          </a:prstGeom>
          <a:noFill/>
          <a:ln/>
        </p:spPr>
        <p:txBody>
          <a:bodyPr wrap="square" lIns="25400" tIns="25400" rIns="25400" bIns="25400"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  </a:t>
            </a:r>
            <a:r>
              <a:rPr lang="en-US" sz="1200" dirty="0">
                <a:solidFill>
                  <a:srgbClr val="334155"/>
                </a:solidFill>
                <a:latin typeface="Calibri" pitchFamily="34" charset="0"/>
                <a:ea typeface="Calibri" pitchFamily="34" charset="-122"/>
                <a:cs typeface="Calibri" pitchFamily="34" charset="-120"/>
              </a:rPr>
              <a:t>Most real-world datasets — very versatile</a:t>
            </a:r>
            <a:endParaRPr lang="en-US" sz="1200" dirty="0"/>
          </a:p>
        </p:txBody>
      </p:sp>
      <p:sp>
        <p:nvSpPr>
          <p:cNvPr id="25" name="Shape 23"/>
          <p:cNvSpPr/>
          <p:nvPr/>
        </p:nvSpPr>
        <p:spPr>
          <a:xfrm>
            <a:off x="4818888" y="4315968"/>
            <a:ext cx="3822192" cy="384048"/>
          </a:xfrm>
          <a:prstGeom prst="roundRect">
            <a:avLst>
              <a:gd name="adj" fmla="val 16667"/>
            </a:avLst>
          </a:prstGeom>
          <a:solidFill>
            <a:srgbClr val="0D9488"/>
          </a:solidFill>
          <a:ln w="12700">
            <a:solidFill>
              <a:srgbClr val="0D9488"/>
            </a:solidFill>
            <a:prstDash val="solid"/>
          </a:ln>
        </p:spPr>
      </p:sp>
      <p:sp>
        <p:nvSpPr>
          <p:cNvPr id="26" name="Text 24"/>
          <p:cNvSpPr/>
          <p:nvPr/>
        </p:nvSpPr>
        <p:spPr>
          <a:xfrm>
            <a:off x="4818888" y="4315968"/>
            <a:ext cx="3822192"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  WINNER — Confirmed by Cross-Validation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3E"/>
          </a:solidFill>
          <a:ln w="12700">
            <a:solidFill>
              <a:srgbClr val="0D1B3E"/>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08  |  RBF Kernel — Key Parameters: C &amp; Gamma</a:t>
            </a:r>
            <a:endParaRPr lang="en-US" sz="2000" dirty="0"/>
          </a:p>
        </p:txBody>
      </p:sp>
      <p:sp>
        <p:nvSpPr>
          <p:cNvPr id="4" name="Text 2"/>
          <p:cNvSpPr/>
          <p:nvPr/>
        </p:nvSpPr>
        <p:spPr>
          <a:xfrm>
            <a:off x="457200" y="850392"/>
            <a:ext cx="8229600" cy="365760"/>
          </a:xfrm>
          <a:prstGeom prst="rect">
            <a:avLst/>
          </a:prstGeom>
          <a:noFill/>
          <a:ln/>
        </p:spPr>
        <p:txBody>
          <a:bodyPr wrap="square" lIns="0" tIns="0" rIns="0" bIns="0" rtlCol="0" anchor="ctr"/>
          <a:lstStyle/>
          <a:p>
            <a:pPr marL="0" indent="0">
              <a:buNone/>
            </a:pPr>
            <a:r>
              <a:rPr lang="en-US" sz="1300" i="1" dirty="0">
                <a:solidFill>
                  <a:srgbClr val="334155"/>
                </a:solidFill>
                <a:latin typeface="Calibri" pitchFamily="34" charset="0"/>
                <a:ea typeface="Calibri" pitchFamily="34" charset="-122"/>
                <a:cs typeface="Calibri" pitchFamily="34" charset="-120"/>
              </a:rPr>
              <a:t>Two dials control how the RBF kernel behaves. Getting them right is essential for great results.</a:t>
            </a:r>
            <a:endParaRPr lang="en-US" sz="1300" dirty="0"/>
          </a:p>
        </p:txBody>
      </p:sp>
      <p:sp>
        <p:nvSpPr>
          <p:cNvPr id="5" name="Shape 3"/>
          <p:cNvSpPr/>
          <p:nvPr/>
        </p:nvSpPr>
        <p:spPr>
          <a:xfrm>
            <a:off x="347472" y="1280160"/>
            <a:ext cx="4133088" cy="3337560"/>
          </a:xfrm>
          <a:prstGeom prst="roundRect">
            <a:avLst>
              <a:gd name="adj" fmla="val 3288"/>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6" name="Shape 4"/>
          <p:cNvSpPr/>
          <p:nvPr/>
        </p:nvSpPr>
        <p:spPr>
          <a:xfrm>
            <a:off x="347472" y="1280160"/>
            <a:ext cx="4133088" cy="548640"/>
          </a:xfrm>
          <a:prstGeom prst="roundRect">
            <a:avLst>
              <a:gd name="adj" fmla="val 20000"/>
            </a:avLst>
          </a:prstGeom>
          <a:solidFill>
            <a:srgbClr val="0D9488"/>
          </a:solidFill>
          <a:ln w="12700">
            <a:solidFill>
              <a:srgbClr val="0D9488"/>
            </a:solidFill>
            <a:prstDash val="solid"/>
          </a:ln>
        </p:spPr>
      </p:sp>
      <p:sp>
        <p:nvSpPr>
          <p:cNvPr id="7" name="Text 5"/>
          <p:cNvSpPr/>
          <p:nvPr/>
        </p:nvSpPr>
        <p:spPr>
          <a:xfrm>
            <a:off x="411480" y="1280160"/>
            <a:ext cx="4005072"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C — Regularization Parameter</a:t>
            </a:r>
            <a:endParaRPr lang="en-US" sz="1400" dirty="0"/>
          </a:p>
        </p:txBody>
      </p:sp>
      <p:sp>
        <p:nvSpPr>
          <p:cNvPr id="8" name="Text 6"/>
          <p:cNvSpPr/>
          <p:nvPr/>
        </p:nvSpPr>
        <p:spPr>
          <a:xfrm>
            <a:off x="457200" y="1883664"/>
            <a:ext cx="3931920" cy="457200"/>
          </a:xfrm>
          <a:prstGeom prst="rect">
            <a:avLst/>
          </a:prstGeom>
          <a:noFill/>
          <a:ln/>
        </p:spPr>
        <p:txBody>
          <a:bodyPr wrap="square" lIns="50800" tIns="50800" rIns="50800" bIns="5080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Controls how strictly the SVM tries to classify every point correctly.</a:t>
            </a:r>
            <a:endParaRPr lang="en-US" sz="1200" dirty="0"/>
          </a:p>
        </p:txBody>
      </p:sp>
      <p:sp>
        <p:nvSpPr>
          <p:cNvPr id="9" name="Shape 7"/>
          <p:cNvSpPr/>
          <p:nvPr/>
        </p:nvSpPr>
        <p:spPr>
          <a:xfrm>
            <a:off x="475488" y="2395728"/>
            <a:ext cx="3749040" cy="713232"/>
          </a:xfrm>
          <a:prstGeom prst="roundRect">
            <a:avLst>
              <a:gd name="adj" fmla="val 10256"/>
            </a:avLst>
          </a:prstGeom>
          <a:solidFill>
            <a:srgbClr val="F43F5E">
              <a:alpha val="12000"/>
            </a:srgbClr>
          </a:solidFill>
          <a:ln w="12700">
            <a:solidFill>
              <a:srgbClr val="F43F5E"/>
            </a:solidFill>
            <a:prstDash val="solid"/>
          </a:ln>
        </p:spPr>
      </p:sp>
      <p:sp>
        <p:nvSpPr>
          <p:cNvPr id="10" name="Text 8"/>
          <p:cNvSpPr/>
          <p:nvPr/>
        </p:nvSpPr>
        <p:spPr>
          <a:xfrm>
            <a:off x="548640" y="2395728"/>
            <a:ext cx="3611880" cy="713232"/>
          </a:xfrm>
          <a:prstGeom prst="rect">
            <a:avLst/>
          </a:prstGeom>
          <a:noFill/>
          <a:ln/>
        </p:spPr>
        <p:txBody>
          <a:bodyPr wrap="square" lIns="63500" tIns="63500" rIns="63500" bIns="6350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High C →  Strict fence — classifies every point. Risk of OVERFITTING to training data!</a:t>
            </a:r>
            <a:endParaRPr lang="en-US" sz="1200" dirty="0"/>
          </a:p>
        </p:txBody>
      </p:sp>
      <p:sp>
        <p:nvSpPr>
          <p:cNvPr id="11" name="Shape 9"/>
          <p:cNvSpPr/>
          <p:nvPr/>
        </p:nvSpPr>
        <p:spPr>
          <a:xfrm>
            <a:off x="475488" y="3200400"/>
            <a:ext cx="3749040" cy="713232"/>
          </a:xfrm>
          <a:prstGeom prst="roundRect">
            <a:avLst>
              <a:gd name="adj" fmla="val 10256"/>
            </a:avLst>
          </a:prstGeom>
          <a:solidFill>
            <a:srgbClr val="CCFBF1"/>
          </a:solidFill>
          <a:ln w="12700">
            <a:solidFill>
              <a:srgbClr val="0D9488"/>
            </a:solidFill>
            <a:prstDash val="solid"/>
          </a:ln>
        </p:spPr>
      </p:sp>
      <p:sp>
        <p:nvSpPr>
          <p:cNvPr id="12" name="Text 10"/>
          <p:cNvSpPr/>
          <p:nvPr/>
        </p:nvSpPr>
        <p:spPr>
          <a:xfrm>
            <a:off x="548640" y="3200400"/>
            <a:ext cx="3611880" cy="713232"/>
          </a:xfrm>
          <a:prstGeom prst="rect">
            <a:avLst/>
          </a:prstGeom>
          <a:noFill/>
          <a:ln/>
        </p:spPr>
        <p:txBody>
          <a:bodyPr wrap="square" lIns="63500" tIns="63500" rIns="63500" bIns="6350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Low C →  Relaxed fence — allows some errors for a wider, more general margin. Better generalization!</a:t>
            </a:r>
            <a:endParaRPr lang="en-US" sz="1200" dirty="0"/>
          </a:p>
        </p:txBody>
      </p:sp>
      <p:sp>
        <p:nvSpPr>
          <p:cNvPr id="13" name="Text 11"/>
          <p:cNvSpPr/>
          <p:nvPr/>
        </p:nvSpPr>
        <p:spPr>
          <a:xfrm>
            <a:off x="475488" y="4005072"/>
            <a:ext cx="3749040" cy="530352"/>
          </a:xfrm>
          <a:prstGeom prst="rect">
            <a:avLst/>
          </a:prstGeom>
          <a:noFill/>
          <a:ln/>
        </p:spPr>
        <p:txBody>
          <a:bodyPr wrap="square" lIns="38100" tIns="38100" rIns="38100" bIns="3810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 Analogy: High C = memorising every pizza order exactly. Low C = learning the general menu.</a:t>
            </a:r>
            <a:endParaRPr lang="en-US" sz="1100" dirty="0"/>
          </a:p>
        </p:txBody>
      </p:sp>
      <p:sp>
        <p:nvSpPr>
          <p:cNvPr id="14" name="Shape 12"/>
          <p:cNvSpPr/>
          <p:nvPr/>
        </p:nvSpPr>
        <p:spPr>
          <a:xfrm>
            <a:off x="4663440" y="1280160"/>
            <a:ext cx="4133088" cy="3337560"/>
          </a:xfrm>
          <a:prstGeom prst="roundRect">
            <a:avLst>
              <a:gd name="adj" fmla="val 3288"/>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15" name="Shape 13"/>
          <p:cNvSpPr/>
          <p:nvPr/>
        </p:nvSpPr>
        <p:spPr>
          <a:xfrm>
            <a:off x="4663440" y="1280160"/>
            <a:ext cx="4133088" cy="548640"/>
          </a:xfrm>
          <a:prstGeom prst="roundRect">
            <a:avLst>
              <a:gd name="adj" fmla="val 20000"/>
            </a:avLst>
          </a:prstGeom>
          <a:solidFill>
            <a:srgbClr val="8B5CF6"/>
          </a:solidFill>
          <a:ln w="12700">
            <a:solidFill>
              <a:srgbClr val="8B5CF6"/>
            </a:solidFill>
            <a:prstDash val="solid"/>
          </a:ln>
        </p:spPr>
      </p:sp>
      <p:sp>
        <p:nvSpPr>
          <p:cNvPr id="16" name="Text 14"/>
          <p:cNvSpPr/>
          <p:nvPr/>
        </p:nvSpPr>
        <p:spPr>
          <a:xfrm>
            <a:off x="4727448" y="1280160"/>
            <a:ext cx="4005072"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Gamma — Kernel Coefficient</a:t>
            </a:r>
            <a:endParaRPr lang="en-US" sz="1400" dirty="0"/>
          </a:p>
        </p:txBody>
      </p:sp>
      <p:sp>
        <p:nvSpPr>
          <p:cNvPr id="17" name="Text 15"/>
          <p:cNvSpPr/>
          <p:nvPr/>
        </p:nvSpPr>
        <p:spPr>
          <a:xfrm>
            <a:off x="4736592" y="1883664"/>
            <a:ext cx="3931920" cy="457200"/>
          </a:xfrm>
          <a:prstGeom prst="rect">
            <a:avLst/>
          </a:prstGeom>
          <a:noFill/>
          <a:ln/>
        </p:spPr>
        <p:txBody>
          <a:bodyPr wrap="square" lIns="50800" tIns="50800" rIns="50800" bIns="5080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Defines how much influence a single training point has on the decision boundary.</a:t>
            </a:r>
            <a:endParaRPr lang="en-US" sz="1200" dirty="0"/>
          </a:p>
        </p:txBody>
      </p:sp>
      <p:sp>
        <p:nvSpPr>
          <p:cNvPr id="18" name="Shape 16"/>
          <p:cNvSpPr/>
          <p:nvPr/>
        </p:nvSpPr>
        <p:spPr>
          <a:xfrm>
            <a:off x="4791456" y="2395728"/>
            <a:ext cx="3749040" cy="713232"/>
          </a:xfrm>
          <a:prstGeom prst="roundRect">
            <a:avLst>
              <a:gd name="adj" fmla="val 10256"/>
            </a:avLst>
          </a:prstGeom>
          <a:solidFill>
            <a:srgbClr val="F43F5E">
              <a:alpha val="12000"/>
            </a:srgbClr>
          </a:solidFill>
          <a:ln w="12700">
            <a:solidFill>
              <a:srgbClr val="F43F5E"/>
            </a:solidFill>
            <a:prstDash val="solid"/>
          </a:ln>
        </p:spPr>
      </p:sp>
      <p:sp>
        <p:nvSpPr>
          <p:cNvPr id="19" name="Text 17"/>
          <p:cNvSpPr/>
          <p:nvPr/>
        </p:nvSpPr>
        <p:spPr>
          <a:xfrm>
            <a:off x="4864608" y="2395728"/>
            <a:ext cx="3611880" cy="713232"/>
          </a:xfrm>
          <a:prstGeom prst="rect">
            <a:avLst/>
          </a:prstGeom>
          <a:noFill/>
          <a:ln/>
        </p:spPr>
        <p:txBody>
          <a:bodyPr wrap="square" lIns="63500" tIns="63500" rIns="63500" bIns="6350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High γ →  Only nearby points matter. 'Local' view — can OVERFIT to training data.</a:t>
            </a:r>
            <a:endParaRPr lang="en-US" sz="1200" dirty="0"/>
          </a:p>
        </p:txBody>
      </p:sp>
      <p:sp>
        <p:nvSpPr>
          <p:cNvPr id="20" name="Shape 18"/>
          <p:cNvSpPr/>
          <p:nvPr/>
        </p:nvSpPr>
        <p:spPr>
          <a:xfrm>
            <a:off x="4791456" y="3200400"/>
            <a:ext cx="3749040" cy="713232"/>
          </a:xfrm>
          <a:prstGeom prst="roundRect">
            <a:avLst>
              <a:gd name="adj" fmla="val 10256"/>
            </a:avLst>
          </a:prstGeom>
          <a:solidFill>
            <a:srgbClr val="CCFBF1"/>
          </a:solidFill>
          <a:ln w="12700">
            <a:solidFill>
              <a:srgbClr val="0D9488"/>
            </a:solidFill>
            <a:prstDash val="solid"/>
          </a:ln>
        </p:spPr>
      </p:sp>
      <p:sp>
        <p:nvSpPr>
          <p:cNvPr id="21" name="Text 19"/>
          <p:cNvSpPr/>
          <p:nvPr/>
        </p:nvSpPr>
        <p:spPr>
          <a:xfrm>
            <a:off x="4864608" y="3200400"/>
            <a:ext cx="3611880" cy="713232"/>
          </a:xfrm>
          <a:prstGeom prst="rect">
            <a:avLst/>
          </a:prstGeom>
          <a:noFill/>
          <a:ln/>
        </p:spPr>
        <p:txBody>
          <a:bodyPr wrap="square" lIns="63500" tIns="63500" rIns="63500" bIns="6350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Low γ →  Far-away points also influence the boundary. Smoother, more 'global' curve.</a:t>
            </a:r>
            <a:endParaRPr lang="en-US" sz="1200" dirty="0"/>
          </a:p>
        </p:txBody>
      </p:sp>
      <p:sp>
        <p:nvSpPr>
          <p:cNvPr id="22" name="Text 20"/>
          <p:cNvSpPr/>
          <p:nvPr/>
        </p:nvSpPr>
        <p:spPr>
          <a:xfrm>
            <a:off x="4791456" y="4005072"/>
            <a:ext cx="3749040" cy="530352"/>
          </a:xfrm>
          <a:prstGeom prst="rect">
            <a:avLst/>
          </a:prstGeom>
          <a:noFill/>
          <a:ln/>
        </p:spPr>
        <p:txBody>
          <a:bodyPr wrap="square" lIns="38100" tIns="38100" rIns="38100" bIns="3810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 Analogy: High γ = only caring about neighbours. Low γ = considering the whole neighbourhood.</a:t>
            </a:r>
            <a:endParaRPr lang="en-US" sz="1100" dirty="0"/>
          </a:p>
        </p:txBody>
      </p:sp>
      <p:sp>
        <p:nvSpPr>
          <p:cNvPr id="23" name="Shape 21"/>
          <p:cNvSpPr/>
          <p:nvPr/>
        </p:nvSpPr>
        <p:spPr>
          <a:xfrm>
            <a:off x="347472" y="4663440"/>
            <a:ext cx="8449056" cy="475488"/>
          </a:xfrm>
          <a:prstGeom prst="roundRect">
            <a:avLst>
              <a:gd name="adj" fmla="val 15385"/>
            </a:avLst>
          </a:prstGeom>
          <a:solidFill>
            <a:srgbClr val="0D1B3E">
              <a:alpha val="90000"/>
            </a:srgbClr>
          </a:solidFill>
          <a:ln w="12700">
            <a:solidFill>
              <a:srgbClr val="0D1B3E"/>
            </a:solidFill>
            <a:prstDash val="solid"/>
          </a:ln>
        </p:spPr>
        <p:txBody>
          <a:bodyPr/>
          <a:lstStyle/>
          <a:p>
            <a:endParaRPr lang="en-KE" dirty="0"/>
          </a:p>
        </p:txBody>
      </p:sp>
      <p:sp>
        <p:nvSpPr>
          <p:cNvPr id="24" name="Text 22"/>
          <p:cNvSpPr/>
          <p:nvPr/>
        </p:nvSpPr>
        <p:spPr>
          <a:xfrm>
            <a:off x="457200" y="4663440"/>
            <a:ext cx="8229600" cy="475488"/>
          </a:xfrm>
          <a:prstGeom prst="rect">
            <a:avLst/>
          </a:prstGeom>
          <a:noFill/>
          <a:ln/>
        </p:spPr>
        <p:txBody>
          <a:bodyPr wrap="square" lIns="76200" tIns="76200" rIns="76200" bIns="7620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Best Practice: Use Grid Search Cross-Validation to automatically find the optimal C &amp; Gamma combination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marL="0" indent="0">
              <a:buNone/>
            </a:pPr>
            <a:r>
              <a:rPr lang="en-US" sz="2400" b="1" dirty="0">
                <a:solidFill>
                  <a:srgbClr val="FFFFFF"/>
                </a:solidFill>
                <a:latin typeface="Cambria" pitchFamily="34" charset="0"/>
                <a:ea typeface="Cambria" pitchFamily="34" charset="-122"/>
                <a:cs typeface="Cambria" pitchFamily="34" charset="-120"/>
              </a:rPr>
              <a:t>09  |  Case Study — Predicting Customer Churn</a:t>
            </a:r>
            <a:endParaRPr lang="en-US" sz="2400" dirty="0"/>
          </a:p>
        </p:txBody>
      </p:sp>
      <p:sp>
        <p:nvSpPr>
          <p:cNvPr id="3" name="Shape 1"/>
          <p:cNvSpPr/>
          <p:nvPr/>
        </p:nvSpPr>
        <p:spPr>
          <a:xfrm>
            <a:off x="347472" y="841248"/>
            <a:ext cx="8449056" cy="658368"/>
          </a:xfrm>
          <a:prstGeom prst="roundRect">
            <a:avLst>
              <a:gd name="adj" fmla="val 11111"/>
            </a:avLst>
          </a:prstGeom>
          <a:solidFill>
            <a:srgbClr val="132240"/>
          </a:solidFill>
          <a:ln w="19050">
            <a:solidFill>
              <a:srgbClr val="38BDF8"/>
            </a:solidFill>
            <a:prstDash val="solid"/>
          </a:ln>
        </p:spPr>
      </p:sp>
      <p:sp>
        <p:nvSpPr>
          <p:cNvPr id="4" name="Text 2"/>
          <p:cNvSpPr/>
          <p:nvPr/>
        </p:nvSpPr>
        <p:spPr>
          <a:xfrm>
            <a:off x="457200" y="841248"/>
            <a:ext cx="8229600" cy="658368"/>
          </a:xfrm>
          <a:prstGeom prst="rect">
            <a:avLst/>
          </a:prstGeom>
          <a:noFill/>
          <a:ln/>
        </p:spPr>
        <p:txBody>
          <a:bodyPr wrap="square" lIns="101600" tIns="101600" rIns="101600" bIns="10160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  Scenario: You're a data analyst at a telecom company. Your mission: predict which customers are likely to leave within the next month so the business can send targeted retention offers before they cancel.</a:t>
            </a:r>
            <a:endParaRPr lang="en-US" sz="1200" dirty="0"/>
          </a:p>
        </p:txBody>
      </p:sp>
      <p:sp>
        <p:nvSpPr>
          <p:cNvPr id="5" name="Shape 3"/>
          <p:cNvSpPr/>
          <p:nvPr/>
        </p:nvSpPr>
        <p:spPr>
          <a:xfrm>
            <a:off x="347472" y="1627632"/>
            <a:ext cx="4206240" cy="1188720"/>
          </a:xfrm>
          <a:prstGeom prst="roundRect">
            <a:avLst>
              <a:gd name="adj" fmla="val 7692"/>
            </a:avLst>
          </a:prstGeom>
          <a:solidFill>
            <a:srgbClr val="132240"/>
          </a:solidFill>
          <a:ln w="12700">
            <a:solidFill>
              <a:srgbClr val="0D9488"/>
            </a:solidFill>
            <a:prstDash val="solid"/>
          </a:ln>
        </p:spPr>
      </p:sp>
      <p:sp>
        <p:nvSpPr>
          <p:cNvPr id="6" name="Text 4"/>
          <p:cNvSpPr/>
          <p:nvPr/>
        </p:nvSpPr>
        <p:spPr>
          <a:xfrm>
            <a:off x="438912" y="1737360"/>
            <a:ext cx="658368" cy="658368"/>
          </a:xfrm>
          <a:prstGeom prst="rect">
            <a:avLst/>
          </a:prstGeom>
          <a:noFill/>
          <a:ln/>
        </p:spPr>
        <p:txBody>
          <a:bodyPr wrap="square" lIns="0" tIns="0" rIns="0" bIns="0"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7" name="Text 5"/>
          <p:cNvSpPr/>
          <p:nvPr/>
        </p:nvSpPr>
        <p:spPr>
          <a:xfrm>
            <a:off x="1170432" y="1719072"/>
            <a:ext cx="3246120" cy="347472"/>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Binary Problem</a:t>
            </a:r>
            <a:endParaRPr lang="en-US" sz="1300" dirty="0"/>
          </a:p>
        </p:txBody>
      </p:sp>
      <p:sp>
        <p:nvSpPr>
          <p:cNvPr id="8" name="Text 6"/>
          <p:cNvSpPr/>
          <p:nvPr/>
        </p:nvSpPr>
        <p:spPr>
          <a:xfrm>
            <a:off x="1170432" y="2066544"/>
            <a:ext cx="3246120" cy="685800"/>
          </a:xfrm>
          <a:prstGeom prst="rect">
            <a:avLst/>
          </a:prstGeom>
          <a:noFill/>
          <a:ln/>
        </p:spPr>
        <p:txBody>
          <a:bodyPr wrap="square" lIns="0" tIns="0" rIns="0" bIns="0" rtlCol="0" anchor="ctr"/>
          <a:lstStyle/>
          <a:p>
            <a:pPr marL="0" indent="0">
              <a:buNone/>
            </a:pPr>
            <a:r>
              <a:rPr lang="en-US" sz="1100" dirty="0">
                <a:solidFill>
                  <a:srgbClr val="CCFBF1"/>
                </a:solidFill>
                <a:latin typeface="Calibri" pitchFamily="34" charset="0"/>
                <a:ea typeface="Calibri" pitchFamily="34" charset="-122"/>
                <a:cs typeface="Calibri" pitchFamily="34" charset="-120"/>
              </a:rPr>
              <a:t>Churn = 1 (Leave) vs Stay = 0</a:t>
            </a:r>
            <a:endParaRPr lang="en-US" sz="1100" dirty="0"/>
          </a:p>
          <a:p>
            <a:pPr marL="0" indent="0">
              <a:buNone/>
            </a:pPr>
            <a:r>
              <a:rPr lang="en-US" sz="1100" dirty="0">
                <a:solidFill>
                  <a:srgbClr val="CCFBF1"/>
                </a:solidFill>
                <a:latin typeface="Calibri" pitchFamily="34" charset="0"/>
                <a:ea typeface="Calibri" pitchFamily="34" charset="-122"/>
                <a:cs typeface="Calibri" pitchFamily="34" charset="-120"/>
              </a:rPr>
              <a:t>A perfect YES/NO classification task for SVM.</a:t>
            </a:r>
            <a:endParaRPr lang="en-US" sz="1100" dirty="0"/>
          </a:p>
        </p:txBody>
      </p:sp>
      <p:sp>
        <p:nvSpPr>
          <p:cNvPr id="9" name="Shape 7"/>
          <p:cNvSpPr/>
          <p:nvPr/>
        </p:nvSpPr>
        <p:spPr>
          <a:xfrm>
            <a:off x="4782312" y="1627632"/>
            <a:ext cx="4206240" cy="1188720"/>
          </a:xfrm>
          <a:prstGeom prst="roundRect">
            <a:avLst>
              <a:gd name="adj" fmla="val 7692"/>
            </a:avLst>
          </a:prstGeom>
          <a:solidFill>
            <a:srgbClr val="132240"/>
          </a:solidFill>
          <a:ln w="12700">
            <a:solidFill>
              <a:srgbClr val="0D9488"/>
            </a:solidFill>
            <a:prstDash val="solid"/>
          </a:ln>
        </p:spPr>
      </p:sp>
      <p:sp>
        <p:nvSpPr>
          <p:cNvPr id="10" name="Text 8"/>
          <p:cNvSpPr/>
          <p:nvPr/>
        </p:nvSpPr>
        <p:spPr>
          <a:xfrm>
            <a:off x="4873752" y="1737360"/>
            <a:ext cx="658368" cy="658368"/>
          </a:xfrm>
          <a:prstGeom prst="rect">
            <a:avLst/>
          </a:prstGeom>
          <a:noFill/>
          <a:ln/>
        </p:spPr>
        <p:txBody>
          <a:bodyPr wrap="square" lIns="0" tIns="0" rIns="0" bIns="0"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1" name="Text 9"/>
          <p:cNvSpPr/>
          <p:nvPr/>
        </p:nvSpPr>
        <p:spPr>
          <a:xfrm>
            <a:off x="5605272" y="1719072"/>
            <a:ext cx="3246120" cy="347472"/>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High-Dimensional Data</a:t>
            </a:r>
            <a:endParaRPr lang="en-US" sz="1300" dirty="0"/>
          </a:p>
        </p:txBody>
      </p:sp>
      <p:sp>
        <p:nvSpPr>
          <p:cNvPr id="12" name="Text 10"/>
          <p:cNvSpPr/>
          <p:nvPr/>
        </p:nvSpPr>
        <p:spPr>
          <a:xfrm>
            <a:off x="5605272" y="2066544"/>
            <a:ext cx="3246120" cy="685800"/>
          </a:xfrm>
          <a:prstGeom prst="rect">
            <a:avLst/>
          </a:prstGeom>
          <a:noFill/>
          <a:ln/>
        </p:spPr>
        <p:txBody>
          <a:bodyPr wrap="square" lIns="0" tIns="0" rIns="0" bIns="0" rtlCol="0" anchor="ctr"/>
          <a:lstStyle/>
          <a:p>
            <a:pPr marL="0" indent="0">
              <a:buNone/>
            </a:pPr>
            <a:r>
              <a:rPr lang="en-US" sz="1100" dirty="0">
                <a:solidFill>
                  <a:srgbClr val="CCFBF1"/>
                </a:solidFill>
                <a:latin typeface="Calibri" pitchFamily="34" charset="0"/>
                <a:ea typeface="Calibri" pitchFamily="34" charset="-122"/>
                <a:cs typeface="Calibri" pitchFamily="34" charset="-120"/>
              </a:rPr>
              <a:t>Handles many features: age, contract type, monthly charges, call usage, data plans.</a:t>
            </a:r>
            <a:endParaRPr lang="en-US" sz="1100" dirty="0"/>
          </a:p>
        </p:txBody>
      </p:sp>
      <p:sp>
        <p:nvSpPr>
          <p:cNvPr id="13" name="Shape 11"/>
          <p:cNvSpPr/>
          <p:nvPr/>
        </p:nvSpPr>
        <p:spPr>
          <a:xfrm>
            <a:off x="347472" y="2953512"/>
            <a:ext cx="4206240" cy="1188720"/>
          </a:xfrm>
          <a:prstGeom prst="roundRect">
            <a:avLst>
              <a:gd name="adj" fmla="val 7692"/>
            </a:avLst>
          </a:prstGeom>
          <a:solidFill>
            <a:srgbClr val="132240"/>
          </a:solidFill>
          <a:ln w="12700">
            <a:solidFill>
              <a:srgbClr val="0D9488"/>
            </a:solidFill>
            <a:prstDash val="solid"/>
          </a:ln>
        </p:spPr>
      </p:sp>
      <p:sp>
        <p:nvSpPr>
          <p:cNvPr id="14" name="Text 12"/>
          <p:cNvSpPr/>
          <p:nvPr/>
        </p:nvSpPr>
        <p:spPr>
          <a:xfrm>
            <a:off x="438912" y="3063240"/>
            <a:ext cx="658368" cy="658368"/>
          </a:xfrm>
          <a:prstGeom prst="rect">
            <a:avLst/>
          </a:prstGeom>
          <a:noFill/>
          <a:ln/>
        </p:spPr>
        <p:txBody>
          <a:bodyPr wrap="square" lIns="0" tIns="0" rIns="0" bIns="0"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5" name="Text 13"/>
          <p:cNvSpPr/>
          <p:nvPr/>
        </p:nvSpPr>
        <p:spPr>
          <a:xfrm>
            <a:off x="1170432" y="3044952"/>
            <a:ext cx="3246120" cy="347472"/>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Optimal Boundary</a:t>
            </a:r>
            <a:endParaRPr lang="en-US" sz="1300" dirty="0"/>
          </a:p>
        </p:txBody>
      </p:sp>
      <p:sp>
        <p:nvSpPr>
          <p:cNvPr id="16" name="Text 14"/>
          <p:cNvSpPr/>
          <p:nvPr/>
        </p:nvSpPr>
        <p:spPr>
          <a:xfrm>
            <a:off x="1170432" y="3392424"/>
            <a:ext cx="3246120" cy="685800"/>
          </a:xfrm>
          <a:prstGeom prst="rect">
            <a:avLst/>
          </a:prstGeom>
          <a:noFill/>
          <a:ln/>
        </p:spPr>
        <p:txBody>
          <a:bodyPr wrap="square" lIns="0" tIns="0" rIns="0" bIns="0" rtlCol="0" anchor="ctr"/>
          <a:lstStyle/>
          <a:p>
            <a:pPr marL="0" indent="0">
              <a:buNone/>
            </a:pPr>
            <a:r>
              <a:rPr lang="en-US" sz="1100" dirty="0">
                <a:solidFill>
                  <a:srgbClr val="CCFBF1"/>
                </a:solidFill>
                <a:latin typeface="Calibri" pitchFamily="34" charset="0"/>
                <a:ea typeface="Calibri" pitchFamily="34" charset="-122"/>
                <a:cs typeface="Calibri" pitchFamily="34" charset="-120"/>
              </a:rPr>
              <a:t>Finds the widest, clearest separation between churners and stayers — minimizing errors.</a:t>
            </a:r>
            <a:endParaRPr lang="en-US" sz="1100" dirty="0"/>
          </a:p>
        </p:txBody>
      </p:sp>
      <p:sp>
        <p:nvSpPr>
          <p:cNvPr id="17" name="Shape 15"/>
          <p:cNvSpPr/>
          <p:nvPr/>
        </p:nvSpPr>
        <p:spPr>
          <a:xfrm>
            <a:off x="4782312" y="2953512"/>
            <a:ext cx="4206240" cy="1188720"/>
          </a:xfrm>
          <a:prstGeom prst="roundRect">
            <a:avLst>
              <a:gd name="adj" fmla="val 7692"/>
            </a:avLst>
          </a:prstGeom>
          <a:solidFill>
            <a:srgbClr val="132240"/>
          </a:solidFill>
          <a:ln w="12700">
            <a:solidFill>
              <a:srgbClr val="0D9488"/>
            </a:solidFill>
            <a:prstDash val="solid"/>
          </a:ln>
        </p:spPr>
      </p:sp>
      <p:sp>
        <p:nvSpPr>
          <p:cNvPr id="18" name="Text 16"/>
          <p:cNvSpPr/>
          <p:nvPr/>
        </p:nvSpPr>
        <p:spPr>
          <a:xfrm>
            <a:off x="4873752" y="3063240"/>
            <a:ext cx="658368" cy="658368"/>
          </a:xfrm>
          <a:prstGeom prst="rect">
            <a:avLst/>
          </a:prstGeom>
          <a:noFill/>
          <a:ln/>
        </p:spPr>
        <p:txBody>
          <a:bodyPr wrap="square" lIns="0" tIns="0" rIns="0" bIns="0"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9" name="Text 17"/>
          <p:cNvSpPr/>
          <p:nvPr/>
        </p:nvSpPr>
        <p:spPr>
          <a:xfrm>
            <a:off x="5605272" y="3044952"/>
            <a:ext cx="3246120" cy="347472"/>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Proven Accuracy</a:t>
            </a:r>
            <a:endParaRPr lang="en-US" sz="1300" dirty="0"/>
          </a:p>
        </p:txBody>
      </p:sp>
      <p:sp>
        <p:nvSpPr>
          <p:cNvPr id="20" name="Text 18"/>
          <p:cNvSpPr/>
          <p:nvPr/>
        </p:nvSpPr>
        <p:spPr>
          <a:xfrm>
            <a:off x="5605272" y="3392424"/>
            <a:ext cx="3246120" cy="685800"/>
          </a:xfrm>
          <a:prstGeom prst="rect">
            <a:avLst/>
          </a:prstGeom>
          <a:noFill/>
          <a:ln/>
        </p:spPr>
        <p:txBody>
          <a:bodyPr wrap="square" lIns="0" tIns="0" rIns="0" bIns="0" rtlCol="0" anchor="ctr"/>
          <a:lstStyle/>
          <a:p>
            <a:pPr marL="0" indent="0">
              <a:buNone/>
            </a:pPr>
            <a:r>
              <a:rPr lang="en-US" sz="1100" dirty="0">
                <a:solidFill>
                  <a:srgbClr val="CCFBF1"/>
                </a:solidFill>
                <a:latin typeface="Calibri" pitchFamily="34" charset="0"/>
                <a:ea typeface="Calibri" pitchFamily="34" charset="-122"/>
                <a:cs typeface="Calibri" pitchFamily="34" charset="-120"/>
              </a:rPr>
              <a:t>Highly effective for telecom churn. Industry-tested and validated across many datasets.</a:t>
            </a:r>
            <a:endParaRPr lang="en-US" sz="1100" dirty="0"/>
          </a:p>
        </p:txBody>
      </p:sp>
      <p:sp>
        <p:nvSpPr>
          <p:cNvPr id="21" name="Shape 19"/>
          <p:cNvSpPr/>
          <p:nvPr/>
        </p:nvSpPr>
        <p:spPr>
          <a:xfrm>
            <a:off x="347472" y="4343400"/>
            <a:ext cx="8449056" cy="640080"/>
          </a:xfrm>
          <a:prstGeom prst="roundRect">
            <a:avLst>
              <a:gd name="adj" fmla="val 14286"/>
            </a:avLst>
          </a:prstGeom>
          <a:solidFill>
            <a:srgbClr val="0D9488"/>
          </a:solidFill>
          <a:ln w="12700">
            <a:solidFill>
              <a:srgbClr val="0D9488"/>
            </a:solidFill>
            <a:prstDash val="solid"/>
          </a:ln>
        </p:spPr>
      </p:sp>
      <p:sp>
        <p:nvSpPr>
          <p:cNvPr id="22" name="Text 20"/>
          <p:cNvSpPr/>
          <p:nvPr/>
        </p:nvSpPr>
        <p:spPr>
          <a:xfrm>
            <a:off x="457200" y="4343400"/>
            <a:ext cx="8229600" cy="640080"/>
          </a:xfrm>
          <a:prstGeom prst="rect">
            <a:avLst/>
          </a:prstGeom>
          <a:noFill/>
          <a:ln/>
        </p:spPr>
        <p:txBody>
          <a:bodyPr wrap="square" lIns="101600" tIns="101600" rIns="101600" bIns="10160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Result: RBF kernel SVM successfully reduces churn — enabling proactive retention and boosting customer loyalty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3E"/>
          </a:solidFill>
          <a:ln w="12700">
            <a:solidFill>
              <a:srgbClr val="0D1B3E"/>
            </a:solidFill>
            <a:prstDash val="solid"/>
          </a:ln>
        </p:spPr>
      </p:sp>
      <p:sp>
        <p:nvSpPr>
          <p:cNvPr id="3" name="Text 1"/>
          <p:cNvSpPr/>
          <p:nvPr/>
        </p:nvSpPr>
        <p:spPr>
          <a:xfrm>
            <a:off x="457200" y="0"/>
            <a:ext cx="8229600" cy="777240"/>
          </a:xfrm>
          <a:prstGeom prst="rect">
            <a:avLst/>
          </a:prstGeom>
          <a:noFill/>
          <a:ln/>
        </p:spPr>
        <p:txBody>
          <a:bodyPr wrap="square" lIns="0" tIns="0" rIns="0" bIns="0" rtlCol="0" anchor="ctr"/>
          <a:lstStyle/>
          <a:p>
            <a:pPr marL="0" indent="0">
              <a:buNone/>
            </a:pPr>
            <a:r>
              <a:rPr lang="en-US" sz="2200" b="1" dirty="0">
                <a:solidFill>
                  <a:srgbClr val="FFFFFF"/>
                </a:solidFill>
                <a:latin typeface="Cambria" pitchFamily="34" charset="0"/>
                <a:ea typeface="Cambria" pitchFamily="34" charset="-122"/>
                <a:cs typeface="Cambria" pitchFamily="34" charset="-120"/>
              </a:rPr>
              <a:t>10  |  Churn Case Study — Evaluation Metrics</a:t>
            </a:r>
            <a:endParaRPr lang="en-US" sz="2200" dirty="0"/>
          </a:p>
        </p:txBody>
      </p:sp>
      <p:sp>
        <p:nvSpPr>
          <p:cNvPr id="4" name="Shape 2"/>
          <p:cNvSpPr/>
          <p:nvPr/>
        </p:nvSpPr>
        <p:spPr>
          <a:xfrm>
            <a:off x="347472" y="914400"/>
            <a:ext cx="8449056" cy="640080"/>
          </a:xfrm>
          <a:prstGeom prst="roundRect">
            <a:avLst>
              <a:gd name="adj" fmla="val 11429"/>
            </a:avLst>
          </a:prstGeom>
          <a:solidFill>
            <a:srgbClr val="FFFFFF"/>
          </a:solidFill>
          <a:ln w="12700">
            <a:solidFill>
              <a:srgbClr val="E2E8F0"/>
            </a:solidFill>
            <a:prstDash val="solid"/>
          </a:ln>
          <a:effectLst>
            <a:outerShdw blurRad="101600" dist="38100" dir="2700000" algn="bl" rotWithShape="0">
              <a:srgbClr val="000000">
                <a:alpha val="8000"/>
              </a:srgbClr>
            </a:outerShdw>
          </a:effectLst>
        </p:spPr>
      </p:sp>
      <p:sp>
        <p:nvSpPr>
          <p:cNvPr id="5" name="Shape 3"/>
          <p:cNvSpPr/>
          <p:nvPr/>
        </p:nvSpPr>
        <p:spPr>
          <a:xfrm>
            <a:off x="411480" y="1005840"/>
            <a:ext cx="6629400" cy="457200"/>
          </a:xfrm>
          <a:prstGeom prst="roundRect">
            <a:avLst>
              <a:gd name="adj" fmla="val 12000"/>
            </a:avLst>
          </a:prstGeom>
          <a:solidFill>
            <a:srgbClr val="0D9488"/>
          </a:solidFill>
          <a:ln w="12700">
            <a:solidFill>
              <a:srgbClr val="0D9488"/>
            </a:solidFill>
            <a:prstDash val="solid"/>
          </a:ln>
        </p:spPr>
      </p:sp>
      <p:sp>
        <p:nvSpPr>
          <p:cNvPr id="6" name="Text 4"/>
          <p:cNvSpPr/>
          <p:nvPr/>
        </p:nvSpPr>
        <p:spPr>
          <a:xfrm>
            <a:off x="411480" y="1005840"/>
            <a:ext cx="66294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80% Training Set — SVM learns from this</a:t>
            </a:r>
            <a:endParaRPr lang="en-US" sz="1200" dirty="0"/>
          </a:p>
        </p:txBody>
      </p:sp>
      <p:sp>
        <p:nvSpPr>
          <p:cNvPr id="7" name="Shape 5"/>
          <p:cNvSpPr/>
          <p:nvPr/>
        </p:nvSpPr>
        <p:spPr>
          <a:xfrm>
            <a:off x="7086600" y="1005840"/>
            <a:ext cx="1645920" cy="457200"/>
          </a:xfrm>
          <a:prstGeom prst="roundRect">
            <a:avLst>
              <a:gd name="adj" fmla="val 12000"/>
            </a:avLst>
          </a:prstGeom>
          <a:solidFill>
            <a:srgbClr val="F43F5E"/>
          </a:solidFill>
          <a:ln w="12700">
            <a:solidFill>
              <a:srgbClr val="F43F5E"/>
            </a:solidFill>
            <a:prstDash val="solid"/>
          </a:ln>
        </p:spPr>
      </p:sp>
      <p:sp>
        <p:nvSpPr>
          <p:cNvPr id="8" name="Text 6"/>
          <p:cNvSpPr/>
          <p:nvPr/>
        </p:nvSpPr>
        <p:spPr>
          <a:xfrm>
            <a:off x="7086600" y="1005840"/>
            <a:ext cx="164592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20% Test</a:t>
            </a:r>
            <a:endParaRPr lang="en-US" sz="1200" dirty="0"/>
          </a:p>
        </p:txBody>
      </p:sp>
      <p:sp>
        <p:nvSpPr>
          <p:cNvPr id="9" name="Shape 7"/>
          <p:cNvSpPr/>
          <p:nvPr/>
        </p:nvSpPr>
        <p:spPr>
          <a:xfrm>
            <a:off x="347472" y="1719072"/>
            <a:ext cx="4206240" cy="1170432"/>
          </a:xfrm>
          <a:prstGeom prst="roundRect">
            <a:avLst>
              <a:gd name="adj" fmla="val 6250"/>
            </a:avLst>
          </a:prstGeom>
          <a:solidFill>
            <a:srgbClr val="FFFFFF"/>
          </a:solidFill>
          <a:ln w="12700">
            <a:solidFill>
              <a:srgbClr val="E2E8F0"/>
            </a:solidFill>
            <a:prstDash val="solid"/>
          </a:ln>
          <a:effectLst>
            <a:outerShdw blurRad="101600" dist="38100" dir="2700000" algn="bl" rotWithShape="0">
              <a:srgbClr val="000000">
                <a:alpha val="8000"/>
              </a:srgbClr>
            </a:outerShdw>
          </a:effectLst>
        </p:spPr>
      </p:sp>
      <p:sp>
        <p:nvSpPr>
          <p:cNvPr id="10" name="Text 8"/>
          <p:cNvSpPr/>
          <p:nvPr/>
        </p:nvSpPr>
        <p:spPr>
          <a:xfrm>
            <a:off x="438912" y="1810512"/>
            <a:ext cx="548640" cy="548640"/>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1" name="Text 9"/>
          <p:cNvSpPr/>
          <p:nvPr/>
        </p:nvSpPr>
        <p:spPr>
          <a:xfrm>
            <a:off x="1060704" y="1792224"/>
            <a:ext cx="3337560" cy="329184"/>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Accuracy</a:t>
            </a:r>
            <a:endParaRPr lang="en-US" sz="1300" dirty="0"/>
          </a:p>
        </p:txBody>
      </p:sp>
      <p:sp>
        <p:nvSpPr>
          <p:cNvPr id="12" name="Text 10"/>
          <p:cNvSpPr/>
          <p:nvPr/>
        </p:nvSpPr>
        <p:spPr>
          <a:xfrm>
            <a:off x="1060704" y="2121408"/>
            <a:ext cx="3337560" cy="34747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How often is the model right overall?</a:t>
            </a:r>
            <a:endParaRPr lang="en-US" sz="1100" dirty="0"/>
          </a:p>
        </p:txBody>
      </p:sp>
      <p:sp>
        <p:nvSpPr>
          <p:cNvPr id="13" name="Text 11"/>
          <p:cNvSpPr/>
          <p:nvPr/>
        </p:nvSpPr>
        <p:spPr>
          <a:xfrm>
            <a:off x="1060704" y="2450592"/>
            <a:ext cx="3337560" cy="36576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E.g., 92% of all customers correctly labelled as 'churn' or 'stay'.</a:t>
            </a:r>
            <a:endParaRPr lang="en-US" sz="1050" dirty="0"/>
          </a:p>
        </p:txBody>
      </p:sp>
      <p:sp>
        <p:nvSpPr>
          <p:cNvPr id="14" name="Shape 12"/>
          <p:cNvSpPr/>
          <p:nvPr/>
        </p:nvSpPr>
        <p:spPr>
          <a:xfrm>
            <a:off x="4782312" y="1719072"/>
            <a:ext cx="4206240" cy="1170432"/>
          </a:xfrm>
          <a:prstGeom prst="roundRect">
            <a:avLst>
              <a:gd name="adj" fmla="val 6250"/>
            </a:avLst>
          </a:prstGeom>
          <a:solidFill>
            <a:srgbClr val="FFFFFF"/>
          </a:solidFill>
          <a:ln w="12700">
            <a:solidFill>
              <a:srgbClr val="E2E8F0"/>
            </a:solidFill>
            <a:prstDash val="solid"/>
          </a:ln>
          <a:effectLst>
            <a:outerShdw blurRad="101600" dist="38100" dir="2700000" algn="bl" rotWithShape="0">
              <a:srgbClr val="000000">
                <a:alpha val="8000"/>
              </a:srgbClr>
            </a:outerShdw>
          </a:effectLst>
        </p:spPr>
      </p:sp>
      <p:sp>
        <p:nvSpPr>
          <p:cNvPr id="15" name="Text 13"/>
          <p:cNvSpPr/>
          <p:nvPr/>
        </p:nvSpPr>
        <p:spPr>
          <a:xfrm>
            <a:off x="4873752" y="1810512"/>
            <a:ext cx="548640" cy="548640"/>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6" name="Text 14"/>
          <p:cNvSpPr/>
          <p:nvPr/>
        </p:nvSpPr>
        <p:spPr>
          <a:xfrm>
            <a:off x="5495544" y="1792224"/>
            <a:ext cx="3337560" cy="329184"/>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Precision</a:t>
            </a:r>
            <a:endParaRPr lang="en-US" sz="1300" dirty="0"/>
          </a:p>
        </p:txBody>
      </p:sp>
      <p:sp>
        <p:nvSpPr>
          <p:cNvPr id="17" name="Text 15"/>
          <p:cNvSpPr/>
          <p:nvPr/>
        </p:nvSpPr>
        <p:spPr>
          <a:xfrm>
            <a:off x="5495544" y="2121408"/>
            <a:ext cx="3337560" cy="34747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When it predicts 'churn', how often is it right?</a:t>
            </a:r>
            <a:endParaRPr lang="en-US" sz="1100" dirty="0"/>
          </a:p>
        </p:txBody>
      </p:sp>
      <p:sp>
        <p:nvSpPr>
          <p:cNvPr id="18" name="Text 16"/>
          <p:cNvSpPr/>
          <p:nvPr/>
        </p:nvSpPr>
        <p:spPr>
          <a:xfrm>
            <a:off x="5495544" y="2450592"/>
            <a:ext cx="3337560" cy="36576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High precision = fewer false alarms. Don't waste money calling non-churners.</a:t>
            </a:r>
            <a:endParaRPr lang="en-US" sz="1050" dirty="0"/>
          </a:p>
        </p:txBody>
      </p:sp>
      <p:sp>
        <p:nvSpPr>
          <p:cNvPr id="19" name="Shape 17"/>
          <p:cNvSpPr/>
          <p:nvPr/>
        </p:nvSpPr>
        <p:spPr>
          <a:xfrm>
            <a:off x="365760" y="2952750"/>
            <a:ext cx="4206240" cy="1170432"/>
          </a:xfrm>
          <a:prstGeom prst="roundRect">
            <a:avLst>
              <a:gd name="adj" fmla="val 6250"/>
            </a:avLst>
          </a:prstGeom>
          <a:solidFill>
            <a:srgbClr val="FFFFFF"/>
          </a:solidFill>
          <a:ln w="12700">
            <a:solidFill>
              <a:srgbClr val="E2E8F0"/>
            </a:solidFill>
            <a:prstDash val="solid"/>
          </a:ln>
          <a:effectLst>
            <a:outerShdw blurRad="101600" dist="38100" dir="2700000" algn="bl" rotWithShape="0">
              <a:srgbClr val="000000">
                <a:alpha val="8000"/>
              </a:srgbClr>
            </a:outerShdw>
          </a:effectLst>
        </p:spPr>
      </p:sp>
      <p:sp>
        <p:nvSpPr>
          <p:cNvPr id="20" name="Text 18"/>
          <p:cNvSpPr/>
          <p:nvPr/>
        </p:nvSpPr>
        <p:spPr>
          <a:xfrm>
            <a:off x="438912" y="3072384"/>
            <a:ext cx="548640" cy="548640"/>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1" name="Text 19"/>
          <p:cNvSpPr/>
          <p:nvPr/>
        </p:nvSpPr>
        <p:spPr>
          <a:xfrm>
            <a:off x="1060704" y="3054096"/>
            <a:ext cx="3337560" cy="329184"/>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Recall</a:t>
            </a:r>
            <a:endParaRPr lang="en-US" sz="1300" dirty="0"/>
          </a:p>
        </p:txBody>
      </p:sp>
      <p:sp>
        <p:nvSpPr>
          <p:cNvPr id="22" name="Text 20"/>
          <p:cNvSpPr/>
          <p:nvPr/>
        </p:nvSpPr>
        <p:spPr>
          <a:xfrm>
            <a:off x="1060704" y="3383280"/>
            <a:ext cx="3337560" cy="34747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Of all actual churners, how many did we catch?</a:t>
            </a:r>
            <a:endParaRPr lang="en-US" sz="1100" dirty="0"/>
          </a:p>
        </p:txBody>
      </p:sp>
      <p:sp>
        <p:nvSpPr>
          <p:cNvPr id="23" name="Text 21"/>
          <p:cNvSpPr/>
          <p:nvPr/>
        </p:nvSpPr>
        <p:spPr>
          <a:xfrm>
            <a:off x="1060704" y="3712464"/>
            <a:ext cx="3337560" cy="36576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High recall = fewer missed churners. Don't miss customers who were about to leave.</a:t>
            </a:r>
            <a:endParaRPr lang="en-US" sz="1050" dirty="0"/>
          </a:p>
        </p:txBody>
      </p:sp>
      <p:sp>
        <p:nvSpPr>
          <p:cNvPr id="24" name="Shape 22"/>
          <p:cNvSpPr/>
          <p:nvPr/>
        </p:nvSpPr>
        <p:spPr>
          <a:xfrm>
            <a:off x="4782312" y="2980944"/>
            <a:ext cx="4206240" cy="1170432"/>
          </a:xfrm>
          <a:prstGeom prst="roundRect">
            <a:avLst>
              <a:gd name="adj" fmla="val 6250"/>
            </a:avLst>
          </a:prstGeom>
          <a:solidFill>
            <a:srgbClr val="FFFFFF"/>
          </a:solidFill>
          <a:ln w="12700">
            <a:solidFill>
              <a:srgbClr val="E2E8F0"/>
            </a:solidFill>
            <a:prstDash val="solid"/>
          </a:ln>
          <a:effectLst>
            <a:outerShdw blurRad="101600" dist="38100" dir="2700000" algn="bl" rotWithShape="0">
              <a:srgbClr val="000000">
                <a:alpha val="8000"/>
              </a:srgbClr>
            </a:outerShdw>
          </a:effectLst>
        </p:spPr>
      </p:sp>
      <p:sp>
        <p:nvSpPr>
          <p:cNvPr id="25" name="Text 23"/>
          <p:cNvSpPr/>
          <p:nvPr/>
        </p:nvSpPr>
        <p:spPr>
          <a:xfrm>
            <a:off x="4873752" y="3072384"/>
            <a:ext cx="548640" cy="548640"/>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6" name="Text 24"/>
          <p:cNvSpPr/>
          <p:nvPr/>
        </p:nvSpPr>
        <p:spPr>
          <a:xfrm>
            <a:off x="5495544" y="3054096"/>
            <a:ext cx="3337560" cy="329184"/>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F1-Score</a:t>
            </a:r>
            <a:endParaRPr lang="en-US" sz="1300" dirty="0"/>
          </a:p>
        </p:txBody>
      </p:sp>
      <p:sp>
        <p:nvSpPr>
          <p:cNvPr id="27" name="Text 25"/>
          <p:cNvSpPr/>
          <p:nvPr/>
        </p:nvSpPr>
        <p:spPr>
          <a:xfrm>
            <a:off x="5495544" y="3383280"/>
            <a:ext cx="3337560" cy="34747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Balance between Precision and Recall.</a:t>
            </a:r>
            <a:endParaRPr lang="en-US" sz="1100" dirty="0"/>
          </a:p>
        </p:txBody>
      </p:sp>
      <p:sp>
        <p:nvSpPr>
          <p:cNvPr id="28" name="Text 26"/>
          <p:cNvSpPr/>
          <p:nvPr/>
        </p:nvSpPr>
        <p:spPr>
          <a:xfrm>
            <a:off x="5495544" y="3712464"/>
            <a:ext cx="3337560" cy="36576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Best when both precision AND recall matter equally — the single best summary metric.</a:t>
            </a:r>
            <a:endParaRPr lang="en-US" sz="1050" dirty="0"/>
          </a:p>
        </p:txBody>
      </p:sp>
      <p:sp>
        <p:nvSpPr>
          <p:cNvPr id="29" name="Shape 27"/>
          <p:cNvSpPr/>
          <p:nvPr/>
        </p:nvSpPr>
        <p:spPr>
          <a:xfrm>
            <a:off x="2221992" y="4186428"/>
            <a:ext cx="4352544" cy="918972"/>
          </a:xfrm>
          <a:prstGeom prst="roundRect">
            <a:avLst>
              <a:gd name="adj" fmla="val 6250"/>
            </a:avLst>
          </a:prstGeom>
          <a:solidFill>
            <a:srgbClr val="FFFFFF"/>
          </a:solidFill>
          <a:ln w="12700">
            <a:solidFill>
              <a:srgbClr val="E2E8F0"/>
            </a:solidFill>
            <a:prstDash val="solid"/>
          </a:ln>
          <a:effectLst>
            <a:outerShdw blurRad="101600" dist="38100" dir="2700000" algn="bl" rotWithShape="0">
              <a:srgbClr val="000000">
                <a:alpha val="8000"/>
              </a:srgbClr>
            </a:outerShdw>
          </a:effectLst>
        </p:spPr>
        <p:txBody>
          <a:bodyPr/>
          <a:lstStyle/>
          <a:p>
            <a:endParaRPr lang="en-KE" dirty="0"/>
          </a:p>
        </p:txBody>
      </p:sp>
      <p:sp>
        <p:nvSpPr>
          <p:cNvPr id="30" name="Text 28"/>
          <p:cNvSpPr/>
          <p:nvPr/>
        </p:nvSpPr>
        <p:spPr>
          <a:xfrm>
            <a:off x="2176272" y="4296156"/>
            <a:ext cx="548640" cy="548640"/>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1" name="Text 29"/>
          <p:cNvSpPr/>
          <p:nvPr/>
        </p:nvSpPr>
        <p:spPr>
          <a:xfrm>
            <a:off x="2729484" y="4168140"/>
            <a:ext cx="3474720" cy="329184"/>
          </a:xfrm>
          <a:prstGeom prst="rect">
            <a:avLst/>
          </a:prstGeom>
          <a:noFill/>
          <a:ln/>
        </p:spPr>
        <p:txBody>
          <a:bodyPr wrap="square" lIns="0" tIns="0" rIns="0" bIns="0" rtlCol="0" anchor="ctr"/>
          <a:lstStyle/>
          <a:p>
            <a:pPr marL="0" indent="0">
              <a:buNone/>
            </a:pPr>
            <a:r>
              <a:rPr lang="en-US" sz="1300" b="1" dirty="0">
                <a:solidFill>
                  <a:srgbClr val="0D1B3E"/>
                </a:solidFill>
                <a:latin typeface="Calibri" pitchFamily="34" charset="0"/>
                <a:ea typeface="Calibri" pitchFamily="34" charset="-122"/>
                <a:cs typeface="Calibri" pitchFamily="34" charset="-120"/>
              </a:rPr>
              <a:t>ROC-AUC</a:t>
            </a:r>
            <a:endParaRPr lang="en-US" sz="1300" dirty="0"/>
          </a:p>
        </p:txBody>
      </p:sp>
      <p:sp>
        <p:nvSpPr>
          <p:cNvPr id="32" name="Text 30"/>
          <p:cNvSpPr/>
          <p:nvPr/>
        </p:nvSpPr>
        <p:spPr>
          <a:xfrm>
            <a:off x="2729484" y="4461510"/>
            <a:ext cx="3474720" cy="347472"/>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How well can the model tell churners from stayers?</a:t>
            </a:r>
            <a:endParaRPr lang="en-US" sz="1100" dirty="0"/>
          </a:p>
        </p:txBody>
      </p:sp>
      <p:sp>
        <p:nvSpPr>
          <p:cNvPr id="33" name="Text 31"/>
          <p:cNvSpPr/>
          <p:nvPr/>
        </p:nvSpPr>
        <p:spPr>
          <a:xfrm>
            <a:off x="2729484" y="4661916"/>
            <a:ext cx="3922776" cy="365760"/>
          </a:xfrm>
          <a:prstGeom prst="rect">
            <a:avLst/>
          </a:prstGeom>
          <a:noFill/>
          <a:ln/>
        </p:spPr>
        <p:txBody>
          <a:bodyPr wrap="square" lIns="0" tIns="0" rIns="0" bIns="0"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AUC = 1.0 is perfect. AUC = 0.5 is no better than random guessing.</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3E"/>
          </a:solidFill>
          <a:ln w="12700">
            <a:solidFill>
              <a:srgbClr val="0D1B3E"/>
            </a:solidFill>
            <a:prstDash val="solid"/>
          </a:ln>
        </p:spPr>
      </p:sp>
      <p:sp>
        <p:nvSpPr>
          <p:cNvPr id="3" name="Text 1"/>
          <p:cNvSpPr/>
          <p:nvPr/>
        </p:nvSpPr>
        <p:spPr>
          <a:xfrm>
            <a:off x="457200" y="0"/>
            <a:ext cx="8503920" cy="77724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11  |  Overfitting vs Underfitting — The Golden Balance</a:t>
            </a:r>
            <a:endParaRPr lang="en-US" sz="2000" dirty="0"/>
          </a:p>
        </p:txBody>
      </p:sp>
      <p:sp>
        <p:nvSpPr>
          <p:cNvPr id="4" name="Text 2"/>
          <p:cNvSpPr/>
          <p:nvPr/>
        </p:nvSpPr>
        <p:spPr>
          <a:xfrm>
            <a:off x="457200" y="850392"/>
            <a:ext cx="8229600" cy="365760"/>
          </a:xfrm>
          <a:prstGeom prst="rect">
            <a:avLst/>
          </a:prstGeom>
          <a:noFill/>
          <a:ln/>
        </p:spPr>
        <p:txBody>
          <a:bodyPr wrap="square" lIns="0" tIns="0" rIns="0" bIns="0" rtlCol="0" anchor="ctr"/>
          <a:lstStyle/>
          <a:p>
            <a:pPr marL="0" indent="0">
              <a:buNone/>
            </a:pPr>
            <a:r>
              <a:rPr lang="en-US" sz="1300" i="1" dirty="0">
                <a:solidFill>
                  <a:srgbClr val="334155"/>
                </a:solidFill>
                <a:latin typeface="Calibri" pitchFamily="34" charset="0"/>
                <a:ea typeface="Calibri" pitchFamily="34" charset="-122"/>
                <a:cs typeface="Calibri" pitchFamily="34" charset="-120"/>
              </a:rPr>
              <a:t>A critical concept for building SVM models that work on NEW data — not just training data.</a:t>
            </a:r>
            <a:endParaRPr lang="en-US" sz="1300" dirty="0"/>
          </a:p>
        </p:txBody>
      </p:sp>
      <p:sp>
        <p:nvSpPr>
          <p:cNvPr id="5" name="Shape 3"/>
          <p:cNvSpPr/>
          <p:nvPr/>
        </p:nvSpPr>
        <p:spPr>
          <a:xfrm>
            <a:off x="320040" y="1325880"/>
            <a:ext cx="2743200" cy="3703320"/>
          </a:xfrm>
          <a:prstGeom prst="roundRect">
            <a:avLst>
              <a:gd name="adj" fmla="val 3333"/>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6" name="Shape 4"/>
          <p:cNvSpPr/>
          <p:nvPr/>
        </p:nvSpPr>
        <p:spPr>
          <a:xfrm>
            <a:off x="320040" y="1325880"/>
            <a:ext cx="2743200" cy="502920"/>
          </a:xfrm>
          <a:prstGeom prst="roundRect">
            <a:avLst>
              <a:gd name="adj" fmla="val 18182"/>
            </a:avLst>
          </a:prstGeom>
          <a:solidFill>
            <a:srgbClr val="F43F5E"/>
          </a:solidFill>
          <a:ln w="12700">
            <a:solidFill>
              <a:srgbClr val="F43F5E"/>
            </a:solidFill>
            <a:prstDash val="solid"/>
          </a:ln>
        </p:spPr>
      </p:sp>
      <p:sp>
        <p:nvSpPr>
          <p:cNvPr id="7" name="Text 5"/>
          <p:cNvSpPr/>
          <p:nvPr/>
        </p:nvSpPr>
        <p:spPr>
          <a:xfrm>
            <a:off x="365760" y="1325880"/>
            <a:ext cx="26517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Underfitting</a:t>
            </a:r>
            <a:endParaRPr lang="en-US" sz="1300" dirty="0"/>
          </a:p>
        </p:txBody>
      </p:sp>
      <p:sp>
        <p:nvSpPr>
          <p:cNvPr id="8" name="Text 6"/>
          <p:cNvSpPr/>
          <p:nvPr/>
        </p:nvSpPr>
        <p:spPr>
          <a:xfrm>
            <a:off x="411480" y="1865376"/>
            <a:ext cx="2560320" cy="347472"/>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Model too simple — misses the pattern</a:t>
            </a:r>
            <a:endParaRPr lang="en-US" sz="1100" dirty="0"/>
          </a:p>
        </p:txBody>
      </p:sp>
      <p:sp>
        <p:nvSpPr>
          <p:cNvPr id="9" name="Text 7"/>
          <p:cNvSpPr/>
          <p:nvPr/>
        </p:nvSpPr>
        <p:spPr>
          <a:xfrm>
            <a:off x="411480" y="2249424"/>
            <a:ext cx="2560320" cy="1234440"/>
          </a:xfrm>
          <a:prstGeom prst="rect">
            <a:avLst/>
          </a:prstGeom>
          <a:noFill/>
          <a:ln/>
        </p:spPr>
        <p:txBody>
          <a:bodyPr wrap="square" lIns="25400" tIns="25400" rIns="25400" bIns="2540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The model draws too straight a line and can't capture the real relationship in the data.</a:t>
            </a:r>
            <a:endParaRPr lang="en-US" sz="1150" dirty="0"/>
          </a:p>
          <a:p>
            <a:pPr marL="0" indent="0">
              <a:buNone/>
            </a:pPr>
            <a:endParaRPr lang="en-US" sz="1150" dirty="0"/>
          </a:p>
          <a:p>
            <a:pPr marL="0" indent="0">
              <a:buNone/>
            </a:pPr>
            <a:r>
              <a:rPr lang="en-US" sz="1150" dirty="0">
                <a:solidFill>
                  <a:srgbClr val="334155"/>
                </a:solidFill>
                <a:latin typeface="Calibri" pitchFamily="34" charset="0"/>
                <a:ea typeface="Calibri" pitchFamily="34" charset="-122"/>
                <a:cs typeface="Calibri" pitchFamily="34" charset="-120"/>
              </a:rPr>
              <a:t>Like memorising only that 'fruits are round' — then failing to classify a banana.</a:t>
            </a:r>
            <a:endParaRPr lang="en-US" sz="1150" dirty="0"/>
          </a:p>
        </p:txBody>
      </p:sp>
      <p:sp>
        <p:nvSpPr>
          <p:cNvPr id="10" name="Shape 8"/>
          <p:cNvSpPr/>
          <p:nvPr/>
        </p:nvSpPr>
        <p:spPr>
          <a:xfrm>
            <a:off x="411480" y="3547872"/>
            <a:ext cx="2560320" cy="347472"/>
          </a:xfrm>
          <a:prstGeom prst="roundRect">
            <a:avLst>
              <a:gd name="adj" fmla="val 15789"/>
            </a:avLst>
          </a:prstGeom>
          <a:solidFill>
            <a:srgbClr val="F43F5E">
              <a:alpha val="12000"/>
            </a:srgbClr>
          </a:solidFill>
          <a:ln w="12700">
            <a:solidFill>
              <a:srgbClr val="F43F5E"/>
            </a:solidFill>
            <a:prstDash val="solid"/>
          </a:ln>
        </p:spPr>
      </p:sp>
      <p:sp>
        <p:nvSpPr>
          <p:cNvPr id="11" name="Text 9"/>
          <p:cNvSpPr/>
          <p:nvPr/>
        </p:nvSpPr>
        <p:spPr>
          <a:xfrm>
            <a:off x="411480" y="3547872"/>
            <a:ext cx="2560320" cy="347472"/>
          </a:xfrm>
          <a:prstGeom prst="rect">
            <a:avLst/>
          </a:prstGeom>
          <a:noFill/>
          <a:ln/>
        </p:spPr>
        <p:txBody>
          <a:bodyPr wrap="square" lIns="0" tIns="0" rIns="0" bIns="0" rtlCol="0" anchor="ctr"/>
          <a:lstStyle/>
          <a:p>
            <a:pPr marL="0" indent="0" algn="ctr">
              <a:buNone/>
            </a:pPr>
            <a:r>
              <a:rPr lang="en-US" sz="1050" b="1" dirty="0">
                <a:solidFill>
                  <a:srgbClr val="F43F5E"/>
                </a:solidFill>
                <a:latin typeface="Calibri" pitchFamily="34" charset="0"/>
                <a:ea typeface="Calibri" pitchFamily="34" charset="-122"/>
                <a:cs typeface="Calibri" pitchFamily="34" charset="-120"/>
              </a:rPr>
              <a:t>Cause: Low C + Wrong Kernel</a:t>
            </a:r>
            <a:endParaRPr lang="en-US" sz="1050" dirty="0"/>
          </a:p>
        </p:txBody>
      </p:sp>
      <p:sp>
        <p:nvSpPr>
          <p:cNvPr id="12" name="Shape 10"/>
          <p:cNvSpPr/>
          <p:nvPr/>
        </p:nvSpPr>
        <p:spPr>
          <a:xfrm>
            <a:off x="411480" y="3950208"/>
            <a:ext cx="2560320" cy="457200"/>
          </a:xfrm>
          <a:prstGeom prst="roundRect">
            <a:avLst>
              <a:gd name="adj" fmla="val 12000"/>
            </a:avLst>
          </a:prstGeom>
          <a:solidFill>
            <a:srgbClr val="CCFBF1"/>
          </a:solidFill>
          <a:ln w="12700">
            <a:solidFill>
              <a:srgbClr val="0D9488"/>
            </a:solidFill>
            <a:prstDash val="solid"/>
          </a:ln>
        </p:spPr>
      </p:sp>
      <p:sp>
        <p:nvSpPr>
          <p:cNvPr id="13" name="Text 11"/>
          <p:cNvSpPr/>
          <p:nvPr/>
        </p:nvSpPr>
        <p:spPr>
          <a:xfrm>
            <a:off x="411480" y="3950208"/>
            <a:ext cx="2560320" cy="457200"/>
          </a:xfrm>
          <a:prstGeom prst="rect">
            <a:avLst/>
          </a:prstGeom>
          <a:noFill/>
          <a:ln/>
        </p:spPr>
        <p:txBody>
          <a:bodyPr wrap="square" lIns="25400" tIns="25400" rIns="25400" bIns="25400" rtlCol="0" anchor="ctr"/>
          <a:lstStyle/>
          <a:p>
            <a:pPr marL="0" indent="0" algn="ctr">
              <a:buNone/>
            </a:pPr>
            <a:r>
              <a:rPr lang="en-US" sz="1050" dirty="0">
                <a:solidFill>
                  <a:srgbClr val="0D9488"/>
                </a:solidFill>
                <a:latin typeface="Calibri" pitchFamily="34" charset="0"/>
                <a:ea typeface="Calibri" pitchFamily="34" charset="-122"/>
                <a:cs typeface="Calibri" pitchFamily="34" charset="-120"/>
              </a:rPr>
              <a:t>Fix: Increase C, try RBF kernel, add more features</a:t>
            </a:r>
            <a:endParaRPr lang="en-US" sz="1050" dirty="0"/>
          </a:p>
        </p:txBody>
      </p:sp>
      <p:sp>
        <p:nvSpPr>
          <p:cNvPr id="14" name="Shape 12"/>
          <p:cNvSpPr/>
          <p:nvPr/>
        </p:nvSpPr>
        <p:spPr>
          <a:xfrm>
            <a:off x="3246120" y="1325880"/>
            <a:ext cx="2743200" cy="3703320"/>
          </a:xfrm>
          <a:prstGeom prst="roundRect">
            <a:avLst>
              <a:gd name="adj" fmla="val 3333"/>
            </a:avLst>
          </a:prstGeom>
          <a:solidFill>
            <a:srgbClr val="FFFFFF"/>
          </a:solidFill>
          <a:ln w="25400">
            <a:solidFill>
              <a:srgbClr val="0D9488"/>
            </a:solidFill>
            <a:prstDash val="solid"/>
          </a:ln>
          <a:effectLst>
            <a:outerShdw blurRad="101600" dist="38100" dir="2700000" algn="bl" rotWithShape="0">
              <a:srgbClr val="000000">
                <a:alpha val="10000"/>
              </a:srgbClr>
            </a:outerShdw>
          </a:effectLst>
        </p:spPr>
      </p:sp>
      <p:sp>
        <p:nvSpPr>
          <p:cNvPr id="15" name="Shape 13"/>
          <p:cNvSpPr/>
          <p:nvPr/>
        </p:nvSpPr>
        <p:spPr>
          <a:xfrm>
            <a:off x="3246120" y="1325880"/>
            <a:ext cx="2743200" cy="502920"/>
          </a:xfrm>
          <a:prstGeom prst="roundRect">
            <a:avLst>
              <a:gd name="adj" fmla="val 18182"/>
            </a:avLst>
          </a:prstGeom>
          <a:solidFill>
            <a:srgbClr val="0D9488"/>
          </a:solidFill>
          <a:ln w="12700">
            <a:solidFill>
              <a:srgbClr val="0D9488"/>
            </a:solidFill>
            <a:prstDash val="solid"/>
          </a:ln>
        </p:spPr>
      </p:sp>
      <p:sp>
        <p:nvSpPr>
          <p:cNvPr id="16" name="Text 14"/>
          <p:cNvSpPr/>
          <p:nvPr/>
        </p:nvSpPr>
        <p:spPr>
          <a:xfrm>
            <a:off x="3291840" y="1325880"/>
            <a:ext cx="26517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Just Right!</a:t>
            </a:r>
            <a:endParaRPr lang="en-US" sz="1300" dirty="0"/>
          </a:p>
        </p:txBody>
      </p:sp>
      <p:sp>
        <p:nvSpPr>
          <p:cNvPr id="17" name="Text 15"/>
          <p:cNvSpPr/>
          <p:nvPr/>
        </p:nvSpPr>
        <p:spPr>
          <a:xfrm>
            <a:off x="3337560" y="1865376"/>
            <a:ext cx="2560320" cy="347472"/>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Model generalizes well to new data</a:t>
            </a:r>
            <a:endParaRPr lang="en-US" sz="1100" dirty="0"/>
          </a:p>
        </p:txBody>
      </p:sp>
      <p:sp>
        <p:nvSpPr>
          <p:cNvPr id="18" name="Text 16"/>
          <p:cNvSpPr/>
          <p:nvPr/>
        </p:nvSpPr>
        <p:spPr>
          <a:xfrm>
            <a:off x="3337560" y="2249424"/>
            <a:ext cx="2560320" cy="1234440"/>
          </a:xfrm>
          <a:prstGeom prst="rect">
            <a:avLst/>
          </a:prstGeom>
          <a:noFill/>
          <a:ln/>
        </p:spPr>
        <p:txBody>
          <a:bodyPr wrap="square" lIns="25400" tIns="25400" rIns="25400" bIns="2540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The model captures the true pattern — not too tight, not too loose.</a:t>
            </a:r>
            <a:endParaRPr lang="en-US" sz="1150" dirty="0"/>
          </a:p>
          <a:p>
            <a:pPr marL="0" indent="0">
              <a:buNone/>
            </a:pPr>
            <a:endParaRPr lang="en-US" sz="1150" dirty="0"/>
          </a:p>
          <a:p>
            <a:pPr marL="0" indent="0">
              <a:buNone/>
            </a:pPr>
            <a:r>
              <a:rPr lang="en-US" sz="1150" dirty="0">
                <a:solidFill>
                  <a:srgbClr val="334155"/>
                </a:solidFill>
                <a:latin typeface="Calibri" pitchFamily="34" charset="0"/>
                <a:ea typeface="Calibri" pitchFamily="34" charset="-122"/>
                <a:cs typeface="Calibri" pitchFamily="34" charset="-120"/>
              </a:rPr>
              <a:t>Perfect balance between learning from training data and predicting unseen data.</a:t>
            </a:r>
            <a:endParaRPr lang="en-US" sz="1150" dirty="0"/>
          </a:p>
        </p:txBody>
      </p:sp>
      <p:sp>
        <p:nvSpPr>
          <p:cNvPr id="19" name="Shape 17"/>
          <p:cNvSpPr/>
          <p:nvPr/>
        </p:nvSpPr>
        <p:spPr>
          <a:xfrm>
            <a:off x="3337560" y="3547872"/>
            <a:ext cx="2560320" cy="347472"/>
          </a:xfrm>
          <a:prstGeom prst="roundRect">
            <a:avLst>
              <a:gd name="adj" fmla="val 15789"/>
            </a:avLst>
          </a:prstGeom>
          <a:solidFill>
            <a:srgbClr val="F43F5E">
              <a:alpha val="12000"/>
            </a:srgbClr>
          </a:solidFill>
          <a:ln w="12700">
            <a:solidFill>
              <a:srgbClr val="F43F5E"/>
            </a:solidFill>
            <a:prstDash val="solid"/>
          </a:ln>
        </p:spPr>
      </p:sp>
      <p:sp>
        <p:nvSpPr>
          <p:cNvPr id="20" name="Text 18"/>
          <p:cNvSpPr/>
          <p:nvPr/>
        </p:nvSpPr>
        <p:spPr>
          <a:xfrm>
            <a:off x="3337560" y="3547872"/>
            <a:ext cx="2560320" cy="347472"/>
          </a:xfrm>
          <a:prstGeom prst="rect">
            <a:avLst/>
          </a:prstGeom>
          <a:noFill/>
          <a:ln/>
        </p:spPr>
        <p:txBody>
          <a:bodyPr wrap="square" lIns="0" tIns="0" rIns="0" bIns="0" rtlCol="0" anchor="ctr"/>
          <a:lstStyle/>
          <a:p>
            <a:pPr marL="0" indent="0" algn="ctr">
              <a:buNone/>
            </a:pPr>
            <a:r>
              <a:rPr lang="en-US" sz="1050" b="1" dirty="0">
                <a:solidFill>
                  <a:srgbClr val="F43F5E"/>
                </a:solidFill>
                <a:latin typeface="Calibri" pitchFamily="34" charset="0"/>
                <a:ea typeface="Calibri" pitchFamily="34" charset="-122"/>
                <a:cs typeface="Calibri" pitchFamily="34" charset="-120"/>
              </a:rPr>
              <a:t>Cause: Optimal C &amp; Gamma</a:t>
            </a:r>
            <a:endParaRPr lang="en-US" sz="1050" dirty="0"/>
          </a:p>
        </p:txBody>
      </p:sp>
      <p:sp>
        <p:nvSpPr>
          <p:cNvPr id="21" name="Shape 19"/>
          <p:cNvSpPr/>
          <p:nvPr/>
        </p:nvSpPr>
        <p:spPr>
          <a:xfrm>
            <a:off x="3337560" y="3950208"/>
            <a:ext cx="2560320" cy="457200"/>
          </a:xfrm>
          <a:prstGeom prst="roundRect">
            <a:avLst>
              <a:gd name="adj" fmla="val 12000"/>
            </a:avLst>
          </a:prstGeom>
          <a:solidFill>
            <a:srgbClr val="CCFBF1"/>
          </a:solidFill>
          <a:ln w="12700">
            <a:solidFill>
              <a:srgbClr val="0D9488"/>
            </a:solidFill>
            <a:prstDash val="solid"/>
          </a:ln>
        </p:spPr>
      </p:sp>
      <p:sp>
        <p:nvSpPr>
          <p:cNvPr id="22" name="Text 20"/>
          <p:cNvSpPr/>
          <p:nvPr/>
        </p:nvSpPr>
        <p:spPr>
          <a:xfrm>
            <a:off x="3337560" y="3950208"/>
            <a:ext cx="2560320" cy="457200"/>
          </a:xfrm>
          <a:prstGeom prst="rect">
            <a:avLst/>
          </a:prstGeom>
          <a:noFill/>
          <a:ln/>
        </p:spPr>
        <p:txBody>
          <a:bodyPr wrap="square" lIns="25400" tIns="25400" rIns="25400" bIns="25400" rtlCol="0" anchor="ctr"/>
          <a:lstStyle/>
          <a:p>
            <a:pPr marL="0" indent="0" algn="ctr">
              <a:buNone/>
            </a:pPr>
            <a:r>
              <a:rPr lang="en-US" sz="1050" dirty="0">
                <a:solidFill>
                  <a:srgbClr val="0D9488"/>
                </a:solidFill>
                <a:latin typeface="Calibri" pitchFamily="34" charset="0"/>
                <a:ea typeface="Calibri" pitchFamily="34" charset="-122"/>
                <a:cs typeface="Calibri" pitchFamily="34" charset="-120"/>
              </a:rPr>
              <a:t>Fix: Found via Grid Search Cross-Validation</a:t>
            </a:r>
            <a:endParaRPr lang="en-US" sz="1050" dirty="0"/>
          </a:p>
        </p:txBody>
      </p:sp>
      <p:sp>
        <p:nvSpPr>
          <p:cNvPr id="23" name="Shape 21"/>
          <p:cNvSpPr/>
          <p:nvPr/>
        </p:nvSpPr>
        <p:spPr>
          <a:xfrm>
            <a:off x="6172200" y="1325880"/>
            <a:ext cx="2743200" cy="3703320"/>
          </a:xfrm>
          <a:prstGeom prst="roundRect">
            <a:avLst>
              <a:gd name="adj" fmla="val 3333"/>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24" name="Shape 22"/>
          <p:cNvSpPr/>
          <p:nvPr/>
        </p:nvSpPr>
        <p:spPr>
          <a:xfrm>
            <a:off x="6172200" y="1325880"/>
            <a:ext cx="2743200" cy="502920"/>
          </a:xfrm>
          <a:prstGeom prst="roundRect">
            <a:avLst>
              <a:gd name="adj" fmla="val 18182"/>
            </a:avLst>
          </a:prstGeom>
          <a:solidFill>
            <a:srgbClr val="F59E0B"/>
          </a:solidFill>
          <a:ln w="12700">
            <a:solidFill>
              <a:srgbClr val="F59E0B"/>
            </a:solidFill>
            <a:prstDash val="solid"/>
          </a:ln>
        </p:spPr>
      </p:sp>
      <p:sp>
        <p:nvSpPr>
          <p:cNvPr id="25" name="Text 23"/>
          <p:cNvSpPr/>
          <p:nvPr/>
        </p:nvSpPr>
        <p:spPr>
          <a:xfrm>
            <a:off x="6217920" y="1325880"/>
            <a:ext cx="265176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Overfitting</a:t>
            </a:r>
            <a:endParaRPr lang="en-US" sz="1300" dirty="0"/>
          </a:p>
        </p:txBody>
      </p:sp>
      <p:sp>
        <p:nvSpPr>
          <p:cNvPr id="26" name="Text 24"/>
          <p:cNvSpPr/>
          <p:nvPr/>
        </p:nvSpPr>
        <p:spPr>
          <a:xfrm>
            <a:off x="6263640" y="1865376"/>
            <a:ext cx="2560320" cy="347472"/>
          </a:xfrm>
          <a:prstGeom prst="rect">
            <a:avLst/>
          </a:prstGeom>
          <a:noFill/>
          <a:ln/>
        </p:spPr>
        <p:txBody>
          <a:bodyPr wrap="square" lIns="0" tIns="0" rIns="0" bIns="0"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Model too complex — memorises noise</a:t>
            </a:r>
            <a:endParaRPr lang="en-US" sz="1100" dirty="0"/>
          </a:p>
        </p:txBody>
      </p:sp>
      <p:sp>
        <p:nvSpPr>
          <p:cNvPr id="27" name="Text 25"/>
          <p:cNvSpPr/>
          <p:nvPr/>
        </p:nvSpPr>
        <p:spPr>
          <a:xfrm>
            <a:off x="6263640" y="2249424"/>
            <a:ext cx="2560320" cy="1234440"/>
          </a:xfrm>
          <a:prstGeom prst="rect">
            <a:avLst/>
          </a:prstGeom>
          <a:noFill/>
          <a:ln/>
        </p:spPr>
        <p:txBody>
          <a:bodyPr wrap="square" lIns="25400" tIns="25400" rIns="25400" bIns="2540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The model learns every quirk of the training data and fails on new data.</a:t>
            </a:r>
            <a:endParaRPr lang="en-US" sz="1150" dirty="0"/>
          </a:p>
          <a:p>
            <a:pPr marL="0" indent="0">
              <a:buNone/>
            </a:pPr>
            <a:endParaRPr lang="en-US" sz="1150" dirty="0"/>
          </a:p>
          <a:p>
            <a:pPr marL="0" indent="0">
              <a:buNone/>
            </a:pPr>
            <a:r>
              <a:rPr lang="en-US" sz="1150" dirty="0">
                <a:solidFill>
                  <a:srgbClr val="334155"/>
                </a:solidFill>
                <a:latin typeface="Calibri" pitchFamily="34" charset="0"/>
                <a:ea typeface="Calibri" pitchFamily="34" charset="-122"/>
                <a:cs typeface="Calibri" pitchFamily="34" charset="-120"/>
              </a:rPr>
              <a:t>Like memorising every test question exactly — then failing when the wording changes.</a:t>
            </a:r>
            <a:endParaRPr lang="en-US" sz="1150" dirty="0"/>
          </a:p>
        </p:txBody>
      </p:sp>
      <p:sp>
        <p:nvSpPr>
          <p:cNvPr id="28" name="Shape 26"/>
          <p:cNvSpPr/>
          <p:nvPr/>
        </p:nvSpPr>
        <p:spPr>
          <a:xfrm>
            <a:off x="6263640" y="3547872"/>
            <a:ext cx="2560320" cy="347472"/>
          </a:xfrm>
          <a:prstGeom prst="roundRect">
            <a:avLst>
              <a:gd name="adj" fmla="val 15789"/>
            </a:avLst>
          </a:prstGeom>
          <a:solidFill>
            <a:srgbClr val="F43F5E">
              <a:alpha val="12000"/>
            </a:srgbClr>
          </a:solidFill>
          <a:ln w="12700">
            <a:solidFill>
              <a:srgbClr val="F43F5E"/>
            </a:solidFill>
            <a:prstDash val="solid"/>
          </a:ln>
        </p:spPr>
      </p:sp>
      <p:sp>
        <p:nvSpPr>
          <p:cNvPr id="29" name="Text 27"/>
          <p:cNvSpPr/>
          <p:nvPr/>
        </p:nvSpPr>
        <p:spPr>
          <a:xfrm>
            <a:off x="6263640" y="3547872"/>
            <a:ext cx="2560320" cy="347472"/>
          </a:xfrm>
          <a:prstGeom prst="rect">
            <a:avLst/>
          </a:prstGeom>
          <a:noFill/>
          <a:ln/>
        </p:spPr>
        <p:txBody>
          <a:bodyPr wrap="square" lIns="0" tIns="0" rIns="0" bIns="0" rtlCol="0" anchor="ctr"/>
          <a:lstStyle/>
          <a:p>
            <a:pPr marL="0" indent="0" algn="ctr">
              <a:buNone/>
            </a:pPr>
            <a:r>
              <a:rPr lang="en-US" sz="1050" b="1" dirty="0">
                <a:solidFill>
                  <a:srgbClr val="F43F5E"/>
                </a:solidFill>
                <a:latin typeface="Calibri" pitchFamily="34" charset="0"/>
                <a:ea typeface="Calibri" pitchFamily="34" charset="-122"/>
                <a:cs typeface="Calibri" pitchFamily="34" charset="-120"/>
              </a:rPr>
              <a:t>Cause: Very High C or High Gamma</a:t>
            </a:r>
            <a:endParaRPr lang="en-US" sz="1050" dirty="0"/>
          </a:p>
        </p:txBody>
      </p:sp>
      <p:sp>
        <p:nvSpPr>
          <p:cNvPr id="30" name="Shape 28"/>
          <p:cNvSpPr/>
          <p:nvPr/>
        </p:nvSpPr>
        <p:spPr>
          <a:xfrm>
            <a:off x="6263640" y="3950208"/>
            <a:ext cx="2560320" cy="457200"/>
          </a:xfrm>
          <a:prstGeom prst="roundRect">
            <a:avLst>
              <a:gd name="adj" fmla="val 12000"/>
            </a:avLst>
          </a:prstGeom>
          <a:solidFill>
            <a:srgbClr val="CCFBF1"/>
          </a:solidFill>
          <a:ln w="12700">
            <a:solidFill>
              <a:srgbClr val="0D9488"/>
            </a:solidFill>
            <a:prstDash val="solid"/>
          </a:ln>
        </p:spPr>
      </p:sp>
      <p:sp>
        <p:nvSpPr>
          <p:cNvPr id="31" name="Text 29"/>
          <p:cNvSpPr/>
          <p:nvPr/>
        </p:nvSpPr>
        <p:spPr>
          <a:xfrm>
            <a:off x="6263640" y="3950208"/>
            <a:ext cx="2560320" cy="457200"/>
          </a:xfrm>
          <a:prstGeom prst="rect">
            <a:avLst/>
          </a:prstGeom>
          <a:noFill/>
          <a:ln/>
        </p:spPr>
        <p:txBody>
          <a:bodyPr wrap="square" lIns="25400" tIns="25400" rIns="25400" bIns="25400" rtlCol="0" anchor="ctr"/>
          <a:lstStyle/>
          <a:p>
            <a:pPr marL="0" indent="0" algn="ctr">
              <a:buNone/>
            </a:pPr>
            <a:r>
              <a:rPr lang="en-US" sz="1050" dirty="0">
                <a:solidFill>
                  <a:srgbClr val="0D9488"/>
                </a:solidFill>
                <a:latin typeface="Calibri" pitchFamily="34" charset="0"/>
                <a:ea typeface="Calibri" pitchFamily="34" charset="-122"/>
                <a:cs typeface="Calibri" pitchFamily="34" charset="-120"/>
              </a:rPr>
              <a:t>Fix: Decrease C or Gamma, add more training data</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3E"/>
          </a:solidFill>
          <a:ln w="12700">
            <a:solidFill>
              <a:srgbClr val="0D1B3E"/>
            </a:solidFill>
            <a:prstDash val="solid"/>
          </a:ln>
        </p:spPr>
      </p:sp>
      <p:sp>
        <p:nvSpPr>
          <p:cNvPr id="3" name="Text 1"/>
          <p:cNvSpPr/>
          <p:nvPr/>
        </p:nvSpPr>
        <p:spPr>
          <a:xfrm>
            <a:off x="457200" y="0"/>
            <a:ext cx="8503920" cy="77724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12  |  The SVM Process — From Data to Deployment</a:t>
            </a:r>
            <a:endParaRPr lang="en-US" sz="2000" dirty="0"/>
          </a:p>
        </p:txBody>
      </p:sp>
      <p:sp>
        <p:nvSpPr>
          <p:cNvPr id="4" name="Shape 2"/>
          <p:cNvSpPr/>
          <p:nvPr/>
        </p:nvSpPr>
        <p:spPr>
          <a:xfrm>
            <a:off x="347472" y="1965960"/>
            <a:ext cx="8449056" cy="502920"/>
          </a:xfrm>
          <a:prstGeom prst="rect">
            <a:avLst/>
          </a:prstGeom>
          <a:solidFill>
            <a:srgbClr val="E2E8F0"/>
          </a:solidFill>
          <a:ln w="12700">
            <a:solidFill>
              <a:srgbClr val="E2E8F0"/>
            </a:solidFill>
            <a:prstDash val="solid"/>
          </a:ln>
        </p:spPr>
      </p:sp>
      <p:sp>
        <p:nvSpPr>
          <p:cNvPr id="5" name="Shape 3"/>
          <p:cNvSpPr/>
          <p:nvPr/>
        </p:nvSpPr>
        <p:spPr>
          <a:xfrm>
            <a:off x="347472" y="1783080"/>
            <a:ext cx="822960" cy="822960"/>
          </a:xfrm>
          <a:prstGeom prst="ellipse">
            <a:avLst/>
          </a:prstGeom>
          <a:solidFill>
            <a:srgbClr val="38BDF8"/>
          </a:solidFill>
          <a:ln w="12700">
            <a:solidFill>
              <a:srgbClr val="38BDF8"/>
            </a:solidFill>
            <a:prstDash val="solid"/>
          </a:ln>
        </p:spPr>
      </p:sp>
      <p:sp>
        <p:nvSpPr>
          <p:cNvPr id="6" name="Text 4"/>
          <p:cNvSpPr/>
          <p:nvPr/>
        </p:nvSpPr>
        <p:spPr>
          <a:xfrm>
            <a:off x="347472" y="1783080"/>
            <a:ext cx="82296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170432" y="1920240"/>
            <a:ext cx="393192" cy="548640"/>
          </a:xfrm>
          <a:prstGeom prst="rect">
            <a:avLst/>
          </a:prstGeom>
          <a:noFill/>
          <a:ln/>
        </p:spPr>
        <p:txBody>
          <a:bodyPr wrap="square" lIns="0" tIns="0" rIns="0" bIns="0" rtlCol="0" anchor="ctr"/>
          <a:lstStyle/>
          <a:p>
            <a:pPr marL="0" indent="0" algn="ctr">
              <a:buNone/>
            </a:pPr>
            <a:r>
              <a:rPr lang="en-US" sz="1800" dirty="0">
                <a:solidFill>
                  <a:srgbClr val="64748B"/>
                </a:solidFill>
                <a:latin typeface="Calibri" pitchFamily="34" charset="0"/>
                <a:ea typeface="Calibri" pitchFamily="34" charset="-122"/>
                <a:cs typeface="Calibri" pitchFamily="34" charset="-120"/>
              </a:rPr>
              <a:t>→</a:t>
            </a:r>
            <a:endParaRPr lang="en-US" sz="1800" dirty="0"/>
          </a:p>
        </p:txBody>
      </p:sp>
      <p:sp>
        <p:nvSpPr>
          <p:cNvPr id="8" name="Text 6"/>
          <p:cNvSpPr/>
          <p:nvPr/>
        </p:nvSpPr>
        <p:spPr>
          <a:xfrm>
            <a:off x="347472" y="2715768"/>
            <a:ext cx="822960" cy="411480"/>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9" name="Text 7"/>
          <p:cNvSpPr/>
          <p:nvPr/>
        </p:nvSpPr>
        <p:spPr>
          <a:xfrm>
            <a:off x="146304" y="3182112"/>
            <a:ext cx="1225296" cy="640080"/>
          </a:xfrm>
          <a:prstGeom prst="rect">
            <a:avLst/>
          </a:prstGeom>
          <a:noFill/>
          <a:ln/>
        </p:spPr>
        <p:txBody>
          <a:bodyPr wrap="square" lIns="0" tIns="0" rIns="0" bIns="0" rtlCol="0" anchor="ctr"/>
          <a:lstStyle/>
          <a:p>
            <a:pPr marL="0" indent="0" algn="ctr">
              <a:buNone/>
            </a:pPr>
            <a:r>
              <a:rPr lang="en-US" sz="1000" b="1" dirty="0">
                <a:solidFill>
                  <a:srgbClr val="0D1B3E"/>
                </a:solidFill>
                <a:latin typeface="Calibri" pitchFamily="34" charset="0"/>
                <a:ea typeface="Calibri" pitchFamily="34" charset="-122"/>
                <a:cs typeface="Calibri" pitchFamily="34" charset="-120"/>
              </a:rPr>
              <a:t>Understand &amp; Preprocess</a:t>
            </a:r>
            <a:endParaRPr lang="en-US" sz="1000" dirty="0"/>
          </a:p>
        </p:txBody>
      </p:sp>
      <p:sp>
        <p:nvSpPr>
          <p:cNvPr id="10" name="Shape 8"/>
          <p:cNvSpPr/>
          <p:nvPr/>
        </p:nvSpPr>
        <p:spPr>
          <a:xfrm>
            <a:off x="1563624" y="1783080"/>
            <a:ext cx="822960" cy="822960"/>
          </a:xfrm>
          <a:prstGeom prst="ellipse">
            <a:avLst/>
          </a:prstGeom>
          <a:solidFill>
            <a:srgbClr val="F59E0B"/>
          </a:solidFill>
          <a:ln w="12700">
            <a:solidFill>
              <a:srgbClr val="F59E0B"/>
            </a:solidFill>
            <a:prstDash val="solid"/>
          </a:ln>
        </p:spPr>
      </p:sp>
      <p:sp>
        <p:nvSpPr>
          <p:cNvPr id="11" name="Text 9"/>
          <p:cNvSpPr/>
          <p:nvPr/>
        </p:nvSpPr>
        <p:spPr>
          <a:xfrm>
            <a:off x="1563624" y="1783080"/>
            <a:ext cx="82296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2386584" y="1920240"/>
            <a:ext cx="393192" cy="548640"/>
          </a:xfrm>
          <a:prstGeom prst="rect">
            <a:avLst/>
          </a:prstGeom>
          <a:noFill/>
          <a:ln/>
        </p:spPr>
        <p:txBody>
          <a:bodyPr wrap="square" lIns="0" tIns="0" rIns="0" bIns="0" rtlCol="0" anchor="ctr"/>
          <a:lstStyle/>
          <a:p>
            <a:pPr marL="0" indent="0" algn="ctr">
              <a:buNone/>
            </a:pPr>
            <a:r>
              <a:rPr lang="en-US" sz="1800" dirty="0">
                <a:solidFill>
                  <a:srgbClr val="64748B"/>
                </a:solidFill>
                <a:latin typeface="Calibri" pitchFamily="34" charset="0"/>
                <a:ea typeface="Calibri" pitchFamily="34" charset="-122"/>
                <a:cs typeface="Calibri" pitchFamily="34" charset="-120"/>
              </a:rPr>
              <a:t>→</a:t>
            </a:r>
            <a:endParaRPr lang="en-US" sz="1800" dirty="0"/>
          </a:p>
        </p:txBody>
      </p:sp>
      <p:sp>
        <p:nvSpPr>
          <p:cNvPr id="13" name="Text 11"/>
          <p:cNvSpPr/>
          <p:nvPr/>
        </p:nvSpPr>
        <p:spPr>
          <a:xfrm>
            <a:off x="1563624" y="2715768"/>
            <a:ext cx="822960" cy="411480"/>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4" name="Text 12"/>
          <p:cNvSpPr/>
          <p:nvPr/>
        </p:nvSpPr>
        <p:spPr>
          <a:xfrm>
            <a:off x="1362456" y="3182112"/>
            <a:ext cx="1225296" cy="640080"/>
          </a:xfrm>
          <a:prstGeom prst="rect">
            <a:avLst/>
          </a:prstGeom>
          <a:noFill/>
          <a:ln/>
        </p:spPr>
        <p:txBody>
          <a:bodyPr wrap="square" lIns="0" tIns="0" rIns="0" bIns="0" rtlCol="0" anchor="ctr"/>
          <a:lstStyle/>
          <a:p>
            <a:pPr marL="0" indent="0" algn="ctr">
              <a:buNone/>
            </a:pPr>
            <a:r>
              <a:rPr lang="en-US" sz="1000" b="1" dirty="0">
                <a:solidFill>
                  <a:srgbClr val="0D1B3E"/>
                </a:solidFill>
                <a:latin typeface="Calibri" pitchFamily="34" charset="0"/>
                <a:ea typeface="Calibri" pitchFamily="34" charset="-122"/>
                <a:cs typeface="Calibri" pitchFamily="34" charset="-120"/>
              </a:rPr>
              <a:t>Choose SVM Variant</a:t>
            </a:r>
            <a:endParaRPr lang="en-US" sz="1000" dirty="0"/>
          </a:p>
        </p:txBody>
      </p:sp>
      <p:sp>
        <p:nvSpPr>
          <p:cNvPr id="15" name="Shape 13"/>
          <p:cNvSpPr/>
          <p:nvPr/>
        </p:nvSpPr>
        <p:spPr>
          <a:xfrm>
            <a:off x="2779776" y="1783080"/>
            <a:ext cx="822960" cy="822960"/>
          </a:xfrm>
          <a:prstGeom prst="ellipse">
            <a:avLst/>
          </a:prstGeom>
          <a:solidFill>
            <a:srgbClr val="8B5CF6"/>
          </a:solidFill>
          <a:ln w="12700">
            <a:solidFill>
              <a:srgbClr val="8B5CF6"/>
            </a:solidFill>
            <a:prstDash val="solid"/>
          </a:ln>
        </p:spPr>
      </p:sp>
      <p:sp>
        <p:nvSpPr>
          <p:cNvPr id="16" name="Text 14"/>
          <p:cNvSpPr/>
          <p:nvPr/>
        </p:nvSpPr>
        <p:spPr>
          <a:xfrm>
            <a:off x="2779776" y="1783080"/>
            <a:ext cx="82296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3602736" y="1920240"/>
            <a:ext cx="393192" cy="548640"/>
          </a:xfrm>
          <a:prstGeom prst="rect">
            <a:avLst/>
          </a:prstGeom>
          <a:noFill/>
          <a:ln/>
        </p:spPr>
        <p:txBody>
          <a:bodyPr wrap="square" lIns="0" tIns="0" rIns="0" bIns="0" rtlCol="0" anchor="ctr"/>
          <a:lstStyle/>
          <a:p>
            <a:pPr marL="0" indent="0" algn="ctr">
              <a:buNone/>
            </a:pPr>
            <a:r>
              <a:rPr lang="en-US" sz="1800" dirty="0">
                <a:solidFill>
                  <a:srgbClr val="64748B"/>
                </a:solidFill>
                <a:latin typeface="Calibri" pitchFamily="34" charset="0"/>
                <a:ea typeface="Calibri" pitchFamily="34" charset="-122"/>
                <a:cs typeface="Calibri" pitchFamily="34" charset="-120"/>
              </a:rPr>
              <a:t>→</a:t>
            </a:r>
            <a:endParaRPr lang="en-US" sz="1800" dirty="0"/>
          </a:p>
        </p:txBody>
      </p:sp>
      <p:sp>
        <p:nvSpPr>
          <p:cNvPr id="18" name="Text 16"/>
          <p:cNvSpPr/>
          <p:nvPr/>
        </p:nvSpPr>
        <p:spPr>
          <a:xfrm>
            <a:off x="2779776" y="2715768"/>
            <a:ext cx="822960" cy="411480"/>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19" name="Text 17"/>
          <p:cNvSpPr/>
          <p:nvPr/>
        </p:nvSpPr>
        <p:spPr>
          <a:xfrm>
            <a:off x="2578608" y="3182112"/>
            <a:ext cx="1225296" cy="640080"/>
          </a:xfrm>
          <a:prstGeom prst="rect">
            <a:avLst/>
          </a:prstGeom>
          <a:noFill/>
          <a:ln/>
        </p:spPr>
        <p:txBody>
          <a:bodyPr wrap="square" lIns="0" tIns="0" rIns="0" bIns="0" rtlCol="0" anchor="ctr"/>
          <a:lstStyle/>
          <a:p>
            <a:pPr marL="0" indent="0" algn="ctr">
              <a:buNone/>
            </a:pPr>
            <a:r>
              <a:rPr lang="en-US" sz="1000" b="1" dirty="0">
                <a:solidFill>
                  <a:srgbClr val="0D1B3E"/>
                </a:solidFill>
                <a:latin typeface="Calibri" pitchFamily="34" charset="0"/>
                <a:ea typeface="Calibri" pitchFamily="34" charset="-122"/>
                <a:cs typeface="Calibri" pitchFamily="34" charset="-120"/>
              </a:rPr>
              <a:t>Select Kernel</a:t>
            </a:r>
            <a:endParaRPr lang="en-US" sz="1000" dirty="0"/>
          </a:p>
        </p:txBody>
      </p:sp>
      <p:sp>
        <p:nvSpPr>
          <p:cNvPr id="20" name="Shape 18"/>
          <p:cNvSpPr/>
          <p:nvPr/>
        </p:nvSpPr>
        <p:spPr>
          <a:xfrm>
            <a:off x="3995928" y="1783080"/>
            <a:ext cx="822960" cy="822960"/>
          </a:xfrm>
          <a:prstGeom prst="ellipse">
            <a:avLst/>
          </a:prstGeom>
          <a:solidFill>
            <a:srgbClr val="0D9488"/>
          </a:solidFill>
          <a:ln w="12700">
            <a:solidFill>
              <a:srgbClr val="0D9488"/>
            </a:solidFill>
            <a:prstDash val="solid"/>
          </a:ln>
        </p:spPr>
      </p:sp>
      <p:sp>
        <p:nvSpPr>
          <p:cNvPr id="21" name="Text 19"/>
          <p:cNvSpPr/>
          <p:nvPr/>
        </p:nvSpPr>
        <p:spPr>
          <a:xfrm>
            <a:off x="3995928" y="1783080"/>
            <a:ext cx="82296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p:nvPr/>
        </p:nvSpPr>
        <p:spPr>
          <a:xfrm>
            <a:off x="4818888" y="1920240"/>
            <a:ext cx="393192" cy="548640"/>
          </a:xfrm>
          <a:prstGeom prst="rect">
            <a:avLst/>
          </a:prstGeom>
          <a:noFill/>
          <a:ln/>
        </p:spPr>
        <p:txBody>
          <a:bodyPr wrap="square" lIns="0" tIns="0" rIns="0" bIns="0" rtlCol="0" anchor="ctr"/>
          <a:lstStyle/>
          <a:p>
            <a:pPr marL="0" indent="0" algn="ctr">
              <a:buNone/>
            </a:pPr>
            <a:r>
              <a:rPr lang="en-US" sz="1800" dirty="0">
                <a:solidFill>
                  <a:srgbClr val="64748B"/>
                </a:solidFill>
                <a:latin typeface="Calibri" pitchFamily="34" charset="0"/>
                <a:ea typeface="Calibri" pitchFamily="34" charset="-122"/>
                <a:cs typeface="Calibri" pitchFamily="34" charset="-120"/>
              </a:rPr>
              <a:t>→</a:t>
            </a:r>
            <a:endParaRPr lang="en-US" sz="1800" dirty="0"/>
          </a:p>
        </p:txBody>
      </p:sp>
      <p:sp>
        <p:nvSpPr>
          <p:cNvPr id="23" name="Text 21"/>
          <p:cNvSpPr/>
          <p:nvPr/>
        </p:nvSpPr>
        <p:spPr>
          <a:xfrm>
            <a:off x="3995928" y="2715768"/>
            <a:ext cx="822960" cy="411480"/>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4" name="Text 22"/>
          <p:cNvSpPr/>
          <p:nvPr/>
        </p:nvSpPr>
        <p:spPr>
          <a:xfrm>
            <a:off x="3794760" y="3182112"/>
            <a:ext cx="1225296" cy="640080"/>
          </a:xfrm>
          <a:prstGeom prst="rect">
            <a:avLst/>
          </a:prstGeom>
          <a:noFill/>
          <a:ln/>
        </p:spPr>
        <p:txBody>
          <a:bodyPr wrap="square" lIns="0" tIns="0" rIns="0" bIns="0" rtlCol="0" anchor="ctr"/>
          <a:lstStyle/>
          <a:p>
            <a:pPr marL="0" indent="0" algn="ctr">
              <a:buNone/>
            </a:pPr>
            <a:r>
              <a:rPr lang="en-US" sz="1000" b="1" dirty="0">
                <a:solidFill>
                  <a:srgbClr val="0D1B3E"/>
                </a:solidFill>
                <a:latin typeface="Calibri" pitchFamily="34" charset="0"/>
                <a:ea typeface="Calibri" pitchFamily="34" charset="-122"/>
                <a:cs typeface="Calibri" pitchFamily="34" charset="-120"/>
              </a:rPr>
              <a:t>Train the Model</a:t>
            </a:r>
            <a:endParaRPr lang="en-US" sz="1000" dirty="0"/>
          </a:p>
        </p:txBody>
      </p:sp>
      <p:sp>
        <p:nvSpPr>
          <p:cNvPr id="25" name="Shape 23"/>
          <p:cNvSpPr/>
          <p:nvPr/>
        </p:nvSpPr>
        <p:spPr>
          <a:xfrm>
            <a:off x="5212080" y="1783080"/>
            <a:ext cx="822960" cy="822960"/>
          </a:xfrm>
          <a:prstGeom prst="ellipse">
            <a:avLst/>
          </a:prstGeom>
          <a:solidFill>
            <a:srgbClr val="22C55E"/>
          </a:solidFill>
          <a:ln w="12700">
            <a:solidFill>
              <a:srgbClr val="22C55E"/>
            </a:solidFill>
            <a:prstDash val="solid"/>
          </a:ln>
        </p:spPr>
      </p:sp>
      <p:sp>
        <p:nvSpPr>
          <p:cNvPr id="26" name="Text 24"/>
          <p:cNvSpPr/>
          <p:nvPr/>
        </p:nvSpPr>
        <p:spPr>
          <a:xfrm>
            <a:off x="5212080" y="1783080"/>
            <a:ext cx="82296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7" name="Text 25"/>
          <p:cNvSpPr/>
          <p:nvPr/>
        </p:nvSpPr>
        <p:spPr>
          <a:xfrm>
            <a:off x="6035040" y="1920240"/>
            <a:ext cx="393192" cy="548640"/>
          </a:xfrm>
          <a:prstGeom prst="rect">
            <a:avLst/>
          </a:prstGeom>
          <a:noFill/>
          <a:ln/>
        </p:spPr>
        <p:txBody>
          <a:bodyPr wrap="square" lIns="0" tIns="0" rIns="0" bIns="0" rtlCol="0" anchor="ctr"/>
          <a:lstStyle/>
          <a:p>
            <a:pPr marL="0" indent="0" algn="ctr">
              <a:buNone/>
            </a:pPr>
            <a:r>
              <a:rPr lang="en-US" sz="1800" dirty="0">
                <a:solidFill>
                  <a:srgbClr val="64748B"/>
                </a:solidFill>
                <a:latin typeface="Calibri" pitchFamily="34" charset="0"/>
                <a:ea typeface="Calibri" pitchFamily="34" charset="-122"/>
                <a:cs typeface="Calibri" pitchFamily="34" charset="-120"/>
              </a:rPr>
              <a:t>→</a:t>
            </a:r>
            <a:endParaRPr lang="en-US" sz="1800" dirty="0"/>
          </a:p>
        </p:txBody>
      </p:sp>
      <p:sp>
        <p:nvSpPr>
          <p:cNvPr id="28" name="Text 26"/>
          <p:cNvSpPr/>
          <p:nvPr/>
        </p:nvSpPr>
        <p:spPr>
          <a:xfrm>
            <a:off x="5212080" y="2715768"/>
            <a:ext cx="822960" cy="411480"/>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29" name="Text 27"/>
          <p:cNvSpPr/>
          <p:nvPr/>
        </p:nvSpPr>
        <p:spPr>
          <a:xfrm>
            <a:off x="5010912" y="3182112"/>
            <a:ext cx="1225296" cy="640080"/>
          </a:xfrm>
          <a:prstGeom prst="rect">
            <a:avLst/>
          </a:prstGeom>
          <a:noFill/>
          <a:ln/>
        </p:spPr>
        <p:txBody>
          <a:bodyPr wrap="square" lIns="0" tIns="0" rIns="0" bIns="0" rtlCol="0" anchor="ctr"/>
          <a:lstStyle/>
          <a:p>
            <a:pPr marL="0" indent="0" algn="ctr">
              <a:buNone/>
            </a:pPr>
            <a:r>
              <a:rPr lang="en-US" sz="1000" b="1" dirty="0">
                <a:solidFill>
                  <a:srgbClr val="0D1B3E"/>
                </a:solidFill>
                <a:latin typeface="Calibri" pitchFamily="34" charset="0"/>
                <a:ea typeface="Calibri" pitchFamily="34" charset="-122"/>
                <a:cs typeface="Calibri" pitchFamily="34" charset="-120"/>
              </a:rPr>
              <a:t>Validate &amp; Evaluate</a:t>
            </a:r>
            <a:endParaRPr lang="en-US" sz="1000" dirty="0"/>
          </a:p>
        </p:txBody>
      </p:sp>
      <p:sp>
        <p:nvSpPr>
          <p:cNvPr id="30" name="Shape 28"/>
          <p:cNvSpPr/>
          <p:nvPr/>
        </p:nvSpPr>
        <p:spPr>
          <a:xfrm>
            <a:off x="6428232" y="1783080"/>
            <a:ext cx="822960" cy="822960"/>
          </a:xfrm>
          <a:prstGeom prst="ellipse">
            <a:avLst/>
          </a:prstGeom>
          <a:solidFill>
            <a:srgbClr val="F59E0B"/>
          </a:solidFill>
          <a:ln w="12700">
            <a:solidFill>
              <a:srgbClr val="F59E0B"/>
            </a:solidFill>
            <a:prstDash val="solid"/>
          </a:ln>
        </p:spPr>
      </p:sp>
      <p:sp>
        <p:nvSpPr>
          <p:cNvPr id="31" name="Text 29"/>
          <p:cNvSpPr/>
          <p:nvPr/>
        </p:nvSpPr>
        <p:spPr>
          <a:xfrm>
            <a:off x="6428232" y="1783080"/>
            <a:ext cx="82296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2" name="Text 30"/>
          <p:cNvSpPr/>
          <p:nvPr/>
        </p:nvSpPr>
        <p:spPr>
          <a:xfrm>
            <a:off x="7251192" y="1920240"/>
            <a:ext cx="393192" cy="548640"/>
          </a:xfrm>
          <a:prstGeom prst="rect">
            <a:avLst/>
          </a:prstGeom>
          <a:noFill/>
          <a:ln/>
        </p:spPr>
        <p:txBody>
          <a:bodyPr wrap="square" lIns="0" tIns="0" rIns="0" bIns="0" rtlCol="0" anchor="ctr"/>
          <a:lstStyle/>
          <a:p>
            <a:pPr marL="0" indent="0" algn="ctr">
              <a:buNone/>
            </a:pPr>
            <a:r>
              <a:rPr lang="en-US" sz="1800" dirty="0">
                <a:solidFill>
                  <a:srgbClr val="64748B"/>
                </a:solidFill>
                <a:latin typeface="Calibri" pitchFamily="34" charset="0"/>
                <a:ea typeface="Calibri" pitchFamily="34" charset="-122"/>
                <a:cs typeface="Calibri" pitchFamily="34" charset="-120"/>
              </a:rPr>
              <a:t>→</a:t>
            </a:r>
            <a:endParaRPr lang="en-US" sz="1800" dirty="0"/>
          </a:p>
        </p:txBody>
      </p:sp>
      <p:sp>
        <p:nvSpPr>
          <p:cNvPr id="33" name="Text 31"/>
          <p:cNvSpPr/>
          <p:nvPr/>
        </p:nvSpPr>
        <p:spPr>
          <a:xfrm>
            <a:off x="6428232" y="2715768"/>
            <a:ext cx="822960" cy="411480"/>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4" name="Text 32"/>
          <p:cNvSpPr/>
          <p:nvPr/>
        </p:nvSpPr>
        <p:spPr>
          <a:xfrm>
            <a:off x="6227064" y="3182112"/>
            <a:ext cx="1225296" cy="640080"/>
          </a:xfrm>
          <a:prstGeom prst="rect">
            <a:avLst/>
          </a:prstGeom>
          <a:noFill/>
          <a:ln/>
        </p:spPr>
        <p:txBody>
          <a:bodyPr wrap="square" lIns="0" tIns="0" rIns="0" bIns="0" rtlCol="0" anchor="ctr"/>
          <a:lstStyle/>
          <a:p>
            <a:pPr marL="0" indent="0" algn="ctr">
              <a:buNone/>
            </a:pPr>
            <a:r>
              <a:rPr lang="en-US" sz="1000" b="1" dirty="0">
                <a:solidFill>
                  <a:srgbClr val="0D1B3E"/>
                </a:solidFill>
                <a:latin typeface="Calibri" pitchFamily="34" charset="0"/>
                <a:ea typeface="Calibri" pitchFamily="34" charset="-122"/>
                <a:cs typeface="Calibri" pitchFamily="34" charset="-120"/>
              </a:rPr>
              <a:t>Optimise</a:t>
            </a:r>
            <a:endParaRPr lang="en-US" sz="1000" dirty="0"/>
          </a:p>
        </p:txBody>
      </p:sp>
      <p:sp>
        <p:nvSpPr>
          <p:cNvPr id="35" name="Shape 33"/>
          <p:cNvSpPr/>
          <p:nvPr/>
        </p:nvSpPr>
        <p:spPr>
          <a:xfrm>
            <a:off x="7644384" y="1783080"/>
            <a:ext cx="822960" cy="822960"/>
          </a:xfrm>
          <a:prstGeom prst="ellipse">
            <a:avLst/>
          </a:prstGeom>
          <a:solidFill>
            <a:srgbClr val="F43F5E"/>
          </a:solidFill>
          <a:ln w="12700">
            <a:solidFill>
              <a:srgbClr val="F43F5E"/>
            </a:solidFill>
            <a:prstDash val="solid"/>
          </a:ln>
        </p:spPr>
      </p:sp>
      <p:sp>
        <p:nvSpPr>
          <p:cNvPr id="36" name="Text 34"/>
          <p:cNvSpPr/>
          <p:nvPr/>
        </p:nvSpPr>
        <p:spPr>
          <a:xfrm>
            <a:off x="7644384" y="1783080"/>
            <a:ext cx="822960" cy="82296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7</a:t>
            </a:r>
            <a:endParaRPr lang="en-US" sz="1800" dirty="0"/>
          </a:p>
        </p:txBody>
      </p:sp>
      <p:sp>
        <p:nvSpPr>
          <p:cNvPr id="37" name="Text 35"/>
          <p:cNvSpPr/>
          <p:nvPr/>
        </p:nvSpPr>
        <p:spPr>
          <a:xfrm>
            <a:off x="7644384" y="2715768"/>
            <a:ext cx="822960" cy="411480"/>
          </a:xfrm>
          <a:prstGeom prst="rect">
            <a:avLst/>
          </a:prstGeom>
          <a:noFill/>
          <a:ln/>
        </p:spPr>
        <p:txBody>
          <a:bodyPr wrap="square" lIns="0" tIns="0" rIns="0" bIns="0" rtlCol="0" anchor="ctr"/>
          <a:lstStyle/>
          <a:p>
            <a:pPr marL="0" indent="0" algn="ctr">
              <a:buNone/>
            </a:pPr>
            <a:r>
              <a:rPr lang="en-US" sz="1800" dirty="0">
                <a:solidFill>
                  <a:srgbClr val="000000"/>
                </a:solidFill>
                <a:latin typeface="Calibri" pitchFamily="34" charset="0"/>
                <a:ea typeface="Calibri" pitchFamily="34" charset="-122"/>
                <a:cs typeface="Calibri" pitchFamily="34" charset="-120"/>
              </a:rPr>
              <a:t>🚀</a:t>
            </a:r>
            <a:endParaRPr lang="en-US" sz="1800" dirty="0"/>
          </a:p>
        </p:txBody>
      </p:sp>
      <p:sp>
        <p:nvSpPr>
          <p:cNvPr id="38" name="Text 36"/>
          <p:cNvSpPr/>
          <p:nvPr/>
        </p:nvSpPr>
        <p:spPr>
          <a:xfrm>
            <a:off x="7443216" y="3182112"/>
            <a:ext cx="1225296" cy="640080"/>
          </a:xfrm>
          <a:prstGeom prst="rect">
            <a:avLst/>
          </a:prstGeom>
          <a:noFill/>
          <a:ln/>
        </p:spPr>
        <p:txBody>
          <a:bodyPr wrap="square" lIns="0" tIns="0" rIns="0" bIns="0" rtlCol="0" anchor="ctr"/>
          <a:lstStyle/>
          <a:p>
            <a:pPr marL="0" indent="0" algn="ctr">
              <a:buNone/>
            </a:pPr>
            <a:r>
              <a:rPr lang="en-US" sz="1000" b="1" dirty="0">
                <a:solidFill>
                  <a:srgbClr val="0D1B3E"/>
                </a:solidFill>
                <a:latin typeface="Calibri" pitchFamily="34" charset="0"/>
                <a:ea typeface="Calibri" pitchFamily="34" charset="-122"/>
                <a:cs typeface="Calibri" pitchFamily="34" charset="-120"/>
              </a:rPr>
              <a:t>Deploy &amp; Monitor</a:t>
            </a:r>
            <a:endParaRPr lang="en-US" sz="1000" dirty="0"/>
          </a:p>
        </p:txBody>
      </p:sp>
      <p:sp>
        <p:nvSpPr>
          <p:cNvPr id="39" name="Shape 37"/>
          <p:cNvSpPr/>
          <p:nvPr/>
        </p:nvSpPr>
        <p:spPr>
          <a:xfrm>
            <a:off x="347472" y="3913632"/>
            <a:ext cx="2084832" cy="1097280"/>
          </a:xfrm>
          <a:prstGeom prst="roundRect">
            <a:avLst>
              <a:gd name="adj" fmla="val 6667"/>
            </a:avLst>
          </a:prstGeom>
          <a:solidFill>
            <a:srgbClr val="FFFFFF"/>
          </a:solidFill>
          <a:ln w="12700">
            <a:solidFill>
              <a:srgbClr val="E2E8F0"/>
            </a:solidFill>
            <a:prstDash val="solid"/>
          </a:ln>
          <a:effectLst>
            <a:outerShdw blurRad="101600" dist="38100" dir="2700000" algn="bl" rotWithShape="0">
              <a:srgbClr val="000000">
                <a:alpha val="8000"/>
              </a:srgbClr>
            </a:outerShdw>
          </a:effectLst>
        </p:spPr>
      </p:sp>
      <p:sp>
        <p:nvSpPr>
          <p:cNvPr id="40" name="Text 38"/>
          <p:cNvSpPr/>
          <p:nvPr/>
        </p:nvSpPr>
        <p:spPr>
          <a:xfrm>
            <a:off x="420624" y="3950208"/>
            <a:ext cx="1938528" cy="274320"/>
          </a:xfrm>
          <a:prstGeom prst="rect">
            <a:avLst/>
          </a:prstGeom>
          <a:noFill/>
          <a:ln/>
        </p:spPr>
        <p:txBody>
          <a:bodyPr wrap="square" lIns="0" tIns="0" rIns="0" bIns="0" rtlCol="0" anchor="ctr"/>
          <a:lstStyle/>
          <a:p>
            <a:pPr marL="0" indent="0">
              <a:buNone/>
            </a:pPr>
            <a:r>
              <a:rPr lang="en-US" sz="1100" b="1" dirty="0">
                <a:solidFill>
                  <a:srgbClr val="0D1B3E"/>
                </a:solidFill>
                <a:latin typeface="Calibri" pitchFamily="34" charset="0"/>
                <a:ea typeface="Calibri" pitchFamily="34" charset="-122"/>
                <a:cs typeface="Calibri" pitchFamily="34" charset="-120"/>
              </a:rPr>
              <a:t>1  Preprocess</a:t>
            </a:r>
            <a:endParaRPr lang="en-US" sz="1100" dirty="0"/>
          </a:p>
        </p:txBody>
      </p:sp>
      <p:sp>
        <p:nvSpPr>
          <p:cNvPr id="41" name="Text 39"/>
          <p:cNvSpPr/>
          <p:nvPr/>
        </p:nvSpPr>
        <p:spPr>
          <a:xfrm>
            <a:off x="420624" y="4233672"/>
            <a:ext cx="1938528" cy="23774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 Normalize/standardize features (SVM is scale-sensitive!)</a:t>
            </a:r>
            <a:endParaRPr lang="en-US" sz="950" dirty="0"/>
          </a:p>
        </p:txBody>
      </p:sp>
      <p:sp>
        <p:nvSpPr>
          <p:cNvPr id="42" name="Text 40"/>
          <p:cNvSpPr/>
          <p:nvPr/>
        </p:nvSpPr>
        <p:spPr>
          <a:xfrm>
            <a:off x="420624" y="4480560"/>
            <a:ext cx="1938528" cy="23774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 Handle missing values &amp; outliers</a:t>
            </a:r>
            <a:endParaRPr lang="en-US" sz="950" dirty="0"/>
          </a:p>
        </p:txBody>
      </p:sp>
      <p:sp>
        <p:nvSpPr>
          <p:cNvPr id="43" name="Text 41"/>
          <p:cNvSpPr/>
          <p:nvPr/>
        </p:nvSpPr>
        <p:spPr>
          <a:xfrm>
            <a:off x="420624" y="4727448"/>
            <a:ext cx="1938528" cy="23774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 Encode categorical variables into numbers</a:t>
            </a:r>
            <a:endParaRPr lang="en-US" sz="950" dirty="0"/>
          </a:p>
        </p:txBody>
      </p:sp>
      <p:sp>
        <p:nvSpPr>
          <p:cNvPr id="44" name="Shape 42"/>
          <p:cNvSpPr/>
          <p:nvPr/>
        </p:nvSpPr>
        <p:spPr>
          <a:xfrm>
            <a:off x="2542032" y="3913632"/>
            <a:ext cx="2084832" cy="1097280"/>
          </a:xfrm>
          <a:prstGeom prst="roundRect">
            <a:avLst>
              <a:gd name="adj" fmla="val 6667"/>
            </a:avLst>
          </a:prstGeom>
          <a:solidFill>
            <a:srgbClr val="FFFFFF"/>
          </a:solidFill>
          <a:ln w="12700">
            <a:solidFill>
              <a:srgbClr val="E2E8F0"/>
            </a:solidFill>
            <a:prstDash val="solid"/>
          </a:ln>
          <a:effectLst>
            <a:outerShdw blurRad="101600" dist="38100" dir="2700000" algn="bl" rotWithShape="0">
              <a:srgbClr val="000000">
                <a:alpha val="8000"/>
              </a:srgbClr>
            </a:outerShdw>
          </a:effectLst>
        </p:spPr>
      </p:sp>
      <p:sp>
        <p:nvSpPr>
          <p:cNvPr id="45" name="Text 43"/>
          <p:cNvSpPr/>
          <p:nvPr/>
        </p:nvSpPr>
        <p:spPr>
          <a:xfrm>
            <a:off x="2615184" y="3950208"/>
            <a:ext cx="1938528" cy="274320"/>
          </a:xfrm>
          <a:prstGeom prst="rect">
            <a:avLst/>
          </a:prstGeom>
          <a:noFill/>
          <a:ln/>
        </p:spPr>
        <p:txBody>
          <a:bodyPr wrap="square" lIns="0" tIns="0" rIns="0" bIns="0" rtlCol="0" anchor="ctr"/>
          <a:lstStyle/>
          <a:p>
            <a:pPr marL="0" indent="0">
              <a:buNone/>
            </a:pPr>
            <a:r>
              <a:rPr lang="en-US" sz="1100" b="1" dirty="0">
                <a:solidFill>
                  <a:srgbClr val="0D1B3E"/>
                </a:solidFill>
                <a:latin typeface="Calibri" pitchFamily="34" charset="0"/>
                <a:ea typeface="Calibri" pitchFamily="34" charset="-122"/>
                <a:cs typeface="Calibri" pitchFamily="34" charset="-120"/>
              </a:rPr>
              <a:t>2  Choose Model</a:t>
            </a:r>
            <a:endParaRPr lang="en-US" sz="1100" dirty="0"/>
          </a:p>
        </p:txBody>
      </p:sp>
      <p:sp>
        <p:nvSpPr>
          <p:cNvPr id="46" name="Text 44"/>
          <p:cNvSpPr/>
          <p:nvPr/>
        </p:nvSpPr>
        <p:spPr>
          <a:xfrm>
            <a:off x="2615184" y="4233672"/>
            <a:ext cx="1938528" cy="23774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 Binary: YES/NO (e.g., churn vs. stay)</a:t>
            </a:r>
            <a:endParaRPr lang="en-US" sz="950" dirty="0"/>
          </a:p>
        </p:txBody>
      </p:sp>
      <p:sp>
        <p:nvSpPr>
          <p:cNvPr id="47" name="Text 45"/>
          <p:cNvSpPr/>
          <p:nvPr/>
        </p:nvSpPr>
        <p:spPr>
          <a:xfrm>
            <a:off x="2615184" y="4480560"/>
            <a:ext cx="1938528" cy="23774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 Multi-class: one-vs-one or one-vs-rest</a:t>
            </a:r>
            <a:endParaRPr lang="en-US" sz="950" dirty="0"/>
          </a:p>
        </p:txBody>
      </p:sp>
      <p:sp>
        <p:nvSpPr>
          <p:cNvPr id="48" name="Text 46"/>
          <p:cNvSpPr/>
          <p:nvPr/>
        </p:nvSpPr>
        <p:spPr>
          <a:xfrm>
            <a:off x="2615184" y="4727448"/>
            <a:ext cx="1938528" cy="23774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 Regression: use SVR for continuous output</a:t>
            </a:r>
            <a:endParaRPr lang="en-US" sz="950" dirty="0"/>
          </a:p>
        </p:txBody>
      </p:sp>
      <p:sp>
        <p:nvSpPr>
          <p:cNvPr id="49" name="Shape 47"/>
          <p:cNvSpPr/>
          <p:nvPr/>
        </p:nvSpPr>
        <p:spPr>
          <a:xfrm>
            <a:off x="4736592" y="3913632"/>
            <a:ext cx="2084832" cy="1097280"/>
          </a:xfrm>
          <a:prstGeom prst="roundRect">
            <a:avLst>
              <a:gd name="adj" fmla="val 6667"/>
            </a:avLst>
          </a:prstGeom>
          <a:solidFill>
            <a:srgbClr val="FFFFFF"/>
          </a:solidFill>
          <a:ln w="12700">
            <a:solidFill>
              <a:srgbClr val="E2E8F0"/>
            </a:solidFill>
            <a:prstDash val="solid"/>
          </a:ln>
          <a:effectLst>
            <a:outerShdw blurRad="101600" dist="38100" dir="2700000" algn="bl" rotWithShape="0">
              <a:srgbClr val="000000">
                <a:alpha val="8000"/>
              </a:srgbClr>
            </a:outerShdw>
          </a:effectLst>
        </p:spPr>
      </p:sp>
      <p:sp>
        <p:nvSpPr>
          <p:cNvPr id="50" name="Text 48"/>
          <p:cNvSpPr/>
          <p:nvPr/>
        </p:nvSpPr>
        <p:spPr>
          <a:xfrm>
            <a:off x="4809744" y="3950208"/>
            <a:ext cx="1938528" cy="274320"/>
          </a:xfrm>
          <a:prstGeom prst="rect">
            <a:avLst/>
          </a:prstGeom>
          <a:noFill/>
          <a:ln/>
        </p:spPr>
        <p:txBody>
          <a:bodyPr wrap="square" lIns="0" tIns="0" rIns="0" bIns="0" rtlCol="0" anchor="ctr"/>
          <a:lstStyle/>
          <a:p>
            <a:pPr marL="0" indent="0">
              <a:buNone/>
            </a:pPr>
            <a:r>
              <a:rPr lang="en-US" sz="1100" b="1" dirty="0">
                <a:solidFill>
                  <a:srgbClr val="0D1B3E"/>
                </a:solidFill>
                <a:latin typeface="Calibri" pitchFamily="34" charset="0"/>
                <a:ea typeface="Calibri" pitchFamily="34" charset="-122"/>
                <a:cs typeface="Calibri" pitchFamily="34" charset="-120"/>
              </a:rPr>
              <a:t>3–4  Kernel &amp; Train</a:t>
            </a:r>
            <a:endParaRPr lang="en-US" sz="1100" dirty="0"/>
          </a:p>
        </p:txBody>
      </p:sp>
      <p:sp>
        <p:nvSpPr>
          <p:cNvPr id="51" name="Text 49"/>
          <p:cNvSpPr/>
          <p:nvPr/>
        </p:nvSpPr>
        <p:spPr>
          <a:xfrm>
            <a:off x="4809744" y="4233672"/>
            <a:ext cx="1938528" cy="23774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 Start with Linear kernel as baseline</a:t>
            </a:r>
            <a:endParaRPr lang="en-US" sz="950" dirty="0"/>
          </a:p>
        </p:txBody>
      </p:sp>
      <p:sp>
        <p:nvSpPr>
          <p:cNvPr id="52" name="Text 50"/>
          <p:cNvSpPr/>
          <p:nvPr/>
        </p:nvSpPr>
        <p:spPr>
          <a:xfrm>
            <a:off x="4809744" y="4480560"/>
            <a:ext cx="1938528" cy="23774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 Try RBF for non-linear patterns</a:t>
            </a:r>
            <a:endParaRPr lang="en-US" sz="950" dirty="0"/>
          </a:p>
        </p:txBody>
      </p:sp>
      <p:sp>
        <p:nvSpPr>
          <p:cNvPr id="53" name="Text 51"/>
          <p:cNvSpPr/>
          <p:nvPr/>
        </p:nvSpPr>
        <p:spPr>
          <a:xfrm>
            <a:off x="4809744" y="4727448"/>
            <a:ext cx="1938528" cy="23774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 80/20 train-test split; tune C &amp; Gamma</a:t>
            </a:r>
            <a:endParaRPr lang="en-US" sz="950" dirty="0"/>
          </a:p>
        </p:txBody>
      </p:sp>
      <p:sp>
        <p:nvSpPr>
          <p:cNvPr id="54" name="Shape 52"/>
          <p:cNvSpPr/>
          <p:nvPr/>
        </p:nvSpPr>
        <p:spPr>
          <a:xfrm>
            <a:off x="6931152" y="3913632"/>
            <a:ext cx="2084832" cy="1097280"/>
          </a:xfrm>
          <a:prstGeom prst="roundRect">
            <a:avLst>
              <a:gd name="adj" fmla="val 6667"/>
            </a:avLst>
          </a:prstGeom>
          <a:solidFill>
            <a:srgbClr val="FFFFFF"/>
          </a:solidFill>
          <a:ln w="12700">
            <a:solidFill>
              <a:srgbClr val="E2E8F0"/>
            </a:solidFill>
            <a:prstDash val="solid"/>
          </a:ln>
          <a:effectLst>
            <a:outerShdw blurRad="101600" dist="38100" dir="2700000" algn="bl" rotWithShape="0">
              <a:srgbClr val="000000">
                <a:alpha val="8000"/>
              </a:srgbClr>
            </a:outerShdw>
          </a:effectLst>
        </p:spPr>
      </p:sp>
      <p:sp>
        <p:nvSpPr>
          <p:cNvPr id="55" name="Text 53"/>
          <p:cNvSpPr/>
          <p:nvPr/>
        </p:nvSpPr>
        <p:spPr>
          <a:xfrm>
            <a:off x="7004304" y="3950208"/>
            <a:ext cx="1938528" cy="274320"/>
          </a:xfrm>
          <a:prstGeom prst="rect">
            <a:avLst/>
          </a:prstGeom>
          <a:noFill/>
          <a:ln/>
        </p:spPr>
        <p:txBody>
          <a:bodyPr wrap="square" lIns="0" tIns="0" rIns="0" bIns="0" rtlCol="0" anchor="ctr"/>
          <a:lstStyle/>
          <a:p>
            <a:pPr marL="0" indent="0">
              <a:buNone/>
            </a:pPr>
            <a:r>
              <a:rPr lang="en-US" sz="1100" b="1" dirty="0">
                <a:solidFill>
                  <a:srgbClr val="0D1B3E"/>
                </a:solidFill>
                <a:latin typeface="Calibri" pitchFamily="34" charset="0"/>
                <a:ea typeface="Calibri" pitchFamily="34" charset="-122"/>
                <a:cs typeface="Calibri" pitchFamily="34" charset="-120"/>
              </a:rPr>
              <a:t>5–7  Evaluate &amp; Deploy</a:t>
            </a:r>
            <a:endParaRPr lang="en-US" sz="1100" dirty="0"/>
          </a:p>
        </p:txBody>
      </p:sp>
      <p:sp>
        <p:nvSpPr>
          <p:cNvPr id="56" name="Text 54"/>
          <p:cNvSpPr/>
          <p:nvPr/>
        </p:nvSpPr>
        <p:spPr>
          <a:xfrm>
            <a:off x="7004304" y="4233672"/>
            <a:ext cx="1938528" cy="23774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 Check Accuracy, Precision, Recall, F1, ROC-AUC</a:t>
            </a:r>
            <a:endParaRPr lang="en-US" sz="950" dirty="0"/>
          </a:p>
        </p:txBody>
      </p:sp>
      <p:sp>
        <p:nvSpPr>
          <p:cNvPr id="57" name="Text 55"/>
          <p:cNvSpPr/>
          <p:nvPr/>
        </p:nvSpPr>
        <p:spPr>
          <a:xfrm>
            <a:off x="7004304" y="4480560"/>
            <a:ext cx="1938528" cy="23774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 Grid Search to find best C &amp; Gamma</a:t>
            </a:r>
            <a:endParaRPr lang="en-US" sz="950" dirty="0"/>
          </a:p>
        </p:txBody>
      </p:sp>
      <p:sp>
        <p:nvSpPr>
          <p:cNvPr id="58" name="Text 56"/>
          <p:cNvSpPr/>
          <p:nvPr/>
        </p:nvSpPr>
        <p:spPr>
          <a:xfrm>
            <a:off x="7004304" y="4727448"/>
            <a:ext cx="1938528" cy="237744"/>
          </a:xfrm>
          <a:prstGeom prst="rect">
            <a:avLst/>
          </a:prstGeom>
          <a:noFill/>
          <a:ln/>
        </p:spPr>
        <p:txBody>
          <a:bodyPr wrap="square" lIns="0" tIns="0" rIns="0" bIns="0" rtlCol="0" anchor="ctr"/>
          <a:lstStyle/>
          <a:p>
            <a:pPr marL="0" indent="0">
              <a:buNone/>
            </a:pPr>
            <a:r>
              <a:rPr lang="en-US" sz="950" dirty="0">
                <a:solidFill>
                  <a:srgbClr val="334155"/>
                </a:solidFill>
                <a:latin typeface="Calibri" pitchFamily="34" charset="0"/>
                <a:ea typeface="Calibri" pitchFamily="34" charset="-122"/>
                <a:cs typeface="Calibri" pitchFamily="34" charset="-120"/>
              </a:rPr>
              <a:t>· Monitor live performance; retrain periodically</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0D1B3E"/>
        </a:solidFill>
        <a:effectLst/>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mbria" pitchFamily="34" charset="0"/>
                <a:ea typeface="Cambria" pitchFamily="34" charset="-122"/>
                <a:cs typeface="Cambria" pitchFamily="34" charset="-120"/>
              </a:rPr>
              <a:t>13  |  Key SVM Concepts at a Glance</a:t>
            </a:r>
            <a:endParaRPr lang="en-US" sz="2600" dirty="0"/>
          </a:p>
        </p:txBody>
      </p:sp>
      <p:sp>
        <p:nvSpPr>
          <p:cNvPr id="3" name="Text 1"/>
          <p:cNvSpPr/>
          <p:nvPr/>
        </p:nvSpPr>
        <p:spPr>
          <a:xfrm>
            <a:off x="457200" y="777240"/>
            <a:ext cx="8229600" cy="243840"/>
          </a:xfrm>
          <a:prstGeom prst="rect">
            <a:avLst/>
          </a:prstGeom>
          <a:noFill/>
          <a:ln/>
        </p:spPr>
        <p:txBody>
          <a:bodyPr wrap="square" lIns="0" tIns="0" rIns="0" bIns="0" rtlCol="0" anchor="ctr"/>
          <a:lstStyle/>
          <a:p>
            <a:pPr marL="0" indent="0">
              <a:buNone/>
            </a:pPr>
            <a:endParaRPr lang="en-US" sz="1400" dirty="0"/>
          </a:p>
        </p:txBody>
      </p:sp>
      <p:sp>
        <p:nvSpPr>
          <p:cNvPr id="4" name="Shape 2"/>
          <p:cNvSpPr/>
          <p:nvPr/>
        </p:nvSpPr>
        <p:spPr>
          <a:xfrm>
            <a:off x="347472" y="1261872"/>
            <a:ext cx="4206240" cy="822960"/>
          </a:xfrm>
          <a:prstGeom prst="roundRect">
            <a:avLst>
              <a:gd name="adj" fmla="val 8889"/>
            </a:avLst>
          </a:prstGeom>
          <a:solidFill>
            <a:srgbClr val="132240"/>
          </a:solidFill>
          <a:ln w="6350">
            <a:solidFill>
              <a:srgbClr val="0D9488"/>
            </a:solidFill>
            <a:prstDash val="solid"/>
          </a:ln>
        </p:spPr>
      </p:sp>
      <p:sp>
        <p:nvSpPr>
          <p:cNvPr id="5" name="Text 3"/>
          <p:cNvSpPr/>
          <p:nvPr/>
        </p:nvSpPr>
        <p:spPr>
          <a:xfrm>
            <a:off x="420624" y="1371600"/>
            <a:ext cx="548640" cy="548640"/>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6" name="Text 4"/>
          <p:cNvSpPr/>
          <p:nvPr/>
        </p:nvSpPr>
        <p:spPr>
          <a:xfrm>
            <a:off x="1060704" y="1335024"/>
            <a:ext cx="3383280" cy="310896"/>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Hyperplane</a:t>
            </a:r>
            <a:endParaRPr lang="en-US" sz="1300" dirty="0"/>
          </a:p>
        </p:txBody>
      </p:sp>
      <p:sp>
        <p:nvSpPr>
          <p:cNvPr id="7" name="Text 5"/>
          <p:cNvSpPr/>
          <p:nvPr/>
        </p:nvSpPr>
        <p:spPr>
          <a:xfrm>
            <a:off x="1060704" y="1645920"/>
            <a:ext cx="3383280" cy="411480"/>
          </a:xfrm>
          <a:prstGeom prst="rect">
            <a:avLst/>
          </a:prstGeom>
          <a:noFill/>
          <a:ln/>
        </p:spPr>
        <p:txBody>
          <a:bodyPr wrap="square" lIns="0" tIns="0" rIns="0" bIns="0" rtlCol="0" anchor="ctr"/>
          <a:lstStyle/>
          <a:p>
            <a:pPr marL="0" indent="0">
              <a:buNone/>
            </a:pPr>
            <a:r>
              <a:rPr lang="en-US" sz="1050" dirty="0">
                <a:solidFill>
                  <a:srgbClr val="CCFBF1"/>
                </a:solidFill>
                <a:latin typeface="Calibri" pitchFamily="34" charset="0"/>
                <a:ea typeface="Calibri" pitchFamily="34" charset="-122"/>
                <a:cs typeface="Calibri" pitchFamily="34" charset="-120"/>
              </a:rPr>
              <a:t>The decision boundary separating two classes. In 2D it's a line; in 3D a plane; beyond that, a hyperplane.</a:t>
            </a:r>
            <a:endParaRPr lang="en-US" sz="1050" dirty="0"/>
          </a:p>
        </p:txBody>
      </p:sp>
      <p:sp>
        <p:nvSpPr>
          <p:cNvPr id="8" name="Shape 6"/>
          <p:cNvSpPr/>
          <p:nvPr/>
        </p:nvSpPr>
        <p:spPr>
          <a:xfrm>
            <a:off x="4782312" y="1261872"/>
            <a:ext cx="4206240" cy="822960"/>
          </a:xfrm>
          <a:prstGeom prst="roundRect">
            <a:avLst>
              <a:gd name="adj" fmla="val 8889"/>
            </a:avLst>
          </a:prstGeom>
          <a:solidFill>
            <a:srgbClr val="132240"/>
          </a:solidFill>
          <a:ln w="6350">
            <a:solidFill>
              <a:srgbClr val="0D9488"/>
            </a:solidFill>
            <a:prstDash val="solid"/>
          </a:ln>
        </p:spPr>
      </p:sp>
      <p:sp>
        <p:nvSpPr>
          <p:cNvPr id="9" name="Text 7"/>
          <p:cNvSpPr/>
          <p:nvPr/>
        </p:nvSpPr>
        <p:spPr>
          <a:xfrm>
            <a:off x="4855464" y="1371600"/>
            <a:ext cx="548640" cy="548640"/>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0" name="Text 8"/>
          <p:cNvSpPr/>
          <p:nvPr/>
        </p:nvSpPr>
        <p:spPr>
          <a:xfrm>
            <a:off x="5495544" y="1335024"/>
            <a:ext cx="3383280" cy="310896"/>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Support Vectors</a:t>
            </a:r>
            <a:endParaRPr lang="en-US" sz="1300" dirty="0"/>
          </a:p>
        </p:txBody>
      </p:sp>
      <p:sp>
        <p:nvSpPr>
          <p:cNvPr id="11" name="Text 9"/>
          <p:cNvSpPr/>
          <p:nvPr/>
        </p:nvSpPr>
        <p:spPr>
          <a:xfrm>
            <a:off x="5495544" y="1645920"/>
            <a:ext cx="3383280" cy="411480"/>
          </a:xfrm>
          <a:prstGeom prst="rect">
            <a:avLst/>
          </a:prstGeom>
          <a:noFill/>
          <a:ln/>
        </p:spPr>
        <p:txBody>
          <a:bodyPr wrap="square" lIns="0" tIns="0" rIns="0" bIns="0" rtlCol="0" anchor="ctr"/>
          <a:lstStyle/>
          <a:p>
            <a:pPr marL="0" indent="0">
              <a:buNone/>
            </a:pPr>
            <a:r>
              <a:rPr lang="en-US" sz="1050" dirty="0">
                <a:solidFill>
                  <a:srgbClr val="CCFBF1"/>
                </a:solidFill>
                <a:latin typeface="Calibri" pitchFamily="34" charset="0"/>
                <a:ea typeface="Calibri" pitchFamily="34" charset="-122"/>
                <a:cs typeface="Calibri" pitchFamily="34" charset="-120"/>
              </a:rPr>
              <a:t>The closest data points to the hyperplane — they define its exact position. Only these matter!</a:t>
            </a:r>
            <a:endParaRPr lang="en-US" sz="1050" dirty="0"/>
          </a:p>
        </p:txBody>
      </p:sp>
      <p:sp>
        <p:nvSpPr>
          <p:cNvPr id="12" name="Shape 10"/>
          <p:cNvSpPr/>
          <p:nvPr/>
        </p:nvSpPr>
        <p:spPr>
          <a:xfrm>
            <a:off x="347472" y="2212848"/>
            <a:ext cx="4206240" cy="822960"/>
          </a:xfrm>
          <a:prstGeom prst="roundRect">
            <a:avLst>
              <a:gd name="adj" fmla="val 8889"/>
            </a:avLst>
          </a:prstGeom>
          <a:solidFill>
            <a:srgbClr val="132240"/>
          </a:solidFill>
          <a:ln w="6350">
            <a:solidFill>
              <a:srgbClr val="0D9488"/>
            </a:solidFill>
            <a:prstDash val="solid"/>
          </a:ln>
        </p:spPr>
      </p:sp>
      <p:sp>
        <p:nvSpPr>
          <p:cNvPr id="13" name="Text 11"/>
          <p:cNvSpPr/>
          <p:nvPr/>
        </p:nvSpPr>
        <p:spPr>
          <a:xfrm>
            <a:off x="420624" y="2322576"/>
            <a:ext cx="548640" cy="548640"/>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4" name="Text 12"/>
          <p:cNvSpPr/>
          <p:nvPr/>
        </p:nvSpPr>
        <p:spPr>
          <a:xfrm>
            <a:off x="1060704" y="2286000"/>
            <a:ext cx="3383280" cy="310896"/>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Margin</a:t>
            </a:r>
            <a:endParaRPr lang="en-US" sz="1300" dirty="0"/>
          </a:p>
        </p:txBody>
      </p:sp>
      <p:sp>
        <p:nvSpPr>
          <p:cNvPr id="15" name="Text 13"/>
          <p:cNvSpPr/>
          <p:nvPr/>
        </p:nvSpPr>
        <p:spPr>
          <a:xfrm>
            <a:off x="1060704" y="2596896"/>
            <a:ext cx="3383280" cy="411480"/>
          </a:xfrm>
          <a:prstGeom prst="rect">
            <a:avLst/>
          </a:prstGeom>
          <a:noFill/>
          <a:ln/>
        </p:spPr>
        <p:txBody>
          <a:bodyPr wrap="square" lIns="0" tIns="0" rIns="0" bIns="0" rtlCol="0" anchor="ctr"/>
          <a:lstStyle/>
          <a:p>
            <a:pPr marL="0" indent="0">
              <a:buNone/>
            </a:pPr>
            <a:r>
              <a:rPr lang="en-US" sz="1050" dirty="0">
                <a:solidFill>
                  <a:srgbClr val="CCFBF1"/>
                </a:solidFill>
                <a:latin typeface="Calibri" pitchFamily="34" charset="0"/>
                <a:ea typeface="Calibri" pitchFamily="34" charset="-122"/>
                <a:cs typeface="Calibri" pitchFamily="34" charset="-120"/>
              </a:rPr>
              <a:t>The gap between the hyperplane and the nearest data points. A bigger margin means better generalization.</a:t>
            </a:r>
            <a:endParaRPr lang="en-US" sz="1050" dirty="0"/>
          </a:p>
        </p:txBody>
      </p:sp>
      <p:sp>
        <p:nvSpPr>
          <p:cNvPr id="16" name="Shape 14"/>
          <p:cNvSpPr/>
          <p:nvPr/>
        </p:nvSpPr>
        <p:spPr>
          <a:xfrm>
            <a:off x="4782312" y="2212848"/>
            <a:ext cx="4206240" cy="822960"/>
          </a:xfrm>
          <a:prstGeom prst="roundRect">
            <a:avLst>
              <a:gd name="adj" fmla="val 8889"/>
            </a:avLst>
          </a:prstGeom>
          <a:solidFill>
            <a:srgbClr val="132240"/>
          </a:solidFill>
          <a:ln w="6350">
            <a:solidFill>
              <a:srgbClr val="0D9488"/>
            </a:solidFill>
            <a:prstDash val="solid"/>
          </a:ln>
        </p:spPr>
      </p:sp>
      <p:sp>
        <p:nvSpPr>
          <p:cNvPr id="17" name="Text 15"/>
          <p:cNvSpPr/>
          <p:nvPr/>
        </p:nvSpPr>
        <p:spPr>
          <a:xfrm>
            <a:off x="4855464" y="2322576"/>
            <a:ext cx="548640" cy="548640"/>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8" name="Text 16"/>
          <p:cNvSpPr/>
          <p:nvPr/>
        </p:nvSpPr>
        <p:spPr>
          <a:xfrm>
            <a:off x="5495544" y="2286000"/>
            <a:ext cx="3383280" cy="310896"/>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Kernel Function</a:t>
            </a:r>
            <a:endParaRPr lang="en-US" sz="1300" dirty="0"/>
          </a:p>
        </p:txBody>
      </p:sp>
      <p:sp>
        <p:nvSpPr>
          <p:cNvPr id="19" name="Text 17"/>
          <p:cNvSpPr/>
          <p:nvPr/>
        </p:nvSpPr>
        <p:spPr>
          <a:xfrm>
            <a:off x="5495544" y="2596896"/>
            <a:ext cx="3383280" cy="411480"/>
          </a:xfrm>
          <a:prstGeom prst="rect">
            <a:avLst/>
          </a:prstGeom>
          <a:noFill/>
          <a:ln/>
        </p:spPr>
        <p:txBody>
          <a:bodyPr wrap="square" lIns="0" tIns="0" rIns="0" bIns="0" rtlCol="0" anchor="ctr"/>
          <a:lstStyle/>
          <a:p>
            <a:pPr marL="0" indent="0">
              <a:buNone/>
            </a:pPr>
            <a:r>
              <a:rPr lang="en-US" sz="1050" dirty="0">
                <a:solidFill>
                  <a:srgbClr val="CCFBF1"/>
                </a:solidFill>
                <a:latin typeface="Calibri" pitchFamily="34" charset="0"/>
                <a:ea typeface="Calibri" pitchFamily="34" charset="-122"/>
                <a:cs typeface="Calibri" pitchFamily="34" charset="-120"/>
              </a:rPr>
              <a:t>A mathematical trick that transforms data into higher dimensions to make non-linear data separable.</a:t>
            </a:r>
            <a:endParaRPr lang="en-US" sz="1050" dirty="0"/>
          </a:p>
        </p:txBody>
      </p:sp>
      <p:sp>
        <p:nvSpPr>
          <p:cNvPr id="20" name="Shape 18"/>
          <p:cNvSpPr/>
          <p:nvPr/>
        </p:nvSpPr>
        <p:spPr>
          <a:xfrm>
            <a:off x="347472" y="3163824"/>
            <a:ext cx="4206240" cy="822960"/>
          </a:xfrm>
          <a:prstGeom prst="roundRect">
            <a:avLst>
              <a:gd name="adj" fmla="val 8889"/>
            </a:avLst>
          </a:prstGeom>
          <a:solidFill>
            <a:srgbClr val="132240"/>
          </a:solidFill>
          <a:ln w="6350">
            <a:solidFill>
              <a:srgbClr val="0D9488"/>
            </a:solidFill>
            <a:prstDash val="solid"/>
          </a:ln>
        </p:spPr>
      </p:sp>
      <p:sp>
        <p:nvSpPr>
          <p:cNvPr id="21" name="Text 19"/>
          <p:cNvSpPr/>
          <p:nvPr/>
        </p:nvSpPr>
        <p:spPr>
          <a:xfrm>
            <a:off x="420624" y="3273552"/>
            <a:ext cx="548640" cy="548640"/>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2" name="Text 20"/>
          <p:cNvSpPr/>
          <p:nvPr/>
        </p:nvSpPr>
        <p:spPr>
          <a:xfrm>
            <a:off x="1060704" y="3236976"/>
            <a:ext cx="3383280" cy="310896"/>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RBF Kernel</a:t>
            </a:r>
            <a:endParaRPr lang="en-US" sz="1300" dirty="0"/>
          </a:p>
        </p:txBody>
      </p:sp>
      <p:sp>
        <p:nvSpPr>
          <p:cNvPr id="23" name="Text 21"/>
          <p:cNvSpPr/>
          <p:nvPr/>
        </p:nvSpPr>
        <p:spPr>
          <a:xfrm>
            <a:off x="1060704" y="3547872"/>
            <a:ext cx="3383280" cy="411480"/>
          </a:xfrm>
          <a:prstGeom prst="rect">
            <a:avLst/>
          </a:prstGeom>
          <a:noFill/>
          <a:ln/>
        </p:spPr>
        <p:txBody>
          <a:bodyPr wrap="square" lIns="0" tIns="0" rIns="0" bIns="0" rtlCol="0" anchor="ctr"/>
          <a:lstStyle/>
          <a:p>
            <a:pPr marL="0" indent="0">
              <a:buNone/>
            </a:pPr>
            <a:r>
              <a:rPr lang="en-US" sz="1050" dirty="0">
                <a:solidFill>
                  <a:srgbClr val="CCFBF1"/>
                </a:solidFill>
                <a:latin typeface="Calibri" pitchFamily="34" charset="0"/>
                <a:ea typeface="Calibri" pitchFamily="34" charset="-122"/>
                <a:cs typeface="Calibri" pitchFamily="34" charset="-120"/>
              </a:rPr>
              <a:t>The most popular kernel for non-linear data — creates curved, flexible boundaries.</a:t>
            </a:r>
            <a:endParaRPr lang="en-US" sz="1050" dirty="0"/>
          </a:p>
        </p:txBody>
      </p:sp>
      <p:sp>
        <p:nvSpPr>
          <p:cNvPr id="24" name="Shape 22"/>
          <p:cNvSpPr/>
          <p:nvPr/>
        </p:nvSpPr>
        <p:spPr>
          <a:xfrm>
            <a:off x="4782312" y="3163824"/>
            <a:ext cx="4206240" cy="822960"/>
          </a:xfrm>
          <a:prstGeom prst="roundRect">
            <a:avLst>
              <a:gd name="adj" fmla="val 8889"/>
            </a:avLst>
          </a:prstGeom>
          <a:solidFill>
            <a:srgbClr val="132240"/>
          </a:solidFill>
          <a:ln w="6350">
            <a:solidFill>
              <a:srgbClr val="0D9488"/>
            </a:solidFill>
            <a:prstDash val="solid"/>
          </a:ln>
        </p:spPr>
      </p:sp>
      <p:sp>
        <p:nvSpPr>
          <p:cNvPr id="25" name="Text 23"/>
          <p:cNvSpPr/>
          <p:nvPr/>
        </p:nvSpPr>
        <p:spPr>
          <a:xfrm>
            <a:off x="4855464" y="3273552"/>
            <a:ext cx="548640" cy="548640"/>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6" name="Text 24"/>
          <p:cNvSpPr/>
          <p:nvPr/>
        </p:nvSpPr>
        <p:spPr>
          <a:xfrm>
            <a:off x="5495544" y="3236976"/>
            <a:ext cx="3383280" cy="310896"/>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C (Regularization)</a:t>
            </a:r>
            <a:endParaRPr lang="en-US" sz="1300" dirty="0"/>
          </a:p>
        </p:txBody>
      </p:sp>
      <p:sp>
        <p:nvSpPr>
          <p:cNvPr id="27" name="Text 25"/>
          <p:cNvSpPr/>
          <p:nvPr/>
        </p:nvSpPr>
        <p:spPr>
          <a:xfrm>
            <a:off x="5495544" y="3547872"/>
            <a:ext cx="3383280" cy="411480"/>
          </a:xfrm>
          <a:prstGeom prst="rect">
            <a:avLst/>
          </a:prstGeom>
          <a:noFill/>
          <a:ln/>
        </p:spPr>
        <p:txBody>
          <a:bodyPr wrap="square" lIns="0" tIns="0" rIns="0" bIns="0" rtlCol="0" anchor="ctr"/>
          <a:lstStyle/>
          <a:p>
            <a:pPr marL="0" indent="0">
              <a:buNone/>
            </a:pPr>
            <a:r>
              <a:rPr lang="en-US" sz="1050" dirty="0">
                <a:solidFill>
                  <a:srgbClr val="CCFBF1"/>
                </a:solidFill>
                <a:latin typeface="Calibri" pitchFamily="34" charset="0"/>
                <a:ea typeface="Calibri" pitchFamily="34" charset="-122"/>
                <a:cs typeface="Calibri" pitchFamily="34" charset="-120"/>
              </a:rPr>
              <a:t>Controls the trade-off between a wide margin and correctly classifying all training points.</a:t>
            </a:r>
            <a:endParaRPr lang="en-US" sz="1050" dirty="0"/>
          </a:p>
        </p:txBody>
      </p:sp>
      <p:sp>
        <p:nvSpPr>
          <p:cNvPr id="28" name="Shape 26"/>
          <p:cNvSpPr/>
          <p:nvPr/>
        </p:nvSpPr>
        <p:spPr>
          <a:xfrm>
            <a:off x="347472" y="4114800"/>
            <a:ext cx="4206240" cy="822960"/>
          </a:xfrm>
          <a:prstGeom prst="roundRect">
            <a:avLst>
              <a:gd name="adj" fmla="val 8889"/>
            </a:avLst>
          </a:prstGeom>
          <a:solidFill>
            <a:srgbClr val="132240"/>
          </a:solidFill>
          <a:ln w="6350">
            <a:solidFill>
              <a:srgbClr val="0D9488"/>
            </a:solidFill>
            <a:prstDash val="solid"/>
          </a:ln>
        </p:spPr>
      </p:sp>
      <p:sp>
        <p:nvSpPr>
          <p:cNvPr id="29" name="Text 27"/>
          <p:cNvSpPr/>
          <p:nvPr/>
        </p:nvSpPr>
        <p:spPr>
          <a:xfrm>
            <a:off x="420624" y="4224528"/>
            <a:ext cx="548640" cy="548640"/>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0" name="Text 28"/>
          <p:cNvSpPr/>
          <p:nvPr/>
        </p:nvSpPr>
        <p:spPr>
          <a:xfrm>
            <a:off x="1060704" y="4187952"/>
            <a:ext cx="3383280" cy="310896"/>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Slack Variables</a:t>
            </a:r>
            <a:endParaRPr lang="en-US" sz="1300" dirty="0"/>
          </a:p>
        </p:txBody>
      </p:sp>
      <p:sp>
        <p:nvSpPr>
          <p:cNvPr id="31" name="Text 29"/>
          <p:cNvSpPr/>
          <p:nvPr/>
        </p:nvSpPr>
        <p:spPr>
          <a:xfrm>
            <a:off x="1060704" y="4498848"/>
            <a:ext cx="3383280" cy="411480"/>
          </a:xfrm>
          <a:prstGeom prst="rect">
            <a:avLst/>
          </a:prstGeom>
          <a:noFill/>
          <a:ln/>
        </p:spPr>
        <p:txBody>
          <a:bodyPr wrap="square" lIns="0" tIns="0" rIns="0" bIns="0" rtlCol="0" anchor="ctr"/>
          <a:lstStyle/>
          <a:p>
            <a:pPr marL="0" indent="0">
              <a:buNone/>
            </a:pPr>
            <a:r>
              <a:rPr lang="en-US" sz="1050" dirty="0">
                <a:solidFill>
                  <a:srgbClr val="CCFBF1"/>
                </a:solidFill>
                <a:latin typeface="Calibri" pitchFamily="34" charset="0"/>
                <a:ea typeface="Calibri" pitchFamily="34" charset="-122"/>
                <a:cs typeface="Calibri" pitchFamily="34" charset="-120"/>
              </a:rPr>
              <a:t>Allow some misclassifications in 'soft margin' SVM — handles noisy, real-world data.</a:t>
            </a:r>
            <a:endParaRPr lang="en-US" sz="1050" dirty="0"/>
          </a:p>
        </p:txBody>
      </p:sp>
      <p:sp>
        <p:nvSpPr>
          <p:cNvPr id="32" name="Shape 30"/>
          <p:cNvSpPr/>
          <p:nvPr/>
        </p:nvSpPr>
        <p:spPr>
          <a:xfrm>
            <a:off x="4782312" y="4114800"/>
            <a:ext cx="4206240" cy="822960"/>
          </a:xfrm>
          <a:prstGeom prst="roundRect">
            <a:avLst>
              <a:gd name="adj" fmla="val 8889"/>
            </a:avLst>
          </a:prstGeom>
          <a:solidFill>
            <a:srgbClr val="132240"/>
          </a:solidFill>
          <a:ln w="6350">
            <a:solidFill>
              <a:srgbClr val="0D9488"/>
            </a:solidFill>
            <a:prstDash val="solid"/>
          </a:ln>
        </p:spPr>
      </p:sp>
      <p:sp>
        <p:nvSpPr>
          <p:cNvPr id="33" name="Text 31"/>
          <p:cNvSpPr/>
          <p:nvPr/>
        </p:nvSpPr>
        <p:spPr>
          <a:xfrm>
            <a:off x="4855464" y="4224528"/>
            <a:ext cx="548640" cy="548640"/>
          </a:xfrm>
          <a:prstGeom prst="rect">
            <a:avLst/>
          </a:prstGeom>
          <a:noFill/>
          <a:ln/>
        </p:spPr>
        <p:txBody>
          <a:bodyPr wrap="square" lIns="0" tIns="0" rIns="0" bIns="0" rtlCol="0" anchor="ctr"/>
          <a:lstStyle/>
          <a:p>
            <a:pPr marL="0" indent="0" algn="ctr">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34" name="Text 32"/>
          <p:cNvSpPr/>
          <p:nvPr/>
        </p:nvSpPr>
        <p:spPr>
          <a:xfrm>
            <a:off x="5495544" y="4187952"/>
            <a:ext cx="3383280" cy="310896"/>
          </a:xfrm>
          <a:prstGeom prst="rect">
            <a:avLst/>
          </a:prstGeom>
          <a:noFill/>
          <a:ln/>
        </p:spPr>
        <p:txBody>
          <a:bodyPr wrap="square" lIns="0" tIns="0" rIns="0" bIns="0" rtlCol="0" anchor="ctr"/>
          <a:lstStyle/>
          <a:p>
            <a:pPr marL="0" indent="0">
              <a:buNone/>
            </a:pPr>
            <a:r>
              <a:rPr lang="en-US" sz="1300" b="1" dirty="0">
                <a:solidFill>
                  <a:srgbClr val="38BDF8"/>
                </a:solidFill>
                <a:latin typeface="Calibri" pitchFamily="34" charset="0"/>
                <a:ea typeface="Calibri" pitchFamily="34" charset="-122"/>
                <a:cs typeface="Calibri" pitchFamily="34" charset="-120"/>
              </a:rPr>
              <a:t>Hinge Loss</a:t>
            </a:r>
            <a:endParaRPr lang="en-US" sz="1300" dirty="0"/>
          </a:p>
        </p:txBody>
      </p:sp>
      <p:sp>
        <p:nvSpPr>
          <p:cNvPr id="35" name="Text 33"/>
          <p:cNvSpPr/>
          <p:nvPr/>
        </p:nvSpPr>
        <p:spPr>
          <a:xfrm>
            <a:off x="5495544" y="4498848"/>
            <a:ext cx="3383280" cy="411480"/>
          </a:xfrm>
          <a:prstGeom prst="rect">
            <a:avLst/>
          </a:prstGeom>
          <a:noFill/>
          <a:ln/>
        </p:spPr>
        <p:txBody>
          <a:bodyPr wrap="square" lIns="0" tIns="0" rIns="0" bIns="0" rtlCol="0" anchor="ctr"/>
          <a:lstStyle/>
          <a:p>
            <a:pPr marL="0" indent="0">
              <a:buNone/>
            </a:pPr>
            <a:r>
              <a:rPr lang="en-US" sz="1050" dirty="0">
                <a:solidFill>
                  <a:srgbClr val="CCFBF1"/>
                </a:solidFill>
                <a:latin typeface="Calibri" pitchFamily="34" charset="0"/>
                <a:ea typeface="Calibri" pitchFamily="34" charset="-122"/>
                <a:cs typeface="Calibri" pitchFamily="34" charset="-120"/>
              </a:rPr>
              <a:t>The loss function that penalizes misclassified points, guiding the model to find the optimal boundary.</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0F9FF"/>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0D1B3E"/>
          </a:solidFill>
          <a:ln w="12700">
            <a:solidFill>
              <a:srgbClr val="0D1B3E"/>
            </a:solidFill>
            <a:prstDash val="solid"/>
          </a:ln>
        </p:spPr>
      </p:sp>
      <p:sp>
        <p:nvSpPr>
          <p:cNvPr id="3" name="Text 1"/>
          <p:cNvSpPr/>
          <p:nvPr/>
        </p:nvSpPr>
        <p:spPr>
          <a:xfrm>
            <a:off x="457200" y="0"/>
            <a:ext cx="8503920" cy="77724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14  |  When to Use SVM — Pros, Cons &amp; Real-World Uses</a:t>
            </a:r>
            <a:endParaRPr lang="en-US" sz="2000" dirty="0"/>
          </a:p>
        </p:txBody>
      </p:sp>
      <p:sp>
        <p:nvSpPr>
          <p:cNvPr id="4" name="Shape 2"/>
          <p:cNvSpPr/>
          <p:nvPr/>
        </p:nvSpPr>
        <p:spPr>
          <a:xfrm>
            <a:off x="347472" y="914400"/>
            <a:ext cx="2606040" cy="3429000"/>
          </a:xfrm>
          <a:prstGeom prst="roundRect">
            <a:avLst>
              <a:gd name="adj" fmla="val 3509"/>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5" name="Shape 3"/>
          <p:cNvSpPr/>
          <p:nvPr/>
        </p:nvSpPr>
        <p:spPr>
          <a:xfrm>
            <a:off x="347472" y="914400"/>
            <a:ext cx="2606040" cy="475488"/>
          </a:xfrm>
          <a:prstGeom prst="roundRect">
            <a:avLst>
              <a:gd name="adj" fmla="val 19231"/>
            </a:avLst>
          </a:prstGeom>
          <a:solidFill>
            <a:srgbClr val="0D9488"/>
          </a:solidFill>
          <a:ln w="12700">
            <a:solidFill>
              <a:srgbClr val="0D9488"/>
            </a:solidFill>
            <a:prstDash val="solid"/>
          </a:ln>
        </p:spPr>
      </p:sp>
      <p:sp>
        <p:nvSpPr>
          <p:cNvPr id="6" name="Text 4"/>
          <p:cNvSpPr/>
          <p:nvPr/>
        </p:nvSpPr>
        <p:spPr>
          <a:xfrm>
            <a:off x="365760" y="914400"/>
            <a:ext cx="2569464"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PROS</a:t>
            </a:r>
            <a:endParaRPr lang="en-US" sz="1400" dirty="0"/>
          </a:p>
        </p:txBody>
      </p:sp>
      <p:sp>
        <p:nvSpPr>
          <p:cNvPr id="7" name="Text 5"/>
          <p:cNvSpPr/>
          <p:nvPr/>
        </p:nvSpPr>
        <p:spPr>
          <a:xfrm>
            <a:off x="438912" y="1463040"/>
            <a:ext cx="2423160" cy="384048"/>
          </a:xfrm>
          <a:prstGeom prst="rect">
            <a:avLst/>
          </a:prstGeom>
          <a:noFill/>
          <a:ln/>
        </p:spPr>
        <p:txBody>
          <a:bodyPr wrap="square" lIns="25400" tIns="25400" rIns="25400" bIns="25400" rtlCol="0" anchor="ctr"/>
          <a:lstStyle/>
          <a:p>
            <a:pPr marL="0" indent="0">
              <a:buNone/>
            </a:pPr>
            <a:r>
              <a:rPr lang="en-US" sz="1150" b="1" dirty="0">
                <a:solidFill>
                  <a:srgbClr val="0D9488"/>
                </a:solidFill>
                <a:latin typeface="Calibri" pitchFamily="34" charset="0"/>
                <a:ea typeface="Calibri" pitchFamily="34" charset="-122"/>
                <a:cs typeface="Calibri" pitchFamily="34" charset="-120"/>
              </a:rPr>
              <a:t>✔  </a:t>
            </a:r>
            <a:r>
              <a:rPr lang="en-US" sz="1150" dirty="0">
                <a:solidFill>
                  <a:srgbClr val="334155"/>
                </a:solidFill>
                <a:latin typeface="Calibri" pitchFamily="34" charset="0"/>
                <a:ea typeface="Calibri" pitchFamily="34" charset="-122"/>
                <a:cs typeface="Calibri" pitchFamily="34" charset="-120"/>
              </a:rPr>
              <a:t>Works great with high-dimensional data</a:t>
            </a:r>
            <a:endParaRPr lang="en-US" sz="1150" dirty="0"/>
          </a:p>
        </p:txBody>
      </p:sp>
      <p:sp>
        <p:nvSpPr>
          <p:cNvPr id="8" name="Text 6"/>
          <p:cNvSpPr/>
          <p:nvPr/>
        </p:nvSpPr>
        <p:spPr>
          <a:xfrm>
            <a:off x="438912" y="1883664"/>
            <a:ext cx="2423160" cy="384048"/>
          </a:xfrm>
          <a:prstGeom prst="rect">
            <a:avLst/>
          </a:prstGeom>
          <a:noFill/>
          <a:ln/>
        </p:spPr>
        <p:txBody>
          <a:bodyPr wrap="square" lIns="25400" tIns="25400" rIns="25400" bIns="25400" rtlCol="0" anchor="ctr"/>
          <a:lstStyle/>
          <a:p>
            <a:pPr marL="0" indent="0">
              <a:buNone/>
            </a:pPr>
            <a:r>
              <a:rPr lang="en-US" sz="1150" b="1" dirty="0">
                <a:solidFill>
                  <a:srgbClr val="0D9488"/>
                </a:solidFill>
                <a:latin typeface="Calibri" pitchFamily="34" charset="0"/>
                <a:ea typeface="Calibri" pitchFamily="34" charset="-122"/>
                <a:cs typeface="Calibri" pitchFamily="34" charset="-120"/>
              </a:rPr>
              <a:t>✔  </a:t>
            </a:r>
            <a:r>
              <a:rPr lang="en-US" sz="1150" dirty="0">
                <a:solidFill>
                  <a:srgbClr val="334155"/>
                </a:solidFill>
                <a:latin typeface="Calibri" pitchFamily="34" charset="0"/>
                <a:ea typeface="Calibri" pitchFamily="34" charset="-122"/>
                <a:cs typeface="Calibri" pitchFamily="34" charset="-120"/>
              </a:rPr>
              <a:t>Effective even with small datasets</a:t>
            </a:r>
            <a:endParaRPr lang="en-US" sz="1150" dirty="0"/>
          </a:p>
        </p:txBody>
      </p:sp>
      <p:sp>
        <p:nvSpPr>
          <p:cNvPr id="9" name="Text 7"/>
          <p:cNvSpPr/>
          <p:nvPr/>
        </p:nvSpPr>
        <p:spPr>
          <a:xfrm>
            <a:off x="438912" y="2304288"/>
            <a:ext cx="2423160" cy="384048"/>
          </a:xfrm>
          <a:prstGeom prst="rect">
            <a:avLst/>
          </a:prstGeom>
          <a:noFill/>
          <a:ln/>
        </p:spPr>
        <p:txBody>
          <a:bodyPr wrap="square" lIns="25400" tIns="25400" rIns="25400" bIns="25400" rtlCol="0" anchor="ctr"/>
          <a:lstStyle/>
          <a:p>
            <a:pPr marL="0" indent="0">
              <a:buNone/>
            </a:pPr>
            <a:r>
              <a:rPr lang="en-US" sz="1150" b="1" dirty="0">
                <a:solidFill>
                  <a:srgbClr val="0D9488"/>
                </a:solidFill>
                <a:latin typeface="Calibri" pitchFamily="34" charset="0"/>
                <a:ea typeface="Calibri" pitchFamily="34" charset="-122"/>
                <a:cs typeface="Calibri" pitchFamily="34" charset="-120"/>
              </a:rPr>
              <a:t>✔  </a:t>
            </a:r>
            <a:r>
              <a:rPr lang="en-US" sz="1150" dirty="0">
                <a:solidFill>
                  <a:srgbClr val="334155"/>
                </a:solidFill>
                <a:latin typeface="Calibri" pitchFamily="34" charset="0"/>
                <a:ea typeface="Calibri" pitchFamily="34" charset="-122"/>
                <a:cs typeface="Calibri" pitchFamily="34" charset="-120"/>
              </a:rPr>
              <a:t>Robust to outliers in data</a:t>
            </a:r>
            <a:endParaRPr lang="en-US" sz="1150" dirty="0"/>
          </a:p>
        </p:txBody>
      </p:sp>
      <p:sp>
        <p:nvSpPr>
          <p:cNvPr id="10" name="Text 8"/>
          <p:cNvSpPr/>
          <p:nvPr/>
        </p:nvSpPr>
        <p:spPr>
          <a:xfrm>
            <a:off x="438912" y="2724912"/>
            <a:ext cx="2423160" cy="384048"/>
          </a:xfrm>
          <a:prstGeom prst="rect">
            <a:avLst/>
          </a:prstGeom>
          <a:noFill/>
          <a:ln/>
        </p:spPr>
        <p:txBody>
          <a:bodyPr wrap="square" lIns="25400" tIns="25400" rIns="25400" bIns="25400" rtlCol="0" anchor="ctr"/>
          <a:lstStyle/>
          <a:p>
            <a:pPr marL="0" indent="0">
              <a:buNone/>
            </a:pPr>
            <a:r>
              <a:rPr lang="en-US" sz="1150" b="1" dirty="0">
                <a:solidFill>
                  <a:srgbClr val="0D9488"/>
                </a:solidFill>
                <a:latin typeface="Calibri" pitchFamily="34" charset="0"/>
                <a:ea typeface="Calibri" pitchFamily="34" charset="-122"/>
                <a:cs typeface="Calibri" pitchFamily="34" charset="-120"/>
              </a:rPr>
              <a:t>✔  </a:t>
            </a:r>
            <a:r>
              <a:rPr lang="en-US" sz="1150" dirty="0">
                <a:solidFill>
                  <a:srgbClr val="334155"/>
                </a:solidFill>
                <a:latin typeface="Calibri" pitchFamily="34" charset="0"/>
                <a:ea typeface="Calibri" pitchFamily="34" charset="-122"/>
                <a:cs typeface="Calibri" pitchFamily="34" charset="-120"/>
              </a:rPr>
              <a:t>Kernel trick handles non-linear data</a:t>
            </a:r>
            <a:endParaRPr lang="en-US" sz="1150" dirty="0"/>
          </a:p>
        </p:txBody>
      </p:sp>
      <p:sp>
        <p:nvSpPr>
          <p:cNvPr id="11" name="Text 9"/>
          <p:cNvSpPr/>
          <p:nvPr/>
        </p:nvSpPr>
        <p:spPr>
          <a:xfrm>
            <a:off x="438912" y="3145536"/>
            <a:ext cx="2423160" cy="384048"/>
          </a:xfrm>
          <a:prstGeom prst="rect">
            <a:avLst/>
          </a:prstGeom>
          <a:noFill/>
          <a:ln/>
        </p:spPr>
        <p:txBody>
          <a:bodyPr wrap="square" lIns="25400" tIns="25400" rIns="25400" bIns="25400" rtlCol="0" anchor="ctr"/>
          <a:lstStyle/>
          <a:p>
            <a:pPr marL="0" indent="0">
              <a:buNone/>
            </a:pPr>
            <a:r>
              <a:rPr lang="en-US" sz="1150" b="1" dirty="0">
                <a:solidFill>
                  <a:srgbClr val="0D9488"/>
                </a:solidFill>
                <a:latin typeface="Calibri" pitchFamily="34" charset="0"/>
                <a:ea typeface="Calibri" pitchFamily="34" charset="-122"/>
                <a:cs typeface="Calibri" pitchFamily="34" charset="-120"/>
              </a:rPr>
              <a:t>✔  </a:t>
            </a:r>
            <a:r>
              <a:rPr lang="en-US" sz="1150" dirty="0">
                <a:solidFill>
                  <a:srgbClr val="334155"/>
                </a:solidFill>
                <a:latin typeface="Calibri" pitchFamily="34" charset="0"/>
                <a:ea typeface="Calibri" pitchFamily="34" charset="-122"/>
                <a:cs typeface="Calibri" pitchFamily="34" charset="-120"/>
              </a:rPr>
              <a:t>Strong mathematical foundations</a:t>
            </a:r>
            <a:endParaRPr lang="en-US" sz="1150" dirty="0"/>
          </a:p>
        </p:txBody>
      </p:sp>
      <p:sp>
        <p:nvSpPr>
          <p:cNvPr id="12" name="Text 10"/>
          <p:cNvSpPr/>
          <p:nvPr/>
        </p:nvSpPr>
        <p:spPr>
          <a:xfrm>
            <a:off x="438912" y="3566160"/>
            <a:ext cx="2423160" cy="384048"/>
          </a:xfrm>
          <a:prstGeom prst="rect">
            <a:avLst/>
          </a:prstGeom>
          <a:noFill/>
          <a:ln/>
        </p:spPr>
        <p:txBody>
          <a:bodyPr wrap="square" lIns="25400" tIns="25400" rIns="25400" bIns="25400" rtlCol="0" anchor="ctr"/>
          <a:lstStyle/>
          <a:p>
            <a:pPr marL="0" indent="0">
              <a:buNone/>
            </a:pPr>
            <a:r>
              <a:rPr lang="en-US" sz="1150" b="1" dirty="0">
                <a:solidFill>
                  <a:srgbClr val="0D9488"/>
                </a:solidFill>
                <a:latin typeface="Calibri" pitchFamily="34" charset="0"/>
                <a:ea typeface="Calibri" pitchFamily="34" charset="-122"/>
                <a:cs typeface="Calibri" pitchFamily="34" charset="-120"/>
              </a:rPr>
              <a:t>✔  </a:t>
            </a:r>
            <a:r>
              <a:rPr lang="en-US" sz="1150" dirty="0">
                <a:solidFill>
                  <a:srgbClr val="334155"/>
                </a:solidFill>
                <a:latin typeface="Calibri" pitchFamily="34" charset="0"/>
                <a:ea typeface="Calibri" pitchFamily="34" charset="-122"/>
                <a:cs typeface="Calibri" pitchFamily="34" charset="-120"/>
              </a:rPr>
              <a:t>Avoids overfitting (wide margin)</a:t>
            </a:r>
            <a:endParaRPr lang="en-US" sz="1150" dirty="0"/>
          </a:p>
        </p:txBody>
      </p:sp>
      <p:sp>
        <p:nvSpPr>
          <p:cNvPr id="13" name="Shape 11"/>
          <p:cNvSpPr/>
          <p:nvPr/>
        </p:nvSpPr>
        <p:spPr>
          <a:xfrm>
            <a:off x="3127248" y="914400"/>
            <a:ext cx="2606040" cy="3429000"/>
          </a:xfrm>
          <a:prstGeom prst="roundRect">
            <a:avLst>
              <a:gd name="adj" fmla="val 3509"/>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14" name="Shape 12"/>
          <p:cNvSpPr/>
          <p:nvPr/>
        </p:nvSpPr>
        <p:spPr>
          <a:xfrm>
            <a:off x="3127248" y="914400"/>
            <a:ext cx="2606040" cy="475488"/>
          </a:xfrm>
          <a:prstGeom prst="roundRect">
            <a:avLst>
              <a:gd name="adj" fmla="val 19231"/>
            </a:avLst>
          </a:prstGeom>
          <a:solidFill>
            <a:srgbClr val="F43F5E"/>
          </a:solidFill>
          <a:ln w="12700">
            <a:solidFill>
              <a:srgbClr val="F43F5E"/>
            </a:solidFill>
            <a:prstDash val="solid"/>
          </a:ln>
        </p:spPr>
      </p:sp>
      <p:sp>
        <p:nvSpPr>
          <p:cNvPr id="15" name="Text 13"/>
          <p:cNvSpPr/>
          <p:nvPr/>
        </p:nvSpPr>
        <p:spPr>
          <a:xfrm>
            <a:off x="3145536" y="914400"/>
            <a:ext cx="2569464" cy="47548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  CONS</a:t>
            </a:r>
            <a:endParaRPr lang="en-US" sz="1400" dirty="0"/>
          </a:p>
        </p:txBody>
      </p:sp>
      <p:sp>
        <p:nvSpPr>
          <p:cNvPr id="16" name="Text 14"/>
          <p:cNvSpPr/>
          <p:nvPr/>
        </p:nvSpPr>
        <p:spPr>
          <a:xfrm>
            <a:off x="3200400" y="1463040"/>
            <a:ext cx="2423160" cy="384048"/>
          </a:xfrm>
          <a:prstGeom prst="rect">
            <a:avLst/>
          </a:prstGeom>
          <a:noFill/>
          <a:ln/>
        </p:spPr>
        <p:txBody>
          <a:bodyPr wrap="square" lIns="25400" tIns="25400" rIns="25400" bIns="25400" rtlCol="0" anchor="ctr"/>
          <a:lstStyle/>
          <a:p>
            <a:pPr marL="0" indent="0">
              <a:buNone/>
            </a:pPr>
            <a:r>
              <a:rPr lang="en-US" sz="1150" b="1" dirty="0">
                <a:solidFill>
                  <a:srgbClr val="F43F5E"/>
                </a:solidFill>
                <a:latin typeface="Calibri" pitchFamily="34" charset="0"/>
                <a:ea typeface="Calibri" pitchFamily="34" charset="-122"/>
                <a:cs typeface="Calibri" pitchFamily="34" charset="-120"/>
              </a:rPr>
              <a:t>✖  </a:t>
            </a:r>
            <a:r>
              <a:rPr lang="en-US" sz="1150" dirty="0">
                <a:solidFill>
                  <a:srgbClr val="334155"/>
                </a:solidFill>
                <a:latin typeface="Calibri" pitchFamily="34" charset="0"/>
                <a:ea typeface="Calibri" pitchFamily="34" charset="-122"/>
                <a:cs typeface="Calibri" pitchFamily="34" charset="-120"/>
              </a:rPr>
              <a:t>Slow on very large datasets</a:t>
            </a:r>
            <a:endParaRPr lang="en-US" sz="1150" dirty="0"/>
          </a:p>
        </p:txBody>
      </p:sp>
      <p:sp>
        <p:nvSpPr>
          <p:cNvPr id="17" name="Text 15"/>
          <p:cNvSpPr/>
          <p:nvPr/>
        </p:nvSpPr>
        <p:spPr>
          <a:xfrm>
            <a:off x="3200400" y="1883664"/>
            <a:ext cx="2423160" cy="384048"/>
          </a:xfrm>
          <a:prstGeom prst="rect">
            <a:avLst/>
          </a:prstGeom>
          <a:noFill/>
          <a:ln/>
        </p:spPr>
        <p:txBody>
          <a:bodyPr wrap="square" lIns="25400" tIns="25400" rIns="25400" bIns="25400" rtlCol="0" anchor="ctr"/>
          <a:lstStyle/>
          <a:p>
            <a:pPr marL="0" indent="0">
              <a:buNone/>
            </a:pPr>
            <a:r>
              <a:rPr lang="en-US" sz="1150" b="1" dirty="0">
                <a:solidFill>
                  <a:srgbClr val="F43F5E"/>
                </a:solidFill>
                <a:latin typeface="Calibri" pitchFamily="34" charset="0"/>
                <a:ea typeface="Calibri" pitchFamily="34" charset="-122"/>
                <a:cs typeface="Calibri" pitchFamily="34" charset="-120"/>
              </a:rPr>
              <a:t>✖  </a:t>
            </a:r>
            <a:r>
              <a:rPr lang="en-US" sz="1150" dirty="0">
                <a:solidFill>
                  <a:srgbClr val="334155"/>
                </a:solidFill>
                <a:latin typeface="Calibri" pitchFamily="34" charset="0"/>
                <a:ea typeface="Calibri" pitchFamily="34" charset="-122"/>
                <a:cs typeface="Calibri" pitchFamily="34" charset="-120"/>
              </a:rPr>
              <a:t>Choosing the right kernel is tricky</a:t>
            </a:r>
            <a:endParaRPr lang="en-US" sz="1150" dirty="0"/>
          </a:p>
        </p:txBody>
      </p:sp>
      <p:sp>
        <p:nvSpPr>
          <p:cNvPr id="18" name="Text 16"/>
          <p:cNvSpPr/>
          <p:nvPr/>
        </p:nvSpPr>
        <p:spPr>
          <a:xfrm>
            <a:off x="3200400" y="2304288"/>
            <a:ext cx="2423160" cy="384048"/>
          </a:xfrm>
          <a:prstGeom prst="rect">
            <a:avLst/>
          </a:prstGeom>
          <a:noFill/>
          <a:ln/>
        </p:spPr>
        <p:txBody>
          <a:bodyPr wrap="square" lIns="25400" tIns="25400" rIns="25400" bIns="25400" rtlCol="0" anchor="ctr"/>
          <a:lstStyle/>
          <a:p>
            <a:pPr marL="0" indent="0">
              <a:buNone/>
            </a:pPr>
            <a:r>
              <a:rPr lang="en-US" sz="1150" b="1" dirty="0">
                <a:solidFill>
                  <a:srgbClr val="F43F5E"/>
                </a:solidFill>
                <a:latin typeface="Calibri" pitchFamily="34" charset="0"/>
                <a:ea typeface="Calibri" pitchFamily="34" charset="-122"/>
                <a:cs typeface="Calibri" pitchFamily="34" charset="-120"/>
              </a:rPr>
              <a:t>✖  </a:t>
            </a:r>
            <a:r>
              <a:rPr lang="en-US" sz="1150" dirty="0">
                <a:solidFill>
                  <a:srgbClr val="334155"/>
                </a:solidFill>
                <a:latin typeface="Calibri" pitchFamily="34" charset="0"/>
                <a:ea typeface="Calibri" pitchFamily="34" charset="-122"/>
                <a:cs typeface="Calibri" pitchFamily="34" charset="-120"/>
              </a:rPr>
              <a:t>Very sensitive to feature scaling</a:t>
            </a:r>
            <a:endParaRPr lang="en-US" sz="1150" dirty="0"/>
          </a:p>
        </p:txBody>
      </p:sp>
      <p:sp>
        <p:nvSpPr>
          <p:cNvPr id="19" name="Text 17"/>
          <p:cNvSpPr/>
          <p:nvPr/>
        </p:nvSpPr>
        <p:spPr>
          <a:xfrm>
            <a:off x="3200400" y="2724912"/>
            <a:ext cx="2423160" cy="384048"/>
          </a:xfrm>
          <a:prstGeom prst="rect">
            <a:avLst/>
          </a:prstGeom>
          <a:noFill/>
          <a:ln/>
        </p:spPr>
        <p:txBody>
          <a:bodyPr wrap="square" lIns="25400" tIns="25400" rIns="25400" bIns="25400" rtlCol="0" anchor="ctr"/>
          <a:lstStyle/>
          <a:p>
            <a:pPr marL="0" indent="0">
              <a:buNone/>
            </a:pPr>
            <a:r>
              <a:rPr lang="en-US" sz="1150" b="1" dirty="0">
                <a:solidFill>
                  <a:srgbClr val="F43F5E"/>
                </a:solidFill>
                <a:latin typeface="Calibri" pitchFamily="34" charset="0"/>
                <a:ea typeface="Calibri" pitchFamily="34" charset="-122"/>
                <a:cs typeface="Calibri" pitchFamily="34" charset="-120"/>
              </a:rPr>
              <a:t>✖  </a:t>
            </a:r>
            <a:r>
              <a:rPr lang="en-US" sz="1150" dirty="0">
                <a:solidFill>
                  <a:srgbClr val="334155"/>
                </a:solidFill>
                <a:latin typeface="Calibri" pitchFamily="34" charset="0"/>
                <a:ea typeface="Calibri" pitchFamily="34" charset="-122"/>
                <a:cs typeface="Calibri" pitchFamily="34" charset="-120"/>
              </a:rPr>
              <a:t>Hard to interpret predictions</a:t>
            </a:r>
            <a:endParaRPr lang="en-US" sz="1150" dirty="0"/>
          </a:p>
        </p:txBody>
      </p:sp>
      <p:sp>
        <p:nvSpPr>
          <p:cNvPr id="20" name="Text 18"/>
          <p:cNvSpPr/>
          <p:nvPr/>
        </p:nvSpPr>
        <p:spPr>
          <a:xfrm>
            <a:off x="3200400" y="3145536"/>
            <a:ext cx="2423160" cy="384048"/>
          </a:xfrm>
          <a:prstGeom prst="rect">
            <a:avLst/>
          </a:prstGeom>
          <a:noFill/>
          <a:ln/>
        </p:spPr>
        <p:txBody>
          <a:bodyPr wrap="square" lIns="25400" tIns="25400" rIns="25400" bIns="25400" rtlCol="0" anchor="ctr"/>
          <a:lstStyle/>
          <a:p>
            <a:pPr marL="0" indent="0">
              <a:buNone/>
            </a:pPr>
            <a:r>
              <a:rPr lang="en-US" sz="1150" b="1" dirty="0">
                <a:solidFill>
                  <a:srgbClr val="F43F5E"/>
                </a:solidFill>
                <a:latin typeface="Calibri" pitchFamily="34" charset="0"/>
                <a:ea typeface="Calibri" pitchFamily="34" charset="-122"/>
                <a:cs typeface="Calibri" pitchFamily="34" charset="-120"/>
              </a:rPr>
              <a:t>✖  </a:t>
            </a:r>
            <a:r>
              <a:rPr lang="en-US" sz="1150" dirty="0">
                <a:solidFill>
                  <a:srgbClr val="334155"/>
                </a:solidFill>
                <a:latin typeface="Calibri" pitchFamily="34" charset="0"/>
                <a:ea typeface="Calibri" pitchFamily="34" charset="-122"/>
                <a:cs typeface="Calibri" pitchFamily="34" charset="-120"/>
              </a:rPr>
              <a:t>Memory intensive — stores support vectors</a:t>
            </a:r>
            <a:endParaRPr lang="en-US" sz="1150" dirty="0"/>
          </a:p>
        </p:txBody>
      </p:sp>
      <p:sp>
        <p:nvSpPr>
          <p:cNvPr id="21" name="Text 19"/>
          <p:cNvSpPr/>
          <p:nvPr/>
        </p:nvSpPr>
        <p:spPr>
          <a:xfrm>
            <a:off x="3200400" y="3566160"/>
            <a:ext cx="2423160" cy="384048"/>
          </a:xfrm>
          <a:prstGeom prst="rect">
            <a:avLst/>
          </a:prstGeom>
          <a:noFill/>
          <a:ln/>
        </p:spPr>
        <p:txBody>
          <a:bodyPr wrap="square" lIns="25400" tIns="25400" rIns="25400" bIns="25400" rtlCol="0" anchor="ctr"/>
          <a:lstStyle/>
          <a:p>
            <a:pPr marL="0" indent="0">
              <a:buNone/>
            </a:pPr>
            <a:r>
              <a:rPr lang="en-US" sz="1150" b="1" dirty="0">
                <a:solidFill>
                  <a:srgbClr val="F43F5E"/>
                </a:solidFill>
                <a:latin typeface="Calibri" pitchFamily="34" charset="0"/>
                <a:ea typeface="Calibri" pitchFamily="34" charset="-122"/>
                <a:cs typeface="Calibri" pitchFamily="34" charset="-120"/>
              </a:rPr>
              <a:t>✖  </a:t>
            </a:r>
            <a:r>
              <a:rPr lang="en-US" sz="1150" dirty="0">
                <a:solidFill>
                  <a:srgbClr val="334155"/>
                </a:solidFill>
                <a:latin typeface="Calibri" pitchFamily="34" charset="0"/>
                <a:ea typeface="Calibri" pitchFamily="34" charset="-122"/>
                <a:cs typeface="Calibri" pitchFamily="34" charset="-120"/>
              </a:rPr>
              <a:t>Doesn't handle missing data natively</a:t>
            </a:r>
            <a:endParaRPr lang="en-US" sz="1150" dirty="0"/>
          </a:p>
        </p:txBody>
      </p:sp>
      <p:sp>
        <p:nvSpPr>
          <p:cNvPr id="22" name="Shape 20"/>
          <p:cNvSpPr/>
          <p:nvPr/>
        </p:nvSpPr>
        <p:spPr>
          <a:xfrm>
            <a:off x="5907024" y="914400"/>
            <a:ext cx="2889504" cy="3429000"/>
          </a:xfrm>
          <a:prstGeom prst="roundRect">
            <a:avLst>
              <a:gd name="adj" fmla="val 3165"/>
            </a:avLst>
          </a:prstGeom>
          <a:solidFill>
            <a:srgbClr val="FFFFFF"/>
          </a:solidFill>
          <a:ln w="12700">
            <a:solidFill>
              <a:srgbClr val="E2E8F0"/>
            </a:solidFill>
            <a:prstDash val="solid"/>
          </a:ln>
          <a:effectLst>
            <a:outerShdw blurRad="101600" dist="38100" dir="2700000" algn="bl" rotWithShape="0">
              <a:srgbClr val="000000">
                <a:alpha val="10000"/>
              </a:srgbClr>
            </a:outerShdw>
          </a:effectLst>
        </p:spPr>
      </p:sp>
      <p:sp>
        <p:nvSpPr>
          <p:cNvPr id="23" name="Shape 21"/>
          <p:cNvSpPr/>
          <p:nvPr/>
        </p:nvSpPr>
        <p:spPr>
          <a:xfrm>
            <a:off x="5907024" y="914400"/>
            <a:ext cx="2889504" cy="475488"/>
          </a:xfrm>
          <a:prstGeom prst="roundRect">
            <a:avLst>
              <a:gd name="adj" fmla="val 19231"/>
            </a:avLst>
          </a:prstGeom>
          <a:solidFill>
            <a:srgbClr val="0D1B3E"/>
          </a:solidFill>
          <a:ln w="12700">
            <a:solidFill>
              <a:srgbClr val="0D1B3E"/>
            </a:solidFill>
            <a:prstDash val="solid"/>
          </a:ln>
        </p:spPr>
      </p:sp>
      <p:sp>
        <p:nvSpPr>
          <p:cNvPr id="24" name="Text 22"/>
          <p:cNvSpPr/>
          <p:nvPr/>
        </p:nvSpPr>
        <p:spPr>
          <a:xfrm>
            <a:off x="5925312" y="914400"/>
            <a:ext cx="285292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  REAL-WORLD USES</a:t>
            </a:r>
            <a:endParaRPr lang="en-US" sz="1300" dirty="0"/>
          </a:p>
        </p:txBody>
      </p:sp>
      <p:sp>
        <p:nvSpPr>
          <p:cNvPr id="25" name="Shape 23"/>
          <p:cNvSpPr/>
          <p:nvPr/>
        </p:nvSpPr>
        <p:spPr>
          <a:xfrm>
            <a:off x="5989320" y="1463040"/>
            <a:ext cx="2743200" cy="365760"/>
          </a:xfrm>
          <a:prstGeom prst="roundRect">
            <a:avLst>
              <a:gd name="adj" fmla="val 15000"/>
            </a:avLst>
          </a:prstGeom>
          <a:solidFill>
            <a:srgbClr val="F0F9FF"/>
          </a:solidFill>
          <a:ln w="12700">
            <a:solidFill>
              <a:srgbClr val="E2E8F0"/>
            </a:solidFill>
            <a:prstDash val="solid"/>
          </a:ln>
        </p:spPr>
      </p:sp>
      <p:sp>
        <p:nvSpPr>
          <p:cNvPr id="26" name="Text 24"/>
          <p:cNvSpPr/>
          <p:nvPr/>
        </p:nvSpPr>
        <p:spPr>
          <a:xfrm>
            <a:off x="6053328" y="1463040"/>
            <a:ext cx="2633472" cy="365760"/>
          </a:xfrm>
          <a:prstGeom prst="rect">
            <a:avLst/>
          </a:prstGeom>
          <a:noFill/>
          <a:ln/>
        </p:spPr>
        <p:txBody>
          <a:bodyPr wrap="square" lIns="50800" tIns="50800" rIns="50800" bIns="5080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  Email spam detection</a:t>
            </a:r>
            <a:endParaRPr lang="en-US" sz="1150" dirty="0"/>
          </a:p>
        </p:txBody>
      </p:sp>
      <p:sp>
        <p:nvSpPr>
          <p:cNvPr id="27" name="Shape 25"/>
          <p:cNvSpPr/>
          <p:nvPr/>
        </p:nvSpPr>
        <p:spPr>
          <a:xfrm>
            <a:off x="5989320" y="1883664"/>
            <a:ext cx="2743200" cy="365760"/>
          </a:xfrm>
          <a:prstGeom prst="roundRect">
            <a:avLst>
              <a:gd name="adj" fmla="val 15000"/>
            </a:avLst>
          </a:prstGeom>
          <a:solidFill>
            <a:srgbClr val="F0F9FF"/>
          </a:solidFill>
          <a:ln w="12700">
            <a:solidFill>
              <a:srgbClr val="E2E8F0"/>
            </a:solidFill>
            <a:prstDash val="solid"/>
          </a:ln>
        </p:spPr>
      </p:sp>
      <p:sp>
        <p:nvSpPr>
          <p:cNvPr id="28" name="Text 26"/>
          <p:cNvSpPr/>
          <p:nvPr/>
        </p:nvSpPr>
        <p:spPr>
          <a:xfrm>
            <a:off x="6053328" y="1883664"/>
            <a:ext cx="2633472" cy="365760"/>
          </a:xfrm>
          <a:prstGeom prst="rect">
            <a:avLst/>
          </a:prstGeom>
          <a:noFill/>
          <a:ln/>
        </p:spPr>
        <p:txBody>
          <a:bodyPr wrap="square" lIns="50800" tIns="50800" rIns="50800" bIns="5080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  Medical diagnosis</a:t>
            </a:r>
            <a:endParaRPr lang="en-US" sz="1150" dirty="0"/>
          </a:p>
        </p:txBody>
      </p:sp>
      <p:sp>
        <p:nvSpPr>
          <p:cNvPr id="29" name="Shape 27"/>
          <p:cNvSpPr/>
          <p:nvPr/>
        </p:nvSpPr>
        <p:spPr>
          <a:xfrm>
            <a:off x="5989320" y="2304288"/>
            <a:ext cx="2743200" cy="365760"/>
          </a:xfrm>
          <a:prstGeom prst="roundRect">
            <a:avLst>
              <a:gd name="adj" fmla="val 15000"/>
            </a:avLst>
          </a:prstGeom>
          <a:solidFill>
            <a:srgbClr val="F0F9FF"/>
          </a:solidFill>
          <a:ln w="12700">
            <a:solidFill>
              <a:srgbClr val="E2E8F0"/>
            </a:solidFill>
            <a:prstDash val="solid"/>
          </a:ln>
        </p:spPr>
      </p:sp>
      <p:sp>
        <p:nvSpPr>
          <p:cNvPr id="30" name="Text 28"/>
          <p:cNvSpPr/>
          <p:nvPr/>
        </p:nvSpPr>
        <p:spPr>
          <a:xfrm>
            <a:off x="6053328" y="2304288"/>
            <a:ext cx="2633472" cy="365760"/>
          </a:xfrm>
          <a:prstGeom prst="rect">
            <a:avLst/>
          </a:prstGeom>
          <a:noFill/>
          <a:ln/>
        </p:spPr>
        <p:txBody>
          <a:bodyPr wrap="square" lIns="50800" tIns="50800" rIns="50800" bIns="5080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  Fraud detection</a:t>
            </a:r>
            <a:endParaRPr lang="en-US" sz="1150" dirty="0"/>
          </a:p>
        </p:txBody>
      </p:sp>
      <p:sp>
        <p:nvSpPr>
          <p:cNvPr id="31" name="Shape 29"/>
          <p:cNvSpPr/>
          <p:nvPr/>
        </p:nvSpPr>
        <p:spPr>
          <a:xfrm>
            <a:off x="5989320" y="2724912"/>
            <a:ext cx="2743200" cy="365760"/>
          </a:xfrm>
          <a:prstGeom prst="roundRect">
            <a:avLst>
              <a:gd name="adj" fmla="val 15000"/>
            </a:avLst>
          </a:prstGeom>
          <a:solidFill>
            <a:srgbClr val="F0F9FF"/>
          </a:solidFill>
          <a:ln w="12700">
            <a:solidFill>
              <a:srgbClr val="E2E8F0"/>
            </a:solidFill>
            <a:prstDash val="solid"/>
          </a:ln>
        </p:spPr>
      </p:sp>
      <p:sp>
        <p:nvSpPr>
          <p:cNvPr id="32" name="Text 30"/>
          <p:cNvSpPr/>
          <p:nvPr/>
        </p:nvSpPr>
        <p:spPr>
          <a:xfrm>
            <a:off x="6053328" y="2724912"/>
            <a:ext cx="2633472" cy="365760"/>
          </a:xfrm>
          <a:prstGeom prst="rect">
            <a:avLst/>
          </a:prstGeom>
          <a:noFill/>
          <a:ln/>
        </p:spPr>
        <p:txBody>
          <a:bodyPr wrap="square" lIns="50800" tIns="50800" rIns="50800" bIns="5080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  Text &amp; sentiment analysis</a:t>
            </a:r>
            <a:endParaRPr lang="en-US" sz="1150" dirty="0"/>
          </a:p>
        </p:txBody>
      </p:sp>
      <p:sp>
        <p:nvSpPr>
          <p:cNvPr id="33" name="Shape 31"/>
          <p:cNvSpPr/>
          <p:nvPr/>
        </p:nvSpPr>
        <p:spPr>
          <a:xfrm>
            <a:off x="5989320" y="3145536"/>
            <a:ext cx="2743200" cy="365760"/>
          </a:xfrm>
          <a:prstGeom prst="roundRect">
            <a:avLst>
              <a:gd name="adj" fmla="val 15000"/>
            </a:avLst>
          </a:prstGeom>
          <a:solidFill>
            <a:srgbClr val="F0F9FF"/>
          </a:solidFill>
          <a:ln w="12700">
            <a:solidFill>
              <a:srgbClr val="E2E8F0"/>
            </a:solidFill>
            <a:prstDash val="solid"/>
          </a:ln>
        </p:spPr>
      </p:sp>
      <p:sp>
        <p:nvSpPr>
          <p:cNvPr id="34" name="Text 32"/>
          <p:cNvSpPr/>
          <p:nvPr/>
        </p:nvSpPr>
        <p:spPr>
          <a:xfrm>
            <a:off x="6053328" y="3145536"/>
            <a:ext cx="2633472" cy="365760"/>
          </a:xfrm>
          <a:prstGeom prst="rect">
            <a:avLst/>
          </a:prstGeom>
          <a:noFill/>
          <a:ln/>
        </p:spPr>
        <p:txBody>
          <a:bodyPr wrap="square" lIns="50800" tIns="50800" rIns="50800" bIns="5080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  Image recognition</a:t>
            </a:r>
            <a:endParaRPr lang="en-US" sz="1150" dirty="0"/>
          </a:p>
        </p:txBody>
      </p:sp>
      <p:sp>
        <p:nvSpPr>
          <p:cNvPr id="35" name="Shape 33"/>
          <p:cNvSpPr/>
          <p:nvPr/>
        </p:nvSpPr>
        <p:spPr>
          <a:xfrm>
            <a:off x="5989320" y="3566160"/>
            <a:ext cx="2743200" cy="365760"/>
          </a:xfrm>
          <a:prstGeom prst="roundRect">
            <a:avLst>
              <a:gd name="adj" fmla="val 15000"/>
            </a:avLst>
          </a:prstGeom>
          <a:solidFill>
            <a:srgbClr val="F0F9FF"/>
          </a:solidFill>
          <a:ln w="12700">
            <a:solidFill>
              <a:srgbClr val="E2E8F0"/>
            </a:solidFill>
            <a:prstDash val="solid"/>
          </a:ln>
        </p:spPr>
      </p:sp>
      <p:sp>
        <p:nvSpPr>
          <p:cNvPr id="36" name="Text 34"/>
          <p:cNvSpPr/>
          <p:nvPr/>
        </p:nvSpPr>
        <p:spPr>
          <a:xfrm>
            <a:off x="6053328" y="3566160"/>
            <a:ext cx="2633472" cy="365760"/>
          </a:xfrm>
          <a:prstGeom prst="rect">
            <a:avLst/>
          </a:prstGeom>
          <a:noFill/>
          <a:ln/>
        </p:spPr>
        <p:txBody>
          <a:bodyPr wrap="square" lIns="50800" tIns="50800" rIns="50800" bIns="50800" rtlCol="0" anchor="ctr"/>
          <a:lstStyle/>
          <a:p>
            <a:pPr marL="0" indent="0">
              <a:buNone/>
            </a:pPr>
            <a:r>
              <a:rPr lang="en-US" sz="1150" dirty="0">
                <a:solidFill>
                  <a:srgbClr val="334155"/>
                </a:solidFill>
                <a:latin typeface="Calibri" pitchFamily="34" charset="0"/>
                <a:ea typeface="Calibri" pitchFamily="34" charset="-122"/>
                <a:cs typeface="Calibri" pitchFamily="34" charset="-120"/>
              </a:rPr>
              <a:t>📞  Customer churn prediction</a:t>
            </a:r>
            <a:endParaRPr lang="en-US" sz="1150" dirty="0"/>
          </a:p>
        </p:txBody>
      </p:sp>
      <p:sp>
        <p:nvSpPr>
          <p:cNvPr id="37" name="Shape 35"/>
          <p:cNvSpPr/>
          <p:nvPr/>
        </p:nvSpPr>
        <p:spPr>
          <a:xfrm>
            <a:off x="365760" y="4477512"/>
            <a:ext cx="8449056" cy="475488"/>
          </a:xfrm>
          <a:prstGeom prst="roundRect">
            <a:avLst>
              <a:gd name="adj" fmla="val 15385"/>
            </a:avLst>
          </a:prstGeom>
          <a:solidFill>
            <a:srgbClr val="F59E0B">
              <a:alpha val="15000"/>
            </a:srgbClr>
          </a:solidFill>
          <a:ln w="12700">
            <a:solidFill>
              <a:srgbClr val="F59E0B"/>
            </a:solidFill>
            <a:prstDash val="solid"/>
          </a:ln>
        </p:spPr>
      </p:sp>
      <p:sp>
        <p:nvSpPr>
          <p:cNvPr id="38" name="Text 36"/>
          <p:cNvSpPr/>
          <p:nvPr/>
        </p:nvSpPr>
        <p:spPr>
          <a:xfrm>
            <a:off x="438912" y="4480560"/>
            <a:ext cx="8229600" cy="475488"/>
          </a:xfrm>
          <a:prstGeom prst="rect">
            <a:avLst/>
          </a:prstGeom>
          <a:noFill/>
          <a:ln/>
        </p:spPr>
        <p:txBody>
          <a:bodyPr wrap="square" lIns="76200" tIns="76200" rIns="76200" bIns="76200" rtlCol="0" anchor="ctr"/>
          <a:lstStyle/>
          <a:p>
            <a:pPr marL="0" indent="0">
              <a:buNone/>
            </a:pPr>
            <a:r>
              <a:rPr lang="en-US" sz="1200" b="1" dirty="0">
                <a:solidFill>
                  <a:srgbClr val="334155"/>
                </a:solidFill>
                <a:latin typeface="Calibri" pitchFamily="34" charset="0"/>
                <a:ea typeface="Calibri" pitchFamily="34" charset="-122"/>
                <a:cs typeface="Calibri" pitchFamily="34" charset="-120"/>
              </a:rPr>
              <a:t>💡  Rule of thumb: Try SVM when your dataset is small-to-medium, has many features, and classification accuracy is the priority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9">
    <p:bg>
      <p:bgPr>
        <a:solidFill>
          <a:srgbClr val="0D1B3E"/>
        </a:solidFill>
        <a:effectLst/>
      </p:bgPr>
    </p:bg>
    <p:spTree>
      <p:nvGrpSpPr>
        <p:cNvPr id="1" name=""/>
        <p:cNvGrpSpPr/>
        <p:nvPr/>
      </p:nvGrpSpPr>
      <p:grpSpPr>
        <a:xfrm>
          <a:off x="0" y="0"/>
          <a:ext cx="0" cy="0"/>
          <a:chOff x="0" y="0"/>
          <a:chExt cx="0" cy="0"/>
        </a:xfrm>
      </p:grpSpPr>
      <p:sp>
        <p:nvSpPr>
          <p:cNvPr id="2" name="Shape 0"/>
          <p:cNvSpPr/>
          <p:nvPr/>
        </p:nvSpPr>
        <p:spPr>
          <a:xfrm>
            <a:off x="6858000" y="-457200"/>
            <a:ext cx="3200400" cy="3200400"/>
          </a:xfrm>
          <a:prstGeom prst="ellipse">
            <a:avLst/>
          </a:prstGeom>
          <a:solidFill>
            <a:srgbClr val="0D9488">
              <a:alpha val="15000"/>
            </a:srgbClr>
          </a:solidFill>
          <a:ln w="12700">
            <a:solidFill>
              <a:srgbClr val="0D9488"/>
            </a:solidFill>
            <a:prstDash val="solid"/>
          </a:ln>
        </p:spPr>
      </p:sp>
      <p:sp>
        <p:nvSpPr>
          <p:cNvPr id="3" name="Shape 1"/>
          <p:cNvSpPr/>
          <p:nvPr/>
        </p:nvSpPr>
        <p:spPr>
          <a:xfrm>
            <a:off x="-731520" y="3200400"/>
            <a:ext cx="2743200" cy="2743200"/>
          </a:xfrm>
          <a:prstGeom prst="ellipse">
            <a:avLst/>
          </a:prstGeom>
          <a:solidFill>
            <a:srgbClr val="38BDF8">
              <a:alpha val="12000"/>
            </a:srgbClr>
          </a:solidFill>
          <a:ln w="12700">
            <a:solidFill>
              <a:srgbClr val="38BDF8"/>
            </a:solidFill>
            <a:prstDash val="solid"/>
          </a:ln>
        </p:spPr>
      </p:sp>
      <p:sp>
        <p:nvSpPr>
          <p:cNvPr id="4" name="Text 2"/>
          <p:cNvSpPr/>
          <p:nvPr/>
        </p:nvSpPr>
        <p:spPr>
          <a:xfrm>
            <a:off x="548640" y="256032"/>
            <a:ext cx="7772400" cy="621792"/>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Summary</a:t>
            </a:r>
            <a:endParaRPr lang="en-US" sz="3600" dirty="0"/>
          </a:p>
        </p:txBody>
      </p:sp>
      <p:sp>
        <p:nvSpPr>
          <p:cNvPr id="5" name="Text 3"/>
          <p:cNvSpPr/>
          <p:nvPr/>
        </p:nvSpPr>
        <p:spPr>
          <a:xfrm>
            <a:off x="548640" y="877824"/>
            <a:ext cx="7772400" cy="384048"/>
          </a:xfrm>
          <a:prstGeom prst="rect">
            <a:avLst/>
          </a:prstGeom>
          <a:noFill/>
          <a:ln/>
        </p:spPr>
        <p:txBody>
          <a:bodyPr wrap="square" lIns="0" tIns="0" rIns="0" bIns="0" rtlCol="0" anchor="ctr"/>
          <a:lstStyle/>
          <a:p>
            <a:pPr marL="0" indent="0">
              <a:buNone/>
            </a:pPr>
            <a:r>
              <a:rPr lang="en-US" sz="1400" i="1" dirty="0">
                <a:solidFill>
                  <a:srgbClr val="CCFBF1"/>
                </a:solidFill>
                <a:latin typeface="Calibri" pitchFamily="34" charset="0"/>
                <a:ea typeface="Calibri" pitchFamily="34" charset="-122"/>
                <a:cs typeface="Calibri" pitchFamily="34" charset="-120"/>
              </a:rPr>
              <a:t>Everything you need to remember about Support Vector Machines</a:t>
            </a:r>
            <a:endParaRPr lang="en-US" sz="1400" dirty="0"/>
          </a:p>
        </p:txBody>
      </p:sp>
      <p:sp>
        <p:nvSpPr>
          <p:cNvPr id="6" name="Shape 4"/>
          <p:cNvSpPr/>
          <p:nvPr/>
        </p:nvSpPr>
        <p:spPr>
          <a:xfrm>
            <a:off x="384048" y="1389888"/>
            <a:ext cx="4224528" cy="932688"/>
          </a:xfrm>
          <a:prstGeom prst="roundRect">
            <a:avLst>
              <a:gd name="adj" fmla="val 9804"/>
            </a:avLst>
          </a:prstGeom>
          <a:solidFill>
            <a:srgbClr val="132240"/>
          </a:solidFill>
          <a:ln w="8890">
            <a:solidFill>
              <a:srgbClr val="0D9488"/>
            </a:solidFill>
            <a:prstDash val="solid"/>
          </a:ln>
        </p:spPr>
      </p:sp>
      <p:sp>
        <p:nvSpPr>
          <p:cNvPr id="7" name="Text 5"/>
          <p:cNvSpPr/>
          <p:nvPr/>
        </p:nvSpPr>
        <p:spPr>
          <a:xfrm>
            <a:off x="475488" y="1463040"/>
            <a:ext cx="658368" cy="658368"/>
          </a:xfrm>
          <a:prstGeom prst="rect">
            <a:avLst/>
          </a:prstGeom>
          <a:noFill/>
          <a:ln/>
        </p:spPr>
        <p:txBody>
          <a:bodyPr wrap="square" lIns="0" tIns="0" rIns="0" bIns="0"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8" name="Text 6"/>
          <p:cNvSpPr/>
          <p:nvPr/>
        </p:nvSpPr>
        <p:spPr>
          <a:xfrm>
            <a:off x="1188720" y="1463040"/>
            <a:ext cx="3310128" cy="777240"/>
          </a:xfrm>
          <a:prstGeom prst="rect">
            <a:avLst/>
          </a:prstGeom>
          <a:noFill/>
          <a:ln/>
        </p:spPr>
        <p:txBody>
          <a:bodyPr wrap="square" lIns="25400" tIns="25400" rIns="25400" bIns="25400" rtlCol="0" anchor="ctr"/>
          <a:lstStyle/>
          <a:p>
            <a:pPr marL="0" indent="0">
              <a:buNone/>
            </a:pPr>
            <a:r>
              <a:rPr lang="en-US" sz="1200" dirty="0">
                <a:solidFill>
                  <a:srgbClr val="CCFBF1"/>
                </a:solidFill>
                <a:latin typeface="Calibri" pitchFamily="34" charset="0"/>
                <a:ea typeface="Calibri" pitchFamily="34" charset="-122"/>
                <a:cs typeface="Calibri" pitchFamily="34" charset="-120"/>
              </a:rPr>
              <a:t>SVM finds the BEST dividing line (hyperplane) between two groups of data</a:t>
            </a:r>
            <a:endParaRPr lang="en-US" sz="1200" dirty="0"/>
          </a:p>
        </p:txBody>
      </p:sp>
      <p:sp>
        <p:nvSpPr>
          <p:cNvPr id="9" name="Shape 7"/>
          <p:cNvSpPr/>
          <p:nvPr/>
        </p:nvSpPr>
        <p:spPr>
          <a:xfrm>
            <a:off x="4791456" y="1389888"/>
            <a:ext cx="4224528" cy="932688"/>
          </a:xfrm>
          <a:prstGeom prst="roundRect">
            <a:avLst>
              <a:gd name="adj" fmla="val 9804"/>
            </a:avLst>
          </a:prstGeom>
          <a:solidFill>
            <a:srgbClr val="132240"/>
          </a:solidFill>
          <a:ln w="8890">
            <a:solidFill>
              <a:srgbClr val="0D9488"/>
            </a:solidFill>
            <a:prstDash val="solid"/>
          </a:ln>
        </p:spPr>
      </p:sp>
      <p:sp>
        <p:nvSpPr>
          <p:cNvPr id="10" name="Text 8"/>
          <p:cNvSpPr/>
          <p:nvPr/>
        </p:nvSpPr>
        <p:spPr>
          <a:xfrm>
            <a:off x="4882896" y="1463040"/>
            <a:ext cx="658368" cy="658368"/>
          </a:xfrm>
          <a:prstGeom prst="rect">
            <a:avLst/>
          </a:prstGeom>
          <a:noFill/>
          <a:ln/>
        </p:spPr>
        <p:txBody>
          <a:bodyPr wrap="square" lIns="0" tIns="0" rIns="0" bIns="0"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1" name="Text 9"/>
          <p:cNvSpPr/>
          <p:nvPr/>
        </p:nvSpPr>
        <p:spPr>
          <a:xfrm>
            <a:off x="5596128" y="1463040"/>
            <a:ext cx="3310128" cy="777240"/>
          </a:xfrm>
          <a:prstGeom prst="rect">
            <a:avLst/>
          </a:prstGeom>
          <a:noFill/>
          <a:ln/>
        </p:spPr>
        <p:txBody>
          <a:bodyPr wrap="square" lIns="25400" tIns="25400" rIns="25400" bIns="25400" rtlCol="0" anchor="ctr"/>
          <a:lstStyle/>
          <a:p>
            <a:pPr marL="0" indent="0">
              <a:buNone/>
            </a:pPr>
            <a:r>
              <a:rPr lang="en-US" sz="1200" dirty="0">
                <a:solidFill>
                  <a:srgbClr val="CCFBF1"/>
                </a:solidFill>
                <a:latin typeface="Calibri" pitchFamily="34" charset="0"/>
                <a:ea typeface="Calibri" pitchFamily="34" charset="-122"/>
                <a:cs typeface="Calibri" pitchFamily="34" charset="-120"/>
              </a:rPr>
              <a:t>It maximises the MARGIN — the widest possible gap between classes</a:t>
            </a:r>
            <a:endParaRPr lang="en-US" sz="1200" dirty="0"/>
          </a:p>
        </p:txBody>
      </p:sp>
      <p:sp>
        <p:nvSpPr>
          <p:cNvPr id="12" name="Shape 10"/>
          <p:cNvSpPr/>
          <p:nvPr/>
        </p:nvSpPr>
        <p:spPr>
          <a:xfrm>
            <a:off x="384048" y="2468880"/>
            <a:ext cx="4224528" cy="932688"/>
          </a:xfrm>
          <a:prstGeom prst="roundRect">
            <a:avLst>
              <a:gd name="adj" fmla="val 9804"/>
            </a:avLst>
          </a:prstGeom>
          <a:solidFill>
            <a:srgbClr val="132240"/>
          </a:solidFill>
          <a:ln w="8890">
            <a:solidFill>
              <a:srgbClr val="0D9488"/>
            </a:solidFill>
            <a:prstDash val="solid"/>
          </a:ln>
        </p:spPr>
      </p:sp>
      <p:sp>
        <p:nvSpPr>
          <p:cNvPr id="13" name="Text 11"/>
          <p:cNvSpPr/>
          <p:nvPr/>
        </p:nvSpPr>
        <p:spPr>
          <a:xfrm>
            <a:off x="475488" y="2542032"/>
            <a:ext cx="658368" cy="658368"/>
          </a:xfrm>
          <a:prstGeom prst="rect">
            <a:avLst/>
          </a:prstGeom>
          <a:noFill/>
          <a:ln/>
        </p:spPr>
        <p:txBody>
          <a:bodyPr wrap="square" lIns="0" tIns="0" rIns="0" bIns="0"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4" name="Text 12"/>
          <p:cNvSpPr/>
          <p:nvPr/>
        </p:nvSpPr>
        <p:spPr>
          <a:xfrm>
            <a:off x="1188720" y="2542032"/>
            <a:ext cx="3310128" cy="777240"/>
          </a:xfrm>
          <a:prstGeom prst="rect">
            <a:avLst/>
          </a:prstGeom>
          <a:noFill/>
          <a:ln/>
        </p:spPr>
        <p:txBody>
          <a:bodyPr wrap="square" lIns="25400" tIns="25400" rIns="25400" bIns="25400" rtlCol="0" anchor="ctr"/>
          <a:lstStyle/>
          <a:p>
            <a:pPr marL="0" indent="0">
              <a:buNone/>
            </a:pPr>
            <a:r>
              <a:rPr lang="en-US" sz="1200" dirty="0">
                <a:solidFill>
                  <a:srgbClr val="CCFBF1"/>
                </a:solidFill>
                <a:latin typeface="Calibri" pitchFamily="34" charset="0"/>
                <a:ea typeface="Calibri" pitchFamily="34" charset="-122"/>
                <a:cs typeface="Calibri" pitchFamily="34" charset="-120"/>
              </a:rPr>
              <a:t>Only SUPPORT VECTORS (closest points) define the boundary — the rest don't matter</a:t>
            </a:r>
            <a:endParaRPr lang="en-US" sz="1200" dirty="0"/>
          </a:p>
        </p:txBody>
      </p:sp>
      <p:sp>
        <p:nvSpPr>
          <p:cNvPr id="15" name="Shape 13"/>
          <p:cNvSpPr/>
          <p:nvPr/>
        </p:nvSpPr>
        <p:spPr>
          <a:xfrm>
            <a:off x="4791456" y="2468880"/>
            <a:ext cx="4224528" cy="932688"/>
          </a:xfrm>
          <a:prstGeom prst="roundRect">
            <a:avLst>
              <a:gd name="adj" fmla="val 9804"/>
            </a:avLst>
          </a:prstGeom>
          <a:solidFill>
            <a:srgbClr val="132240"/>
          </a:solidFill>
          <a:ln w="8890">
            <a:solidFill>
              <a:srgbClr val="0D9488"/>
            </a:solidFill>
            <a:prstDash val="solid"/>
          </a:ln>
        </p:spPr>
      </p:sp>
      <p:sp>
        <p:nvSpPr>
          <p:cNvPr id="16" name="Text 14"/>
          <p:cNvSpPr/>
          <p:nvPr/>
        </p:nvSpPr>
        <p:spPr>
          <a:xfrm>
            <a:off x="4882896" y="2542032"/>
            <a:ext cx="658368" cy="658368"/>
          </a:xfrm>
          <a:prstGeom prst="rect">
            <a:avLst/>
          </a:prstGeom>
          <a:noFill/>
          <a:ln/>
        </p:spPr>
        <p:txBody>
          <a:bodyPr wrap="square" lIns="0" tIns="0" rIns="0" bIns="0"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17" name="Text 15"/>
          <p:cNvSpPr/>
          <p:nvPr/>
        </p:nvSpPr>
        <p:spPr>
          <a:xfrm>
            <a:off x="5596128" y="2542032"/>
            <a:ext cx="3310128" cy="777240"/>
          </a:xfrm>
          <a:prstGeom prst="rect">
            <a:avLst/>
          </a:prstGeom>
          <a:noFill/>
          <a:ln/>
        </p:spPr>
        <p:txBody>
          <a:bodyPr wrap="square" lIns="25400" tIns="25400" rIns="25400" bIns="25400" rtlCol="0" anchor="ctr"/>
          <a:lstStyle/>
          <a:p>
            <a:pPr marL="0" indent="0">
              <a:buNone/>
            </a:pPr>
            <a:r>
              <a:rPr lang="en-US" sz="1200" dirty="0">
                <a:solidFill>
                  <a:srgbClr val="CCFBF1"/>
                </a:solidFill>
                <a:latin typeface="Calibri" pitchFamily="34" charset="0"/>
                <a:ea typeface="Calibri" pitchFamily="34" charset="-122"/>
                <a:cs typeface="Calibri" pitchFamily="34" charset="-120"/>
              </a:rPr>
              <a:t>The KERNEL TRICK lifts data into higher dimensions for non-linear problems</a:t>
            </a:r>
            <a:endParaRPr lang="en-US" sz="1200" dirty="0"/>
          </a:p>
        </p:txBody>
      </p:sp>
      <p:sp>
        <p:nvSpPr>
          <p:cNvPr id="18" name="Shape 16"/>
          <p:cNvSpPr/>
          <p:nvPr/>
        </p:nvSpPr>
        <p:spPr>
          <a:xfrm>
            <a:off x="384048" y="3547872"/>
            <a:ext cx="4224528" cy="932688"/>
          </a:xfrm>
          <a:prstGeom prst="roundRect">
            <a:avLst>
              <a:gd name="adj" fmla="val 9804"/>
            </a:avLst>
          </a:prstGeom>
          <a:solidFill>
            <a:srgbClr val="132240"/>
          </a:solidFill>
          <a:ln w="8890">
            <a:solidFill>
              <a:srgbClr val="0D9488"/>
            </a:solidFill>
            <a:prstDash val="solid"/>
          </a:ln>
        </p:spPr>
      </p:sp>
      <p:sp>
        <p:nvSpPr>
          <p:cNvPr id="19" name="Text 17"/>
          <p:cNvSpPr/>
          <p:nvPr/>
        </p:nvSpPr>
        <p:spPr>
          <a:xfrm>
            <a:off x="475488" y="3621024"/>
            <a:ext cx="658368" cy="658368"/>
          </a:xfrm>
          <a:prstGeom prst="rect">
            <a:avLst/>
          </a:prstGeom>
          <a:noFill/>
          <a:ln/>
        </p:spPr>
        <p:txBody>
          <a:bodyPr wrap="square" lIns="0" tIns="0" rIns="0" bIns="0"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20" name="Text 18"/>
          <p:cNvSpPr/>
          <p:nvPr/>
        </p:nvSpPr>
        <p:spPr>
          <a:xfrm>
            <a:off x="1188720" y="3621024"/>
            <a:ext cx="3310128" cy="777240"/>
          </a:xfrm>
          <a:prstGeom prst="rect">
            <a:avLst/>
          </a:prstGeom>
          <a:noFill/>
          <a:ln/>
        </p:spPr>
        <p:txBody>
          <a:bodyPr wrap="square" lIns="25400" tIns="25400" rIns="25400" bIns="25400" rtlCol="0" anchor="ctr"/>
          <a:lstStyle/>
          <a:p>
            <a:pPr marL="0" indent="0">
              <a:buNone/>
            </a:pPr>
            <a:r>
              <a:rPr lang="en-US" sz="1200" dirty="0">
                <a:solidFill>
                  <a:srgbClr val="CCFBF1"/>
                </a:solidFill>
                <a:latin typeface="Calibri" pitchFamily="34" charset="0"/>
                <a:ea typeface="Calibri" pitchFamily="34" charset="-122"/>
                <a:cs typeface="Calibri" pitchFamily="34" charset="-120"/>
              </a:rPr>
              <a:t>RBF Kernel is the go-to for complex, real-world datasets</a:t>
            </a:r>
            <a:endParaRPr lang="en-US" sz="1200" dirty="0"/>
          </a:p>
        </p:txBody>
      </p:sp>
      <p:sp>
        <p:nvSpPr>
          <p:cNvPr id="21" name="Shape 19"/>
          <p:cNvSpPr/>
          <p:nvPr/>
        </p:nvSpPr>
        <p:spPr>
          <a:xfrm>
            <a:off x="4791456" y="3547872"/>
            <a:ext cx="4224528" cy="932688"/>
          </a:xfrm>
          <a:prstGeom prst="roundRect">
            <a:avLst>
              <a:gd name="adj" fmla="val 9804"/>
            </a:avLst>
          </a:prstGeom>
          <a:solidFill>
            <a:srgbClr val="132240"/>
          </a:solidFill>
          <a:ln w="8890">
            <a:solidFill>
              <a:srgbClr val="0D9488"/>
            </a:solidFill>
            <a:prstDash val="solid"/>
          </a:ln>
        </p:spPr>
      </p:sp>
      <p:sp>
        <p:nvSpPr>
          <p:cNvPr id="22" name="Text 20"/>
          <p:cNvSpPr/>
          <p:nvPr/>
        </p:nvSpPr>
        <p:spPr>
          <a:xfrm>
            <a:off x="4882896" y="3621024"/>
            <a:ext cx="658368" cy="658368"/>
          </a:xfrm>
          <a:prstGeom prst="rect">
            <a:avLst/>
          </a:prstGeom>
          <a:noFill/>
          <a:ln/>
        </p:spPr>
        <p:txBody>
          <a:bodyPr wrap="square" lIns="0" tIns="0" rIns="0" bIns="0" rtlCol="0" anchor="ctr"/>
          <a:lstStyle/>
          <a:p>
            <a:pPr marL="0" indent="0" algn="ctr">
              <a:buNone/>
            </a:pPr>
            <a:r>
              <a:rPr lang="en-US" sz="2600" dirty="0">
                <a:solidFill>
                  <a:srgbClr val="000000"/>
                </a:solidFill>
                <a:latin typeface="Calibri" pitchFamily="34" charset="0"/>
                <a:ea typeface="Calibri" pitchFamily="34" charset="-122"/>
                <a:cs typeface="Calibri" pitchFamily="34" charset="-120"/>
              </a:rPr>
              <a:t>🎛️</a:t>
            </a:r>
            <a:endParaRPr lang="en-US" sz="2600" dirty="0"/>
          </a:p>
        </p:txBody>
      </p:sp>
      <p:sp>
        <p:nvSpPr>
          <p:cNvPr id="23" name="Text 21"/>
          <p:cNvSpPr/>
          <p:nvPr/>
        </p:nvSpPr>
        <p:spPr>
          <a:xfrm>
            <a:off x="5596128" y="3621024"/>
            <a:ext cx="3310128" cy="777240"/>
          </a:xfrm>
          <a:prstGeom prst="rect">
            <a:avLst/>
          </a:prstGeom>
          <a:noFill/>
          <a:ln/>
        </p:spPr>
        <p:txBody>
          <a:bodyPr wrap="square" lIns="25400" tIns="25400" rIns="25400" bIns="25400" rtlCol="0" anchor="ctr"/>
          <a:lstStyle/>
          <a:p>
            <a:pPr marL="0" indent="0">
              <a:buNone/>
            </a:pPr>
            <a:r>
              <a:rPr lang="en-US" sz="1200" dirty="0">
                <a:solidFill>
                  <a:srgbClr val="CCFBF1"/>
                </a:solidFill>
                <a:latin typeface="Calibri" pitchFamily="34" charset="0"/>
                <a:ea typeface="Calibri" pitchFamily="34" charset="-122"/>
                <a:cs typeface="Calibri" pitchFamily="34" charset="-120"/>
              </a:rPr>
              <a:t>Tune C and Gamma using Grid Search Cross-Validation for best results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2778</Words>
  <Application>Microsoft Office PowerPoint</Application>
  <PresentationFormat>On-screen Show (16:9)</PresentationFormat>
  <Paragraphs>340</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Support Vector Machines – Complete Guide</dc:title>
  <dc:subject>PptxGenJS Presentation</dc:subject>
  <dc:creator>PptxGenJS</dc:creator>
  <cp:lastModifiedBy>Marren Ojode</cp:lastModifiedBy>
  <cp:revision>3</cp:revision>
  <dcterms:created xsi:type="dcterms:W3CDTF">2026-06-27T13:59:38Z</dcterms:created>
  <dcterms:modified xsi:type="dcterms:W3CDTF">2026-07-13T07:45:00Z</dcterms:modified>
</cp:coreProperties>
</file>