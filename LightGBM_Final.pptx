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9" r:id="rId6"/>
    <p:sldId id="260" r:id="rId7"/>
    <p:sldId id="261" r:id="rId8"/>
    <p:sldId id="268" r:id="rId9"/>
    <p:sldId id="264"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1770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4F72"/>
          </a:solidFill>
          <a:ln/>
        </p:spPr>
      </p:sp>
      <p:sp>
        <p:nvSpPr>
          <p:cNvPr id="3" name="Shape 1"/>
          <p:cNvSpPr/>
          <p:nvPr/>
        </p:nvSpPr>
        <p:spPr>
          <a:xfrm>
            <a:off x="0" y="4389120"/>
            <a:ext cx="3291840" cy="754380"/>
          </a:xfrm>
          <a:prstGeom prst="rect">
            <a:avLst/>
          </a:prstGeom>
          <a:solidFill>
            <a:srgbClr val="1ABC9C"/>
          </a:solidFill>
          <a:ln/>
        </p:spPr>
      </p:sp>
      <p:sp>
        <p:nvSpPr>
          <p:cNvPr id="4" name="Text 2"/>
          <p:cNvSpPr/>
          <p:nvPr/>
        </p:nvSpPr>
        <p:spPr>
          <a:xfrm>
            <a:off x="137160" y="365760"/>
            <a:ext cx="3017520" cy="457200"/>
          </a:xfrm>
          <a:prstGeom prst="rect">
            <a:avLst/>
          </a:prstGeom>
          <a:noFill/>
          <a:ln/>
        </p:spPr>
        <p:txBody>
          <a:bodyPr wrap="square" rtlCol="0" anchor="ctr"/>
          <a:lstStyle/>
          <a:p>
            <a:pPr marL="0" indent="0" algn="ctr">
              <a:buNone/>
            </a:pPr>
            <a:r>
              <a:rPr lang="en-US" sz="1100" b="1" kern="0" spc="400" dirty="0">
                <a:solidFill>
                  <a:srgbClr val="AACCDD"/>
                </a:solidFill>
                <a:latin typeface="Calibri" pitchFamily="34" charset="0"/>
                <a:ea typeface="Calibri" pitchFamily="34" charset="-122"/>
                <a:cs typeface="Calibri" pitchFamily="34" charset="-120"/>
              </a:rPr>
              <a:t>ENSEMBLE METHODS</a:t>
            </a:r>
            <a:endParaRPr lang="en-US" sz="1100" dirty="0"/>
          </a:p>
        </p:txBody>
      </p:sp>
      <p:pic>
        <p:nvPicPr>
          <p:cNvPr id="5" name="Image 0" descr="preencoded.png"/>
          <p:cNvPicPr>
            <a:picLocks noChangeAspect="1"/>
          </p:cNvPicPr>
          <p:nvPr/>
        </p:nvPicPr>
        <p:blipFill>
          <a:blip r:embed="rId3"/>
          <a:stretch>
            <a:fillRect/>
          </a:stretch>
        </p:blipFill>
        <p:spPr>
          <a:xfrm>
            <a:off x="822960" y="1005840"/>
            <a:ext cx="1645920" cy="1645920"/>
          </a:xfrm>
          <a:prstGeom prst="rect">
            <a:avLst/>
          </a:prstGeom>
        </p:spPr>
      </p:pic>
      <p:sp>
        <p:nvSpPr>
          <p:cNvPr id="6" name="Text 3"/>
          <p:cNvSpPr/>
          <p:nvPr/>
        </p:nvSpPr>
        <p:spPr>
          <a:xfrm>
            <a:off x="3657600" y="822960"/>
            <a:ext cx="5212080" cy="1280160"/>
          </a:xfrm>
          <a:prstGeom prst="rect">
            <a:avLst/>
          </a:prstGeom>
          <a:noFill/>
          <a:ln/>
        </p:spPr>
        <p:txBody>
          <a:bodyPr wrap="square" lIns="0" tIns="0" rIns="0" bIns="0" rtlCol="0" anchor="ctr"/>
          <a:lstStyle/>
          <a:p>
            <a:pPr marL="0" indent="0" algn="l">
              <a:buNone/>
            </a:pPr>
            <a:r>
              <a:rPr lang="en-US" sz="5200" b="1" dirty="0">
                <a:solidFill>
                  <a:srgbClr val="FFFFFF"/>
                </a:solidFill>
                <a:latin typeface="Cambria" pitchFamily="34" charset="0"/>
                <a:ea typeface="Cambria" pitchFamily="34" charset="-122"/>
                <a:cs typeface="Cambria" pitchFamily="34" charset="-120"/>
              </a:rPr>
              <a:t>LightGBM</a:t>
            </a:r>
            <a:endParaRPr lang="en-US" sz="5200" dirty="0"/>
          </a:p>
        </p:txBody>
      </p:sp>
      <p:sp>
        <p:nvSpPr>
          <p:cNvPr id="7" name="Text 4"/>
          <p:cNvSpPr/>
          <p:nvPr/>
        </p:nvSpPr>
        <p:spPr>
          <a:xfrm>
            <a:off x="3657600" y="2103120"/>
            <a:ext cx="5212080" cy="457200"/>
          </a:xfrm>
          <a:prstGeom prst="rect">
            <a:avLst/>
          </a:prstGeom>
          <a:noFill/>
          <a:ln/>
        </p:spPr>
        <p:txBody>
          <a:bodyPr wrap="square" lIns="0" tIns="0" rIns="0" bIns="0" rtlCol="0" anchor="ctr"/>
          <a:lstStyle/>
          <a:p>
            <a:pPr marL="0" indent="0" algn="l">
              <a:buNone/>
            </a:pPr>
            <a:r>
              <a:rPr lang="en-US" sz="1700" i="1" dirty="0">
                <a:solidFill>
                  <a:srgbClr val="1ABC9C"/>
                </a:solidFill>
                <a:latin typeface="Calibri" pitchFamily="34" charset="0"/>
                <a:ea typeface="Calibri" pitchFamily="34" charset="-122"/>
                <a:cs typeface="Calibri" pitchFamily="34" charset="-120"/>
              </a:rPr>
              <a:t>Light Gradient Boosting Machine</a:t>
            </a:r>
            <a:endParaRPr lang="en-US" sz="1700" dirty="0"/>
          </a:p>
        </p:txBody>
      </p:sp>
      <p:sp>
        <p:nvSpPr>
          <p:cNvPr id="8" name="Text 5"/>
          <p:cNvSpPr/>
          <p:nvPr/>
        </p:nvSpPr>
        <p:spPr>
          <a:xfrm>
            <a:off x="3657600" y="2743200"/>
            <a:ext cx="5212080" cy="822960"/>
          </a:xfrm>
          <a:prstGeom prst="rect">
            <a:avLst/>
          </a:prstGeom>
          <a:noFill/>
          <a:ln/>
        </p:spPr>
        <p:txBody>
          <a:bodyPr wrap="square" lIns="0" tIns="0" rIns="0" bIns="0" rtlCol="0" anchor="ctr"/>
          <a:lstStyle/>
          <a:p>
            <a:pPr marL="0" indent="0" algn="l">
              <a:buNone/>
            </a:pPr>
            <a:r>
              <a:rPr lang="en-US" sz="1400" dirty="0">
                <a:solidFill>
                  <a:srgbClr val="AACCDD"/>
                </a:solidFill>
                <a:latin typeface="Calibri" pitchFamily="34" charset="0"/>
                <a:ea typeface="Calibri" pitchFamily="34" charset="-122"/>
                <a:cs typeface="Calibri" pitchFamily="34" charset="-120"/>
              </a:rPr>
              <a:t>An efficient, scalable gradient boosting</a:t>
            </a:r>
            <a:endParaRPr lang="en-US" sz="1400" dirty="0"/>
          </a:p>
          <a:p>
            <a:pPr marL="0" indent="0" algn="l">
              <a:buNone/>
            </a:pPr>
            <a:r>
              <a:rPr lang="en-US" sz="1400" dirty="0">
                <a:solidFill>
                  <a:srgbClr val="AACCDD"/>
                </a:solidFill>
                <a:latin typeface="Calibri" pitchFamily="34" charset="0"/>
                <a:ea typeface="Calibri" pitchFamily="34" charset="-122"/>
                <a:cs typeface="Calibri" pitchFamily="34" charset="-120"/>
              </a:rPr>
              <a:t>framework by Microsoft</a:t>
            </a:r>
            <a:endParaRPr lang="en-US" sz="1400" dirty="0"/>
          </a:p>
        </p:txBody>
      </p:sp>
      <p:sp>
        <p:nvSpPr>
          <p:cNvPr id="9" name="Text 6"/>
          <p:cNvSpPr/>
          <p:nvPr/>
        </p:nvSpPr>
        <p:spPr>
          <a:xfrm>
            <a:off x="3657600" y="4480560"/>
            <a:ext cx="5212080" cy="365760"/>
          </a:xfrm>
          <a:prstGeom prst="rect">
            <a:avLst/>
          </a:prstGeom>
          <a:noFill/>
          <a:ln/>
        </p:spPr>
        <p:txBody>
          <a:bodyPr wrap="square" lIns="0" tIns="0" rIns="0" bIns="0" rtlCol="0" anchor="ctr"/>
          <a:lstStyle/>
          <a:p>
            <a:pPr marL="0" indent="0" algn="l">
              <a:buNone/>
            </a:pPr>
            <a:r>
              <a:rPr lang="en-US" sz="1200" dirty="0">
                <a:solidFill>
                  <a:srgbClr val="5D7A8A"/>
                </a:solidFill>
                <a:latin typeface="Calibri" pitchFamily="34" charset="0"/>
                <a:ea typeface="Calibri" pitchFamily="34" charset="-122"/>
                <a:cs typeface="Calibri" pitchFamily="34" charset="-120"/>
              </a:rPr>
              <a:t>Classification  ·  Regression  ·  Ranking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HOW LIGHTGBM WORKS</a:t>
            </a:r>
            <a:endParaRPr lang="en-US" sz="2000" dirty="0"/>
          </a:p>
        </p:txBody>
      </p:sp>
      <p:sp>
        <p:nvSpPr>
          <p:cNvPr id="4" name="Shape 2"/>
          <p:cNvSpPr/>
          <p:nvPr/>
        </p:nvSpPr>
        <p:spPr>
          <a:xfrm>
            <a:off x="274320" y="960120"/>
            <a:ext cx="4114800" cy="1188720"/>
          </a:xfrm>
          <a:prstGeom prst="roundRect">
            <a:avLst>
              <a:gd name="adj" fmla="val 6154"/>
            </a:avLst>
          </a:prstGeom>
          <a:solidFill>
            <a:srgbClr val="FFFFFF"/>
          </a:solidFill>
          <a:ln/>
          <a:effectLst>
            <a:outerShdw blurRad="101600" dist="38100" dir="2700000" algn="bl" rotWithShape="0">
              <a:srgbClr val="000000">
                <a:alpha val="12000"/>
              </a:srgbClr>
            </a:outerShdw>
          </a:effectLst>
        </p:spPr>
      </p:sp>
      <p:sp>
        <p:nvSpPr>
          <p:cNvPr id="5" name="Text 3"/>
          <p:cNvSpPr/>
          <p:nvPr/>
        </p:nvSpPr>
        <p:spPr>
          <a:xfrm>
            <a:off x="457200" y="1024128"/>
            <a:ext cx="3749040" cy="320040"/>
          </a:xfrm>
          <a:prstGeom prst="rect">
            <a:avLst/>
          </a:prstGeom>
          <a:noFill/>
          <a:ln/>
        </p:spPr>
        <p:txBody>
          <a:bodyPr wrap="square" rtlCol="0" anchor="ctr"/>
          <a:lstStyle/>
          <a:p>
            <a:pPr marL="0" indent="0">
              <a:buNone/>
            </a:pPr>
            <a:r>
              <a:rPr lang="en-US" sz="1300" b="1" dirty="0">
                <a:solidFill>
                  <a:srgbClr val="1B4F72"/>
                </a:solidFill>
                <a:latin typeface="Cambria" pitchFamily="34" charset="0"/>
                <a:ea typeface="Cambria" pitchFamily="34" charset="-122"/>
                <a:cs typeface="Cambria" pitchFamily="34" charset="-120"/>
              </a:rPr>
              <a:t>What is LightGBM?</a:t>
            </a:r>
            <a:endParaRPr lang="en-US" sz="1300" dirty="0"/>
          </a:p>
        </p:txBody>
      </p:sp>
      <p:sp>
        <p:nvSpPr>
          <p:cNvPr id="6" name="Text 4"/>
          <p:cNvSpPr/>
          <p:nvPr/>
        </p:nvSpPr>
        <p:spPr>
          <a:xfrm>
            <a:off x="457200" y="1344168"/>
            <a:ext cx="3749040" cy="685800"/>
          </a:xfrm>
          <a:prstGeom prst="rect">
            <a:avLst/>
          </a:prstGeom>
          <a:noFill/>
          <a:ln/>
        </p:spPr>
        <p:txBody>
          <a:bodyPr wrap="square" rtlCol="0" anchor="ctr"/>
          <a:lstStyle/>
          <a:p>
            <a:pPr marL="0" indent="0">
              <a:buNone/>
            </a:pPr>
            <a:r>
              <a:rPr lang="en-US" sz="1150" dirty="0">
                <a:solidFill>
                  <a:srgbClr val="1A2A3A"/>
                </a:solidFill>
                <a:latin typeface="Calibri" pitchFamily="34" charset="0"/>
                <a:ea typeface="Calibri" pitchFamily="34" charset="-122"/>
                <a:cs typeface="Calibri" pitchFamily="34" charset="-120"/>
              </a:rPr>
              <a:t>An open-source GBDT framework by Microsoft for classification, regression, and ranking. Optimised for speed, memory, and accuracy.</a:t>
            </a:r>
            <a:endParaRPr lang="en-US" sz="1150" dirty="0"/>
          </a:p>
        </p:txBody>
      </p:sp>
      <p:sp>
        <p:nvSpPr>
          <p:cNvPr id="7" name="Shape 5"/>
          <p:cNvSpPr/>
          <p:nvPr/>
        </p:nvSpPr>
        <p:spPr>
          <a:xfrm>
            <a:off x="274320" y="2286000"/>
            <a:ext cx="4114800" cy="1188720"/>
          </a:xfrm>
          <a:prstGeom prst="roundRect">
            <a:avLst>
              <a:gd name="adj" fmla="val 6154"/>
            </a:avLst>
          </a:prstGeom>
          <a:solidFill>
            <a:srgbClr val="FFFFFF"/>
          </a:solidFill>
          <a:ln/>
          <a:effectLst>
            <a:outerShdw blurRad="101600" dist="38100" dir="2700000" algn="bl" rotWithShape="0">
              <a:srgbClr val="000000">
                <a:alpha val="12000"/>
              </a:srgbClr>
            </a:outerShdw>
          </a:effectLst>
        </p:spPr>
      </p:sp>
      <p:sp>
        <p:nvSpPr>
          <p:cNvPr id="8" name="Text 6"/>
          <p:cNvSpPr/>
          <p:nvPr/>
        </p:nvSpPr>
        <p:spPr>
          <a:xfrm>
            <a:off x="457200" y="2350008"/>
            <a:ext cx="3749040" cy="320040"/>
          </a:xfrm>
          <a:prstGeom prst="rect">
            <a:avLst/>
          </a:prstGeom>
          <a:noFill/>
          <a:ln/>
        </p:spPr>
        <p:txBody>
          <a:bodyPr wrap="square" rtlCol="0" anchor="ctr"/>
          <a:lstStyle/>
          <a:p>
            <a:pPr marL="0" indent="0">
              <a:buNone/>
            </a:pPr>
            <a:r>
              <a:rPr lang="en-US" sz="1300" b="1" dirty="0">
                <a:solidFill>
                  <a:srgbClr val="1B4F72"/>
                </a:solidFill>
                <a:latin typeface="Cambria" pitchFamily="34" charset="0"/>
                <a:ea typeface="Cambria" pitchFamily="34" charset="-122"/>
                <a:cs typeface="Cambria" pitchFamily="34" charset="-120"/>
              </a:rPr>
              <a:t>Boosting Approach</a:t>
            </a:r>
            <a:endParaRPr lang="en-US" sz="1300" dirty="0"/>
          </a:p>
        </p:txBody>
      </p:sp>
      <p:sp>
        <p:nvSpPr>
          <p:cNvPr id="9" name="Text 7"/>
          <p:cNvSpPr/>
          <p:nvPr/>
        </p:nvSpPr>
        <p:spPr>
          <a:xfrm>
            <a:off x="457200" y="2670048"/>
            <a:ext cx="3749040" cy="685800"/>
          </a:xfrm>
          <a:prstGeom prst="rect">
            <a:avLst/>
          </a:prstGeom>
          <a:noFill/>
          <a:ln/>
        </p:spPr>
        <p:txBody>
          <a:bodyPr wrap="square" rtlCol="0" anchor="ctr"/>
          <a:lstStyle/>
          <a:p>
            <a:pPr marL="0" indent="0">
              <a:buNone/>
            </a:pPr>
            <a:r>
              <a:rPr lang="en-US" sz="1150" dirty="0">
                <a:solidFill>
                  <a:srgbClr val="1A2A3A"/>
                </a:solidFill>
                <a:latin typeface="Calibri" pitchFamily="34" charset="0"/>
                <a:ea typeface="Calibri" pitchFamily="34" charset="-122"/>
                <a:cs typeface="Calibri" pitchFamily="34" charset="-120"/>
              </a:rPr>
              <a:t>Sequentially builds decision trees. Each new tree corrects the errors of the previous one by fitting residuals (gradients).</a:t>
            </a:r>
            <a:endParaRPr lang="en-US" sz="1150" dirty="0"/>
          </a:p>
        </p:txBody>
      </p:sp>
      <p:sp>
        <p:nvSpPr>
          <p:cNvPr id="10" name="Shape 8"/>
          <p:cNvSpPr/>
          <p:nvPr/>
        </p:nvSpPr>
        <p:spPr>
          <a:xfrm>
            <a:off x="274320" y="3611880"/>
            <a:ext cx="4114800" cy="1188720"/>
          </a:xfrm>
          <a:prstGeom prst="roundRect">
            <a:avLst>
              <a:gd name="adj" fmla="val 6154"/>
            </a:avLst>
          </a:prstGeom>
          <a:solidFill>
            <a:srgbClr val="FFFFFF"/>
          </a:solidFill>
          <a:ln/>
          <a:effectLst>
            <a:outerShdw blurRad="101600" dist="38100" dir="2700000" algn="bl" rotWithShape="0">
              <a:srgbClr val="000000">
                <a:alpha val="12000"/>
              </a:srgbClr>
            </a:outerShdw>
          </a:effectLst>
        </p:spPr>
      </p:sp>
      <p:sp>
        <p:nvSpPr>
          <p:cNvPr id="11" name="Text 9"/>
          <p:cNvSpPr/>
          <p:nvPr/>
        </p:nvSpPr>
        <p:spPr>
          <a:xfrm>
            <a:off x="457200" y="3675888"/>
            <a:ext cx="3749040" cy="320040"/>
          </a:xfrm>
          <a:prstGeom prst="rect">
            <a:avLst/>
          </a:prstGeom>
          <a:noFill/>
          <a:ln/>
        </p:spPr>
        <p:txBody>
          <a:bodyPr wrap="square" rtlCol="0" anchor="ctr"/>
          <a:lstStyle/>
          <a:p>
            <a:pPr marL="0" indent="0">
              <a:buNone/>
            </a:pPr>
            <a:r>
              <a:rPr lang="en-US" sz="1300" b="1" dirty="0">
                <a:solidFill>
                  <a:srgbClr val="1B4F72"/>
                </a:solidFill>
                <a:latin typeface="Cambria" pitchFamily="34" charset="0"/>
                <a:ea typeface="Cambria" pitchFamily="34" charset="-122"/>
                <a:cs typeface="Cambria" pitchFamily="34" charset="-120"/>
              </a:rPr>
              <a:t>Final Prediction</a:t>
            </a:r>
            <a:endParaRPr lang="en-US" sz="1300" dirty="0"/>
          </a:p>
        </p:txBody>
      </p:sp>
      <p:sp>
        <p:nvSpPr>
          <p:cNvPr id="12" name="Text 10"/>
          <p:cNvSpPr/>
          <p:nvPr/>
        </p:nvSpPr>
        <p:spPr>
          <a:xfrm>
            <a:off x="457200" y="3995928"/>
            <a:ext cx="3749040" cy="685800"/>
          </a:xfrm>
          <a:prstGeom prst="rect">
            <a:avLst/>
          </a:prstGeom>
          <a:noFill/>
          <a:ln/>
        </p:spPr>
        <p:txBody>
          <a:bodyPr wrap="square" rtlCol="0" anchor="ctr"/>
          <a:lstStyle/>
          <a:p>
            <a:pPr marL="0" indent="0">
              <a:buNone/>
            </a:pPr>
            <a:r>
              <a:rPr lang="en-US" sz="1150" dirty="0">
                <a:solidFill>
                  <a:srgbClr val="1A2A3A"/>
                </a:solidFill>
                <a:latin typeface="Calibri" pitchFamily="34" charset="0"/>
                <a:ea typeface="Calibri" pitchFamily="34" charset="-122"/>
                <a:cs typeface="Calibri" pitchFamily="34" charset="-120"/>
              </a:rPr>
              <a:t>F(x) = T₁(x) + T₂(x) + … + Tₙ(x)</a:t>
            </a:r>
            <a:endParaRPr lang="en-US" sz="1150" dirty="0"/>
          </a:p>
          <a:p>
            <a:pPr marL="0" indent="0">
              <a:buNone/>
            </a:pPr>
            <a:r>
              <a:rPr lang="en-US" sz="1150" dirty="0">
                <a:solidFill>
                  <a:srgbClr val="1A2A3A"/>
                </a:solidFill>
                <a:latin typeface="Calibri" pitchFamily="34" charset="0"/>
                <a:ea typeface="Calibri" pitchFamily="34" charset="-122"/>
                <a:cs typeface="Calibri" pitchFamily="34" charset="-120"/>
              </a:rPr>
              <a:t>Sum of all weak learner outputs.</a:t>
            </a:r>
            <a:endParaRPr lang="en-US" sz="1150" dirty="0"/>
          </a:p>
        </p:txBody>
      </p:sp>
      <p:sp>
        <p:nvSpPr>
          <p:cNvPr id="13" name="Text 11"/>
          <p:cNvSpPr/>
          <p:nvPr/>
        </p:nvSpPr>
        <p:spPr>
          <a:xfrm>
            <a:off x="4754880" y="914400"/>
            <a:ext cx="4114800" cy="365760"/>
          </a:xfrm>
          <a:prstGeom prst="rect">
            <a:avLst/>
          </a:prstGeom>
          <a:noFill/>
          <a:ln/>
        </p:spPr>
        <p:txBody>
          <a:bodyPr wrap="square" rtlCol="0" anchor="ctr"/>
          <a:lstStyle/>
          <a:p>
            <a:pPr marL="0" indent="0">
              <a:buNone/>
            </a:pPr>
            <a:r>
              <a:rPr lang="en-US" sz="1400" b="1" dirty="0">
                <a:solidFill>
                  <a:srgbClr val="1B4F72"/>
                </a:solidFill>
                <a:latin typeface="Cambria" pitchFamily="34" charset="0"/>
                <a:ea typeface="Cambria" pitchFamily="34" charset="-122"/>
                <a:cs typeface="Cambria" pitchFamily="34" charset="-120"/>
              </a:rPr>
              <a:t>Sequential Tree Building</a:t>
            </a:r>
            <a:endParaRPr lang="en-US" sz="1400" dirty="0"/>
          </a:p>
        </p:txBody>
      </p:sp>
      <p:sp>
        <p:nvSpPr>
          <p:cNvPr id="14" name="Shape 12"/>
          <p:cNvSpPr/>
          <p:nvPr/>
        </p:nvSpPr>
        <p:spPr>
          <a:xfrm>
            <a:off x="4800600" y="1399032"/>
            <a:ext cx="384048" cy="384048"/>
          </a:xfrm>
          <a:prstGeom prst="ellipse">
            <a:avLst/>
          </a:prstGeom>
          <a:solidFill>
            <a:srgbClr val="1ABC9C"/>
          </a:solidFill>
          <a:ln/>
        </p:spPr>
      </p:sp>
      <p:sp>
        <p:nvSpPr>
          <p:cNvPr id="15" name="Text 13"/>
          <p:cNvSpPr/>
          <p:nvPr/>
        </p:nvSpPr>
        <p:spPr>
          <a:xfrm>
            <a:off x="4800600" y="13990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Shape 14"/>
          <p:cNvSpPr/>
          <p:nvPr/>
        </p:nvSpPr>
        <p:spPr>
          <a:xfrm>
            <a:off x="5303520" y="1371600"/>
            <a:ext cx="3520440" cy="457200"/>
          </a:xfrm>
          <a:prstGeom prst="roundRect">
            <a:avLst>
              <a:gd name="adj" fmla="val 12000"/>
            </a:avLst>
          </a:prstGeom>
          <a:solidFill>
            <a:srgbClr val="E8F4F8"/>
          </a:solidFill>
          <a:ln/>
        </p:spPr>
      </p:sp>
      <p:sp>
        <p:nvSpPr>
          <p:cNvPr id="17" name="Text 15"/>
          <p:cNvSpPr/>
          <p:nvPr/>
        </p:nvSpPr>
        <p:spPr>
          <a:xfrm>
            <a:off x="5394960" y="1371600"/>
            <a:ext cx="3337560" cy="457200"/>
          </a:xfrm>
          <a:prstGeom prst="rect">
            <a:avLst/>
          </a:prstGeom>
          <a:noFill/>
          <a:ln/>
        </p:spPr>
        <p:txBody>
          <a:bodyPr wrap="square" rtlCol="0" anchor="ctr"/>
          <a:lstStyle/>
          <a:p>
            <a:pPr marL="0" indent="0">
              <a:buNone/>
            </a:pPr>
            <a:r>
              <a:rPr lang="en-US" sz="1200" dirty="0">
                <a:solidFill>
                  <a:srgbClr val="1A2A3A"/>
                </a:solidFill>
                <a:latin typeface="Calibri" pitchFamily="34" charset="0"/>
                <a:ea typeface="Calibri" pitchFamily="34" charset="-122"/>
                <a:cs typeface="Calibri" pitchFamily="34" charset="-120"/>
              </a:rPr>
              <a:t>Train first decision tree</a:t>
            </a:r>
            <a:endParaRPr lang="en-US" sz="1200" dirty="0"/>
          </a:p>
        </p:txBody>
      </p:sp>
      <p:sp>
        <p:nvSpPr>
          <p:cNvPr id="18" name="Shape 16"/>
          <p:cNvSpPr/>
          <p:nvPr/>
        </p:nvSpPr>
        <p:spPr>
          <a:xfrm>
            <a:off x="4992624" y="1783080"/>
            <a:ext cx="0" cy="246888"/>
          </a:xfrm>
          <a:prstGeom prst="line">
            <a:avLst/>
          </a:prstGeom>
          <a:noFill/>
          <a:ln w="19050">
            <a:solidFill>
              <a:srgbClr val="5D7A8A"/>
            </a:solidFill>
            <a:prstDash val="solid"/>
          </a:ln>
        </p:spPr>
      </p:sp>
      <p:sp>
        <p:nvSpPr>
          <p:cNvPr id="19" name="Shape 17"/>
          <p:cNvSpPr/>
          <p:nvPr/>
        </p:nvSpPr>
        <p:spPr>
          <a:xfrm>
            <a:off x="4800600" y="2057400"/>
            <a:ext cx="384048" cy="384048"/>
          </a:xfrm>
          <a:prstGeom prst="ellipse">
            <a:avLst/>
          </a:prstGeom>
          <a:solidFill>
            <a:srgbClr val="1ABC9C"/>
          </a:solidFill>
          <a:ln/>
        </p:spPr>
      </p:sp>
      <p:sp>
        <p:nvSpPr>
          <p:cNvPr id="20" name="Text 18"/>
          <p:cNvSpPr/>
          <p:nvPr/>
        </p:nvSpPr>
        <p:spPr>
          <a:xfrm>
            <a:off x="480060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Shape 19"/>
          <p:cNvSpPr/>
          <p:nvPr/>
        </p:nvSpPr>
        <p:spPr>
          <a:xfrm>
            <a:off x="5303520" y="2029968"/>
            <a:ext cx="3520440" cy="457200"/>
          </a:xfrm>
          <a:prstGeom prst="roundRect">
            <a:avLst>
              <a:gd name="adj" fmla="val 12000"/>
            </a:avLst>
          </a:prstGeom>
          <a:solidFill>
            <a:srgbClr val="E8F4F8"/>
          </a:solidFill>
          <a:ln/>
        </p:spPr>
      </p:sp>
      <p:sp>
        <p:nvSpPr>
          <p:cNvPr id="22" name="Text 20"/>
          <p:cNvSpPr/>
          <p:nvPr/>
        </p:nvSpPr>
        <p:spPr>
          <a:xfrm>
            <a:off x="5394960" y="2029968"/>
            <a:ext cx="3337560" cy="457200"/>
          </a:xfrm>
          <a:prstGeom prst="rect">
            <a:avLst/>
          </a:prstGeom>
          <a:noFill/>
          <a:ln/>
        </p:spPr>
        <p:txBody>
          <a:bodyPr wrap="square" rtlCol="0" anchor="ctr"/>
          <a:lstStyle/>
          <a:p>
            <a:pPr marL="0" indent="0">
              <a:buNone/>
            </a:pPr>
            <a:r>
              <a:rPr lang="en-US" sz="1200" dirty="0">
                <a:solidFill>
                  <a:srgbClr val="1A2A3A"/>
                </a:solidFill>
                <a:latin typeface="Calibri" pitchFamily="34" charset="0"/>
                <a:ea typeface="Calibri" pitchFamily="34" charset="-122"/>
                <a:cs typeface="Calibri" pitchFamily="34" charset="-120"/>
              </a:rPr>
              <a:t>Calculate prediction errors</a:t>
            </a:r>
            <a:endParaRPr lang="en-US" sz="1200" dirty="0"/>
          </a:p>
        </p:txBody>
      </p:sp>
      <p:sp>
        <p:nvSpPr>
          <p:cNvPr id="23" name="Shape 21"/>
          <p:cNvSpPr/>
          <p:nvPr/>
        </p:nvSpPr>
        <p:spPr>
          <a:xfrm>
            <a:off x="4992624" y="2441448"/>
            <a:ext cx="0" cy="246888"/>
          </a:xfrm>
          <a:prstGeom prst="line">
            <a:avLst/>
          </a:prstGeom>
          <a:noFill/>
          <a:ln w="19050">
            <a:solidFill>
              <a:srgbClr val="5D7A8A"/>
            </a:solidFill>
            <a:prstDash val="solid"/>
          </a:ln>
        </p:spPr>
      </p:sp>
      <p:sp>
        <p:nvSpPr>
          <p:cNvPr id="24" name="Shape 22"/>
          <p:cNvSpPr/>
          <p:nvPr/>
        </p:nvSpPr>
        <p:spPr>
          <a:xfrm>
            <a:off x="4800600" y="2715768"/>
            <a:ext cx="384048" cy="384048"/>
          </a:xfrm>
          <a:prstGeom prst="ellipse">
            <a:avLst/>
          </a:prstGeom>
          <a:solidFill>
            <a:srgbClr val="1ABC9C"/>
          </a:solidFill>
          <a:ln/>
        </p:spPr>
      </p:sp>
      <p:sp>
        <p:nvSpPr>
          <p:cNvPr id="25" name="Text 23"/>
          <p:cNvSpPr/>
          <p:nvPr/>
        </p:nvSpPr>
        <p:spPr>
          <a:xfrm>
            <a:off x="4800600" y="271576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Shape 24"/>
          <p:cNvSpPr/>
          <p:nvPr/>
        </p:nvSpPr>
        <p:spPr>
          <a:xfrm>
            <a:off x="5303520" y="2688336"/>
            <a:ext cx="3520440" cy="457200"/>
          </a:xfrm>
          <a:prstGeom prst="roundRect">
            <a:avLst>
              <a:gd name="adj" fmla="val 12000"/>
            </a:avLst>
          </a:prstGeom>
          <a:solidFill>
            <a:srgbClr val="E8F4F8"/>
          </a:solidFill>
          <a:ln/>
        </p:spPr>
      </p:sp>
      <p:sp>
        <p:nvSpPr>
          <p:cNvPr id="27" name="Text 25"/>
          <p:cNvSpPr/>
          <p:nvPr/>
        </p:nvSpPr>
        <p:spPr>
          <a:xfrm>
            <a:off x="5394960" y="2688336"/>
            <a:ext cx="3337560" cy="457200"/>
          </a:xfrm>
          <a:prstGeom prst="rect">
            <a:avLst/>
          </a:prstGeom>
          <a:noFill/>
          <a:ln/>
        </p:spPr>
        <p:txBody>
          <a:bodyPr wrap="square" rtlCol="0" anchor="ctr"/>
          <a:lstStyle/>
          <a:p>
            <a:pPr marL="0" indent="0">
              <a:buNone/>
            </a:pPr>
            <a:r>
              <a:rPr lang="en-US" sz="1200" dirty="0">
                <a:solidFill>
                  <a:srgbClr val="1A2A3A"/>
                </a:solidFill>
                <a:latin typeface="Calibri" pitchFamily="34" charset="0"/>
                <a:ea typeface="Calibri" pitchFamily="34" charset="-122"/>
                <a:cs typeface="Calibri" pitchFamily="34" charset="-120"/>
              </a:rPr>
              <a:t>Train next tree on residuals</a:t>
            </a:r>
            <a:endParaRPr lang="en-US" sz="1200" dirty="0"/>
          </a:p>
        </p:txBody>
      </p:sp>
      <p:sp>
        <p:nvSpPr>
          <p:cNvPr id="28" name="Shape 26"/>
          <p:cNvSpPr/>
          <p:nvPr/>
        </p:nvSpPr>
        <p:spPr>
          <a:xfrm>
            <a:off x="4992624" y="3099816"/>
            <a:ext cx="0" cy="246888"/>
          </a:xfrm>
          <a:prstGeom prst="line">
            <a:avLst/>
          </a:prstGeom>
          <a:noFill/>
          <a:ln w="19050">
            <a:solidFill>
              <a:srgbClr val="5D7A8A"/>
            </a:solidFill>
            <a:prstDash val="solid"/>
          </a:ln>
        </p:spPr>
      </p:sp>
      <p:sp>
        <p:nvSpPr>
          <p:cNvPr id="29" name="Shape 27"/>
          <p:cNvSpPr/>
          <p:nvPr/>
        </p:nvSpPr>
        <p:spPr>
          <a:xfrm>
            <a:off x="4800600" y="3374136"/>
            <a:ext cx="384048" cy="384048"/>
          </a:xfrm>
          <a:prstGeom prst="ellipse">
            <a:avLst/>
          </a:prstGeom>
          <a:solidFill>
            <a:srgbClr val="1ABC9C"/>
          </a:solidFill>
          <a:ln/>
        </p:spPr>
      </p:sp>
      <p:sp>
        <p:nvSpPr>
          <p:cNvPr id="30" name="Text 28"/>
          <p:cNvSpPr/>
          <p:nvPr/>
        </p:nvSpPr>
        <p:spPr>
          <a:xfrm>
            <a:off x="4800600" y="337413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Shape 29"/>
          <p:cNvSpPr/>
          <p:nvPr/>
        </p:nvSpPr>
        <p:spPr>
          <a:xfrm>
            <a:off x="5303520" y="3346704"/>
            <a:ext cx="3520440" cy="457200"/>
          </a:xfrm>
          <a:prstGeom prst="roundRect">
            <a:avLst>
              <a:gd name="adj" fmla="val 12000"/>
            </a:avLst>
          </a:prstGeom>
          <a:solidFill>
            <a:srgbClr val="E8F4F8"/>
          </a:solidFill>
          <a:ln/>
        </p:spPr>
      </p:sp>
      <p:sp>
        <p:nvSpPr>
          <p:cNvPr id="32" name="Text 30"/>
          <p:cNvSpPr/>
          <p:nvPr/>
        </p:nvSpPr>
        <p:spPr>
          <a:xfrm>
            <a:off x="5394960" y="3346704"/>
            <a:ext cx="3337560" cy="457200"/>
          </a:xfrm>
          <a:prstGeom prst="rect">
            <a:avLst/>
          </a:prstGeom>
          <a:noFill/>
          <a:ln/>
        </p:spPr>
        <p:txBody>
          <a:bodyPr wrap="square" rtlCol="0" anchor="ctr"/>
          <a:lstStyle/>
          <a:p>
            <a:pPr marL="0" indent="0">
              <a:buNone/>
            </a:pPr>
            <a:r>
              <a:rPr lang="en-US" sz="1200" dirty="0">
                <a:solidFill>
                  <a:srgbClr val="1A2A3A"/>
                </a:solidFill>
                <a:latin typeface="Calibri" pitchFamily="34" charset="0"/>
                <a:ea typeface="Calibri" pitchFamily="34" charset="-122"/>
                <a:cs typeface="Calibri" pitchFamily="34" charset="-120"/>
              </a:rPr>
              <a:t>Repeat until N trees</a:t>
            </a:r>
            <a:endParaRPr lang="en-US" sz="1200" dirty="0"/>
          </a:p>
        </p:txBody>
      </p:sp>
      <p:sp>
        <p:nvSpPr>
          <p:cNvPr id="33" name="Shape 31"/>
          <p:cNvSpPr/>
          <p:nvPr/>
        </p:nvSpPr>
        <p:spPr>
          <a:xfrm>
            <a:off x="4992624" y="3758184"/>
            <a:ext cx="0" cy="246888"/>
          </a:xfrm>
          <a:prstGeom prst="line">
            <a:avLst/>
          </a:prstGeom>
          <a:noFill/>
          <a:ln w="19050">
            <a:solidFill>
              <a:srgbClr val="5D7A8A"/>
            </a:solidFill>
            <a:prstDash val="solid"/>
          </a:ln>
        </p:spPr>
      </p:sp>
      <p:sp>
        <p:nvSpPr>
          <p:cNvPr id="34" name="Shape 32"/>
          <p:cNvSpPr/>
          <p:nvPr/>
        </p:nvSpPr>
        <p:spPr>
          <a:xfrm>
            <a:off x="4800600" y="4032504"/>
            <a:ext cx="384048" cy="384048"/>
          </a:xfrm>
          <a:prstGeom prst="ellipse">
            <a:avLst/>
          </a:prstGeom>
          <a:solidFill>
            <a:srgbClr val="1ABC9C"/>
          </a:solidFill>
          <a:ln/>
        </p:spPr>
      </p:sp>
      <p:sp>
        <p:nvSpPr>
          <p:cNvPr id="35" name="Text 33"/>
          <p:cNvSpPr/>
          <p:nvPr/>
        </p:nvSpPr>
        <p:spPr>
          <a:xfrm>
            <a:off x="4800600" y="40325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6" name="Shape 34"/>
          <p:cNvSpPr/>
          <p:nvPr/>
        </p:nvSpPr>
        <p:spPr>
          <a:xfrm>
            <a:off x="5303520" y="4005072"/>
            <a:ext cx="3520440" cy="457200"/>
          </a:xfrm>
          <a:prstGeom prst="roundRect">
            <a:avLst>
              <a:gd name="adj" fmla="val 12000"/>
            </a:avLst>
          </a:prstGeom>
          <a:solidFill>
            <a:srgbClr val="E8F4F8"/>
          </a:solidFill>
          <a:ln/>
        </p:spPr>
      </p:sp>
      <p:sp>
        <p:nvSpPr>
          <p:cNvPr id="37" name="Text 35"/>
          <p:cNvSpPr/>
          <p:nvPr/>
        </p:nvSpPr>
        <p:spPr>
          <a:xfrm>
            <a:off x="5394960" y="4005072"/>
            <a:ext cx="3337560" cy="457200"/>
          </a:xfrm>
          <a:prstGeom prst="rect">
            <a:avLst/>
          </a:prstGeom>
          <a:noFill/>
          <a:ln/>
        </p:spPr>
        <p:txBody>
          <a:bodyPr wrap="square" rtlCol="0" anchor="ctr"/>
          <a:lstStyle/>
          <a:p>
            <a:pPr marL="0" indent="0">
              <a:buNone/>
            </a:pPr>
            <a:r>
              <a:rPr lang="en-US" sz="1200" dirty="0">
                <a:solidFill>
                  <a:srgbClr val="1A2A3A"/>
                </a:solidFill>
                <a:latin typeface="Calibri" pitchFamily="34" charset="0"/>
                <a:ea typeface="Calibri" pitchFamily="34" charset="-122"/>
                <a:cs typeface="Calibri" pitchFamily="34" charset="-120"/>
              </a:rPr>
              <a:t>Combine all trees for final output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F72"/>
          </a:solidFill>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TREE GROWTH STRATEGY</a:t>
            </a:r>
            <a:endParaRPr lang="en-US" sz="2000" dirty="0"/>
          </a:p>
        </p:txBody>
      </p:sp>
      <p:sp>
        <p:nvSpPr>
          <p:cNvPr id="4" name="Shape 2"/>
          <p:cNvSpPr/>
          <p:nvPr/>
        </p:nvSpPr>
        <p:spPr>
          <a:xfrm>
            <a:off x="274320" y="1005840"/>
            <a:ext cx="4114800" cy="3749040"/>
          </a:xfrm>
          <a:prstGeom prst="roundRect">
            <a:avLst>
              <a:gd name="adj" fmla="val 2439"/>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274320" y="1005840"/>
            <a:ext cx="4114800" cy="685800"/>
          </a:xfrm>
          <a:prstGeom prst="roundRect">
            <a:avLst>
              <a:gd name="adj" fmla="val 13333"/>
            </a:avLst>
          </a:prstGeom>
          <a:solidFill>
            <a:srgbClr val="E67E22"/>
          </a:solidFill>
          <a:ln/>
        </p:spPr>
      </p:sp>
      <p:sp>
        <p:nvSpPr>
          <p:cNvPr id="6" name="Text 4"/>
          <p:cNvSpPr/>
          <p:nvPr/>
        </p:nvSpPr>
        <p:spPr>
          <a:xfrm>
            <a:off x="411480" y="1005840"/>
            <a:ext cx="347472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Level-wise Growth</a:t>
            </a:r>
            <a:endParaRPr lang="en-US" sz="1400" dirty="0"/>
          </a:p>
        </p:txBody>
      </p:sp>
      <p:sp>
        <p:nvSpPr>
          <p:cNvPr id="7" name="Text 5"/>
          <p:cNvSpPr/>
          <p:nvPr/>
        </p:nvSpPr>
        <p:spPr>
          <a:xfrm>
            <a:off x="411480" y="1389888"/>
            <a:ext cx="3474720" cy="274320"/>
          </a:xfrm>
          <a:prstGeom prst="rect">
            <a:avLst/>
          </a:prstGeom>
          <a:noFill/>
          <a:ln/>
        </p:spPr>
        <p:txBody>
          <a:bodyPr wrap="square"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Used by XGBoost</a:t>
            </a:r>
            <a:endParaRPr lang="en-US" sz="1100" dirty="0"/>
          </a:p>
        </p:txBody>
      </p:sp>
      <p:sp>
        <p:nvSpPr>
          <p:cNvPr id="8" name="Text 6"/>
          <p:cNvSpPr/>
          <p:nvPr/>
        </p:nvSpPr>
        <p:spPr>
          <a:xfrm>
            <a:off x="457200" y="1828800"/>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Splits all nodes at same depth equally</a:t>
            </a:r>
            <a:endParaRPr lang="en-US" sz="1200" dirty="0"/>
          </a:p>
        </p:txBody>
      </p:sp>
      <p:sp>
        <p:nvSpPr>
          <p:cNvPr id="9" name="Text 7"/>
          <p:cNvSpPr/>
          <p:nvPr/>
        </p:nvSpPr>
        <p:spPr>
          <a:xfrm>
            <a:off x="457200" y="2395728"/>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Balanced, symmetric trees</a:t>
            </a:r>
            <a:endParaRPr lang="en-US" sz="1200" dirty="0"/>
          </a:p>
        </p:txBody>
      </p:sp>
      <p:sp>
        <p:nvSpPr>
          <p:cNvPr id="10" name="Text 8"/>
          <p:cNvSpPr/>
          <p:nvPr/>
        </p:nvSpPr>
        <p:spPr>
          <a:xfrm>
            <a:off x="457200" y="2962656"/>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More stable — lower overfitting risk</a:t>
            </a:r>
            <a:endParaRPr lang="en-US" sz="1200" dirty="0"/>
          </a:p>
        </p:txBody>
      </p:sp>
      <p:sp>
        <p:nvSpPr>
          <p:cNvPr id="11" name="Text 9"/>
          <p:cNvSpPr/>
          <p:nvPr/>
        </p:nvSpPr>
        <p:spPr>
          <a:xfrm>
            <a:off x="457200" y="3529584"/>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Slower convergence on complex data</a:t>
            </a:r>
            <a:endParaRPr lang="en-US" sz="1200" dirty="0"/>
          </a:p>
        </p:txBody>
      </p:sp>
      <p:sp>
        <p:nvSpPr>
          <p:cNvPr id="12" name="Shape 10"/>
          <p:cNvSpPr/>
          <p:nvPr/>
        </p:nvSpPr>
        <p:spPr>
          <a:xfrm>
            <a:off x="3108960" y="4343400"/>
            <a:ext cx="1005840" cy="274320"/>
          </a:xfrm>
          <a:prstGeom prst="roundRect">
            <a:avLst>
              <a:gd name="adj" fmla="val 16667"/>
            </a:avLst>
          </a:prstGeom>
          <a:solidFill>
            <a:srgbClr val="E67E22"/>
          </a:solidFill>
          <a:ln/>
        </p:spPr>
      </p:sp>
      <p:sp>
        <p:nvSpPr>
          <p:cNvPr id="13" name="Text 11"/>
          <p:cNvSpPr/>
          <p:nvPr/>
        </p:nvSpPr>
        <p:spPr>
          <a:xfrm>
            <a:off x="3108960" y="4343400"/>
            <a:ext cx="100584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Balanced</a:t>
            </a:r>
            <a:endParaRPr lang="en-US" sz="1000" dirty="0"/>
          </a:p>
        </p:txBody>
      </p:sp>
      <p:sp>
        <p:nvSpPr>
          <p:cNvPr id="14" name="Shape 12"/>
          <p:cNvSpPr/>
          <p:nvPr/>
        </p:nvSpPr>
        <p:spPr>
          <a:xfrm>
            <a:off x="4754880" y="1005840"/>
            <a:ext cx="4114800" cy="3749040"/>
          </a:xfrm>
          <a:prstGeom prst="roundRect">
            <a:avLst>
              <a:gd name="adj" fmla="val 2439"/>
            </a:avLst>
          </a:prstGeom>
          <a:solidFill>
            <a:srgbClr val="FFFFFF"/>
          </a:solidFill>
          <a:ln/>
          <a:effectLst>
            <a:outerShdw blurRad="101600" dist="38100" dir="2700000" algn="bl" rotWithShape="0">
              <a:srgbClr val="000000">
                <a:alpha val="12000"/>
              </a:srgbClr>
            </a:outerShdw>
          </a:effectLst>
        </p:spPr>
      </p:sp>
      <p:sp>
        <p:nvSpPr>
          <p:cNvPr id="15" name="Shape 13"/>
          <p:cNvSpPr/>
          <p:nvPr/>
        </p:nvSpPr>
        <p:spPr>
          <a:xfrm>
            <a:off x="4754880" y="1005840"/>
            <a:ext cx="4114800" cy="685800"/>
          </a:xfrm>
          <a:prstGeom prst="roundRect">
            <a:avLst>
              <a:gd name="adj" fmla="val 13333"/>
            </a:avLst>
          </a:prstGeom>
          <a:solidFill>
            <a:srgbClr val="1ABC9C"/>
          </a:solidFill>
          <a:ln/>
        </p:spPr>
      </p:sp>
      <p:sp>
        <p:nvSpPr>
          <p:cNvPr id="16" name="Text 14"/>
          <p:cNvSpPr/>
          <p:nvPr/>
        </p:nvSpPr>
        <p:spPr>
          <a:xfrm>
            <a:off x="4892040" y="1005840"/>
            <a:ext cx="347472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Leaf-wise Growth</a:t>
            </a:r>
            <a:endParaRPr lang="en-US" sz="1400" dirty="0"/>
          </a:p>
        </p:txBody>
      </p:sp>
      <p:sp>
        <p:nvSpPr>
          <p:cNvPr id="17" name="Text 15"/>
          <p:cNvSpPr/>
          <p:nvPr/>
        </p:nvSpPr>
        <p:spPr>
          <a:xfrm>
            <a:off x="4892040" y="1389888"/>
            <a:ext cx="3474720" cy="274320"/>
          </a:xfrm>
          <a:prstGeom prst="rect">
            <a:avLst/>
          </a:prstGeom>
          <a:noFill/>
          <a:ln/>
        </p:spPr>
        <p:txBody>
          <a:bodyPr wrap="square"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Used by LightGBM ✓</a:t>
            </a:r>
            <a:endParaRPr lang="en-US" sz="1100" dirty="0"/>
          </a:p>
        </p:txBody>
      </p:sp>
      <p:sp>
        <p:nvSpPr>
          <p:cNvPr id="18" name="Text 16"/>
          <p:cNvSpPr/>
          <p:nvPr/>
        </p:nvSpPr>
        <p:spPr>
          <a:xfrm>
            <a:off x="4937760" y="1828800"/>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Splits the leaf with the highest error gain</a:t>
            </a:r>
            <a:endParaRPr lang="en-US" sz="1200" dirty="0"/>
          </a:p>
        </p:txBody>
      </p:sp>
      <p:sp>
        <p:nvSpPr>
          <p:cNvPr id="19" name="Text 17"/>
          <p:cNvSpPr/>
          <p:nvPr/>
        </p:nvSpPr>
        <p:spPr>
          <a:xfrm>
            <a:off x="4937760" y="2395728"/>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Asymmetric, deeper trees</a:t>
            </a:r>
            <a:endParaRPr lang="en-US" sz="1200" dirty="0"/>
          </a:p>
        </p:txBody>
      </p:sp>
      <p:sp>
        <p:nvSpPr>
          <p:cNvPr id="20" name="Text 18"/>
          <p:cNvSpPr/>
          <p:nvPr/>
        </p:nvSpPr>
        <p:spPr>
          <a:xfrm>
            <a:off x="4937760" y="2962656"/>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Faster convergence &amp; higher accuracy</a:t>
            </a:r>
            <a:endParaRPr lang="en-US" sz="1200" dirty="0"/>
          </a:p>
        </p:txBody>
      </p:sp>
      <p:sp>
        <p:nvSpPr>
          <p:cNvPr id="21" name="Text 19"/>
          <p:cNvSpPr/>
          <p:nvPr/>
        </p:nvSpPr>
        <p:spPr>
          <a:xfrm>
            <a:off x="4937760" y="3529584"/>
            <a:ext cx="3749040" cy="502920"/>
          </a:xfrm>
          <a:prstGeom prst="rect">
            <a:avLst/>
          </a:prstGeom>
          <a:noFill/>
          <a:ln/>
        </p:spPr>
        <p:txBody>
          <a:bodyPr wrap="square" rtlCol="0" anchor="ctr"/>
          <a:lstStyle/>
          <a:p>
            <a:pPr marL="342900" indent="-342900">
              <a:buSzPct val="100000"/>
              <a:buChar char="•"/>
            </a:pPr>
            <a:r>
              <a:rPr lang="en-US" sz="1200" dirty="0">
                <a:solidFill>
                  <a:srgbClr val="1A2A3A"/>
                </a:solidFill>
                <a:latin typeface="Calibri" pitchFamily="34" charset="0"/>
                <a:ea typeface="Calibri" pitchFamily="34" charset="-122"/>
                <a:cs typeface="Calibri" pitchFamily="34" charset="-120"/>
              </a:rPr>
              <a:t>May overfit on small datasets</a:t>
            </a:r>
            <a:endParaRPr lang="en-US" sz="1200" dirty="0"/>
          </a:p>
        </p:txBody>
      </p:sp>
      <p:sp>
        <p:nvSpPr>
          <p:cNvPr id="22" name="Shape 20"/>
          <p:cNvSpPr/>
          <p:nvPr/>
        </p:nvSpPr>
        <p:spPr>
          <a:xfrm>
            <a:off x="7589520" y="4343400"/>
            <a:ext cx="1005840" cy="274320"/>
          </a:xfrm>
          <a:prstGeom prst="roundRect">
            <a:avLst>
              <a:gd name="adj" fmla="val 16667"/>
            </a:avLst>
          </a:prstGeom>
          <a:solidFill>
            <a:srgbClr val="1ABC9C"/>
          </a:solidFill>
          <a:ln/>
        </p:spPr>
      </p:sp>
      <p:sp>
        <p:nvSpPr>
          <p:cNvPr id="23" name="Text 21"/>
          <p:cNvSpPr/>
          <p:nvPr/>
        </p:nvSpPr>
        <p:spPr>
          <a:xfrm>
            <a:off x="7589520" y="4343400"/>
            <a:ext cx="100584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Accurate</a:t>
            </a:r>
            <a:endParaRPr lang="en-US" sz="1000" dirty="0"/>
          </a:p>
        </p:txBody>
      </p:sp>
      <p:sp>
        <p:nvSpPr>
          <p:cNvPr id="24" name="Shape 22"/>
          <p:cNvSpPr/>
          <p:nvPr/>
        </p:nvSpPr>
        <p:spPr>
          <a:xfrm>
            <a:off x="4251960" y="2468880"/>
            <a:ext cx="640080" cy="640080"/>
          </a:xfrm>
          <a:prstGeom prst="ellipse">
            <a:avLst/>
          </a:prstGeom>
          <a:solidFill>
            <a:srgbClr val="0D1B2A"/>
          </a:solidFill>
          <a:ln/>
        </p:spPr>
      </p:sp>
      <p:sp>
        <p:nvSpPr>
          <p:cNvPr id="25" name="Text 23"/>
          <p:cNvSpPr/>
          <p:nvPr/>
        </p:nvSpPr>
        <p:spPr>
          <a:xfrm>
            <a:off x="4251960" y="2468880"/>
            <a:ext cx="640080"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KEY FEATURES &amp; ADVANTAGES</a:t>
            </a:r>
            <a:endParaRPr lang="en-US" sz="2000" dirty="0"/>
          </a:p>
        </p:txBody>
      </p:sp>
      <p:sp>
        <p:nvSpPr>
          <p:cNvPr id="3" name="Shape 1"/>
          <p:cNvSpPr/>
          <p:nvPr/>
        </p:nvSpPr>
        <p:spPr>
          <a:xfrm>
            <a:off x="365760" y="777240"/>
            <a:ext cx="8412480" cy="0"/>
          </a:xfrm>
          <a:prstGeom prst="line">
            <a:avLst/>
          </a:prstGeom>
          <a:noFill/>
          <a:ln w="25400">
            <a:solidFill>
              <a:srgbClr val="1ABC9C"/>
            </a:solidFill>
            <a:prstDash val="solid"/>
          </a:ln>
        </p:spPr>
      </p:sp>
      <p:sp>
        <p:nvSpPr>
          <p:cNvPr id="4" name="Shape 2"/>
          <p:cNvSpPr/>
          <p:nvPr/>
        </p:nvSpPr>
        <p:spPr>
          <a:xfrm>
            <a:off x="274320" y="1005840"/>
            <a:ext cx="2743200" cy="1691640"/>
          </a:xfrm>
          <a:prstGeom prst="roundRect">
            <a:avLst>
              <a:gd name="adj" fmla="val 5405"/>
            </a:avLst>
          </a:prstGeom>
          <a:solidFill>
            <a:srgbClr val="152535"/>
          </a:solidFill>
          <a:ln/>
          <a:effectLst>
            <a:outerShdw blurRad="127000" dist="38100" dir="2700000" algn="bl" rotWithShape="0">
              <a:srgbClr val="000000">
                <a:alpha val="30000"/>
              </a:srgbClr>
            </a:outerShdw>
          </a:effectLst>
        </p:spPr>
      </p:sp>
      <p:pic>
        <p:nvPicPr>
          <p:cNvPr id="5" name="Image 0" descr="preencoded.png"/>
          <p:cNvPicPr>
            <a:picLocks noChangeAspect="1"/>
          </p:cNvPicPr>
          <p:nvPr/>
        </p:nvPicPr>
        <p:blipFill>
          <a:blip r:embed="rId3"/>
          <a:stretch>
            <a:fillRect/>
          </a:stretch>
        </p:blipFill>
        <p:spPr>
          <a:xfrm>
            <a:off x="411480" y="1188720"/>
            <a:ext cx="411480" cy="411480"/>
          </a:xfrm>
          <a:prstGeom prst="rect">
            <a:avLst/>
          </a:prstGeom>
        </p:spPr>
      </p:pic>
      <p:sp>
        <p:nvSpPr>
          <p:cNvPr id="6" name="Text 3"/>
          <p:cNvSpPr/>
          <p:nvPr/>
        </p:nvSpPr>
        <p:spPr>
          <a:xfrm>
            <a:off x="914400" y="1170432"/>
            <a:ext cx="1920240" cy="411480"/>
          </a:xfrm>
          <a:prstGeom prst="rect">
            <a:avLst/>
          </a:prstGeom>
          <a:noFill/>
          <a:ln/>
        </p:spPr>
        <p:txBody>
          <a:bodyPr wrap="square" rtlCol="0" anchor="ctr"/>
          <a:lstStyle/>
          <a:p>
            <a:pPr marL="0" indent="0">
              <a:buNone/>
            </a:pPr>
            <a:r>
              <a:rPr lang="en-US" sz="1250" b="1" dirty="0">
                <a:solidFill>
                  <a:srgbClr val="1ABC9C"/>
                </a:solidFill>
                <a:latin typeface="Cambria" pitchFamily="34" charset="0"/>
                <a:ea typeface="Cambria" pitchFamily="34" charset="-122"/>
                <a:cs typeface="Cambria" pitchFamily="34" charset="-120"/>
              </a:rPr>
              <a:t>Histogram Learning</a:t>
            </a:r>
            <a:endParaRPr lang="en-US" sz="1250" dirty="0"/>
          </a:p>
        </p:txBody>
      </p:sp>
      <p:sp>
        <p:nvSpPr>
          <p:cNvPr id="7" name="Text 4"/>
          <p:cNvSpPr/>
          <p:nvPr/>
        </p:nvSpPr>
        <p:spPr>
          <a:xfrm>
            <a:off x="411480" y="1664208"/>
            <a:ext cx="2468880" cy="868680"/>
          </a:xfrm>
          <a:prstGeom prst="rect">
            <a:avLst/>
          </a:prstGeom>
          <a:noFill/>
          <a:ln/>
        </p:spPr>
        <p:txBody>
          <a:bodyPr wrap="square" rtlCol="0" anchor="ctr"/>
          <a:lstStyle/>
          <a:p>
            <a:pPr marL="0" indent="0">
              <a:buNone/>
            </a:pPr>
            <a:r>
              <a:rPr lang="en-US" sz="1100" dirty="0">
                <a:solidFill>
                  <a:srgbClr val="AACCDD"/>
                </a:solidFill>
                <a:latin typeface="Calibri" pitchFamily="34" charset="0"/>
                <a:ea typeface="Calibri" pitchFamily="34" charset="-122"/>
                <a:cs typeface="Calibri" pitchFamily="34" charset="-120"/>
              </a:rPr>
              <a:t>Groups continuous values into bins — speeds up training &amp; cuts memory use.</a:t>
            </a:r>
            <a:endParaRPr lang="en-US" sz="1100" dirty="0"/>
          </a:p>
        </p:txBody>
      </p:sp>
      <p:sp>
        <p:nvSpPr>
          <p:cNvPr id="8" name="Shape 5"/>
          <p:cNvSpPr/>
          <p:nvPr/>
        </p:nvSpPr>
        <p:spPr>
          <a:xfrm>
            <a:off x="3246120" y="1005840"/>
            <a:ext cx="2743200" cy="1691640"/>
          </a:xfrm>
          <a:prstGeom prst="roundRect">
            <a:avLst>
              <a:gd name="adj" fmla="val 5405"/>
            </a:avLst>
          </a:prstGeom>
          <a:solidFill>
            <a:srgbClr val="152535"/>
          </a:solidFill>
          <a:ln/>
          <a:effectLst>
            <a:outerShdw blurRad="127000" dist="38100" dir="2700000" algn="bl" rotWithShape="0">
              <a:srgbClr val="000000">
                <a:alpha val="30000"/>
              </a:srgbClr>
            </a:outerShdw>
          </a:effectLst>
        </p:spPr>
      </p:sp>
      <p:pic>
        <p:nvPicPr>
          <p:cNvPr id="9" name="Image 1" descr="preencoded.png"/>
          <p:cNvPicPr>
            <a:picLocks noChangeAspect="1"/>
          </p:cNvPicPr>
          <p:nvPr/>
        </p:nvPicPr>
        <p:blipFill>
          <a:blip r:embed="rId4"/>
          <a:stretch>
            <a:fillRect/>
          </a:stretch>
        </p:blipFill>
        <p:spPr>
          <a:xfrm>
            <a:off x="3383280" y="1188720"/>
            <a:ext cx="411480" cy="411480"/>
          </a:xfrm>
          <a:prstGeom prst="rect">
            <a:avLst/>
          </a:prstGeom>
        </p:spPr>
      </p:pic>
      <p:sp>
        <p:nvSpPr>
          <p:cNvPr id="10" name="Text 6"/>
          <p:cNvSpPr/>
          <p:nvPr/>
        </p:nvSpPr>
        <p:spPr>
          <a:xfrm>
            <a:off x="3886200" y="1170432"/>
            <a:ext cx="1920240" cy="411480"/>
          </a:xfrm>
          <a:prstGeom prst="rect">
            <a:avLst/>
          </a:prstGeom>
          <a:noFill/>
          <a:ln/>
        </p:spPr>
        <p:txBody>
          <a:bodyPr wrap="square" rtlCol="0" anchor="ctr"/>
          <a:lstStyle/>
          <a:p>
            <a:pPr marL="0" indent="0">
              <a:buNone/>
            </a:pPr>
            <a:r>
              <a:rPr lang="en-US" sz="1250" b="1" dirty="0">
                <a:solidFill>
                  <a:srgbClr val="1ABC9C"/>
                </a:solidFill>
                <a:latin typeface="Cambria" pitchFamily="34" charset="0"/>
                <a:ea typeface="Cambria" pitchFamily="34" charset="-122"/>
                <a:cs typeface="Cambria" pitchFamily="34" charset="-120"/>
              </a:rPr>
              <a:t>GOSS Sampling</a:t>
            </a:r>
          </a:p>
          <a:p>
            <a:pPr marL="0" indent="0">
              <a:buNone/>
            </a:pPr>
            <a:r>
              <a:rPr lang="en-US" sz="1100" b="1" dirty="0">
                <a:solidFill>
                  <a:srgbClr val="1ABC9C"/>
                </a:solidFill>
                <a:latin typeface="Cambria" pitchFamily="34" charset="0"/>
                <a:ea typeface="Cambria" pitchFamily="34" charset="-122"/>
              </a:rPr>
              <a:t>(Gradient-Based One-Side)</a:t>
            </a:r>
            <a:endParaRPr lang="en-US" sz="1100" dirty="0"/>
          </a:p>
        </p:txBody>
      </p:sp>
      <p:sp>
        <p:nvSpPr>
          <p:cNvPr id="11" name="Text 7"/>
          <p:cNvSpPr/>
          <p:nvPr/>
        </p:nvSpPr>
        <p:spPr>
          <a:xfrm>
            <a:off x="3383280" y="1664208"/>
            <a:ext cx="2468880" cy="868680"/>
          </a:xfrm>
          <a:prstGeom prst="rect">
            <a:avLst/>
          </a:prstGeom>
          <a:noFill/>
          <a:ln/>
        </p:spPr>
        <p:txBody>
          <a:bodyPr wrap="square" rtlCol="0" anchor="ctr"/>
          <a:lstStyle/>
          <a:p>
            <a:pPr marL="0" indent="0">
              <a:buNone/>
            </a:pPr>
            <a:r>
              <a:rPr lang="en-US" sz="1100" dirty="0">
                <a:solidFill>
                  <a:srgbClr val="AACCDD"/>
                </a:solidFill>
                <a:latin typeface="Calibri" pitchFamily="34" charset="0"/>
                <a:ea typeface="Calibri" pitchFamily="34" charset="-122"/>
                <a:cs typeface="Calibri" pitchFamily="34" charset="-120"/>
              </a:rPr>
              <a:t>Focuses on the hardest training examples, skipping easy ones for efficiency.</a:t>
            </a:r>
            <a:endParaRPr lang="en-US" sz="1100" dirty="0"/>
          </a:p>
        </p:txBody>
      </p:sp>
      <p:sp>
        <p:nvSpPr>
          <p:cNvPr id="12" name="Shape 8"/>
          <p:cNvSpPr/>
          <p:nvPr/>
        </p:nvSpPr>
        <p:spPr>
          <a:xfrm>
            <a:off x="6217920" y="960119"/>
            <a:ext cx="2743200" cy="1691640"/>
          </a:xfrm>
          <a:prstGeom prst="roundRect">
            <a:avLst>
              <a:gd name="adj" fmla="val 5405"/>
            </a:avLst>
          </a:prstGeom>
          <a:solidFill>
            <a:srgbClr val="152535"/>
          </a:solidFill>
          <a:ln/>
          <a:effectLst>
            <a:outerShdw blurRad="127000" dist="38100" dir="2700000" algn="bl" rotWithShape="0">
              <a:srgbClr val="000000">
                <a:alpha val="30000"/>
              </a:srgbClr>
            </a:outerShdw>
          </a:effectLst>
        </p:spPr>
        <p:txBody>
          <a:bodyPr/>
          <a:lstStyle/>
          <a:p>
            <a:endParaRPr lang="en-US" dirty="0"/>
          </a:p>
        </p:txBody>
      </p:sp>
      <p:pic>
        <p:nvPicPr>
          <p:cNvPr id="13" name="Image 2" descr="preencoded.png"/>
          <p:cNvPicPr>
            <a:picLocks noChangeAspect="1"/>
          </p:cNvPicPr>
          <p:nvPr/>
        </p:nvPicPr>
        <p:blipFill>
          <a:blip r:embed="rId5"/>
          <a:stretch>
            <a:fillRect/>
          </a:stretch>
        </p:blipFill>
        <p:spPr>
          <a:xfrm>
            <a:off x="6355080" y="1188720"/>
            <a:ext cx="411480" cy="411480"/>
          </a:xfrm>
          <a:prstGeom prst="rect">
            <a:avLst/>
          </a:prstGeom>
        </p:spPr>
      </p:pic>
      <p:sp>
        <p:nvSpPr>
          <p:cNvPr id="14" name="Text 9"/>
          <p:cNvSpPr/>
          <p:nvPr/>
        </p:nvSpPr>
        <p:spPr>
          <a:xfrm>
            <a:off x="6858000" y="1170432"/>
            <a:ext cx="1920240" cy="411480"/>
          </a:xfrm>
          <a:prstGeom prst="rect">
            <a:avLst/>
          </a:prstGeom>
          <a:noFill/>
          <a:ln/>
        </p:spPr>
        <p:txBody>
          <a:bodyPr wrap="square" rtlCol="0" anchor="ctr"/>
          <a:lstStyle/>
          <a:p>
            <a:pPr marL="0" indent="0">
              <a:buNone/>
            </a:pPr>
            <a:r>
              <a:rPr lang="en-US" sz="1250" b="1" dirty="0">
                <a:solidFill>
                  <a:srgbClr val="1ABC9C"/>
                </a:solidFill>
                <a:latin typeface="Cambria" pitchFamily="34" charset="0"/>
                <a:ea typeface="Cambria" pitchFamily="34" charset="-122"/>
                <a:cs typeface="Cambria" pitchFamily="34" charset="-120"/>
              </a:rPr>
              <a:t>EFB Bundling</a:t>
            </a:r>
          </a:p>
          <a:p>
            <a:pPr marL="0" indent="0">
              <a:buNone/>
            </a:pPr>
            <a:r>
              <a:rPr lang="en-US" sz="1050" b="1" dirty="0">
                <a:solidFill>
                  <a:srgbClr val="1ABC9C"/>
                </a:solidFill>
                <a:latin typeface="Cambria" pitchFamily="34" charset="0"/>
                <a:ea typeface="Cambria" pitchFamily="34" charset="-122"/>
              </a:rPr>
              <a:t>(Exclusive Feature Bundling)</a:t>
            </a:r>
            <a:endParaRPr lang="en-US" sz="1050" dirty="0"/>
          </a:p>
        </p:txBody>
      </p:sp>
      <p:sp>
        <p:nvSpPr>
          <p:cNvPr id="15" name="Text 10"/>
          <p:cNvSpPr/>
          <p:nvPr/>
        </p:nvSpPr>
        <p:spPr>
          <a:xfrm>
            <a:off x="6355080" y="1664208"/>
            <a:ext cx="2468880" cy="868680"/>
          </a:xfrm>
          <a:prstGeom prst="rect">
            <a:avLst/>
          </a:prstGeom>
          <a:noFill/>
          <a:ln/>
        </p:spPr>
        <p:txBody>
          <a:bodyPr wrap="square" rtlCol="0" anchor="ctr"/>
          <a:lstStyle/>
          <a:p>
            <a:pPr marL="0" indent="0">
              <a:buNone/>
            </a:pPr>
            <a:r>
              <a:rPr lang="en-US" sz="1100" dirty="0">
                <a:solidFill>
                  <a:srgbClr val="AACCDD"/>
                </a:solidFill>
                <a:latin typeface="Calibri" pitchFamily="34" charset="0"/>
                <a:ea typeface="Calibri" pitchFamily="34" charset="-122"/>
                <a:cs typeface="Calibri" pitchFamily="34" charset="-120"/>
              </a:rPr>
              <a:t>Merges mutually exclusive features to shrink dimensionality &amp; compute cost.</a:t>
            </a:r>
            <a:endParaRPr lang="en-US" sz="1100" dirty="0"/>
          </a:p>
        </p:txBody>
      </p:sp>
      <p:sp>
        <p:nvSpPr>
          <p:cNvPr id="16" name="Shape 11"/>
          <p:cNvSpPr/>
          <p:nvPr/>
        </p:nvSpPr>
        <p:spPr>
          <a:xfrm>
            <a:off x="274320" y="2926080"/>
            <a:ext cx="2743200" cy="1691640"/>
          </a:xfrm>
          <a:prstGeom prst="roundRect">
            <a:avLst>
              <a:gd name="adj" fmla="val 5405"/>
            </a:avLst>
          </a:prstGeom>
          <a:solidFill>
            <a:srgbClr val="152535"/>
          </a:solidFill>
          <a:ln/>
          <a:effectLst>
            <a:outerShdw blurRad="127000" dist="38100" dir="2700000" algn="bl" rotWithShape="0">
              <a:srgbClr val="000000">
                <a:alpha val="30000"/>
              </a:srgbClr>
            </a:outerShdw>
          </a:effectLst>
        </p:spPr>
      </p:sp>
      <p:pic>
        <p:nvPicPr>
          <p:cNvPr id="17" name="Image 3" descr="preencoded.png"/>
          <p:cNvPicPr>
            <a:picLocks noChangeAspect="1"/>
          </p:cNvPicPr>
          <p:nvPr/>
        </p:nvPicPr>
        <p:blipFill>
          <a:blip r:embed="rId6"/>
          <a:stretch>
            <a:fillRect/>
          </a:stretch>
        </p:blipFill>
        <p:spPr>
          <a:xfrm>
            <a:off x="411480" y="3108960"/>
            <a:ext cx="411480" cy="411480"/>
          </a:xfrm>
          <a:prstGeom prst="rect">
            <a:avLst/>
          </a:prstGeom>
        </p:spPr>
      </p:pic>
      <p:sp>
        <p:nvSpPr>
          <p:cNvPr id="18" name="Text 12"/>
          <p:cNvSpPr/>
          <p:nvPr/>
        </p:nvSpPr>
        <p:spPr>
          <a:xfrm>
            <a:off x="914400" y="3090672"/>
            <a:ext cx="1920240" cy="411480"/>
          </a:xfrm>
          <a:prstGeom prst="rect">
            <a:avLst/>
          </a:prstGeom>
          <a:noFill/>
          <a:ln/>
        </p:spPr>
        <p:txBody>
          <a:bodyPr wrap="square" rtlCol="0" anchor="ctr"/>
          <a:lstStyle/>
          <a:p>
            <a:pPr marL="0" indent="0">
              <a:buNone/>
            </a:pPr>
            <a:r>
              <a:rPr lang="en-US" sz="1250" b="1" dirty="0">
                <a:solidFill>
                  <a:srgbClr val="1ABC9C"/>
                </a:solidFill>
                <a:latin typeface="Cambria" pitchFamily="34" charset="0"/>
                <a:ea typeface="Cambria" pitchFamily="34" charset="-122"/>
                <a:cs typeface="Cambria" pitchFamily="34" charset="-120"/>
              </a:rPr>
              <a:t>Parallel &amp; GPU</a:t>
            </a:r>
            <a:endParaRPr lang="en-US" sz="1250" dirty="0"/>
          </a:p>
        </p:txBody>
      </p:sp>
      <p:sp>
        <p:nvSpPr>
          <p:cNvPr id="19" name="Text 13"/>
          <p:cNvSpPr/>
          <p:nvPr/>
        </p:nvSpPr>
        <p:spPr>
          <a:xfrm>
            <a:off x="411480" y="3584448"/>
            <a:ext cx="2468880" cy="868680"/>
          </a:xfrm>
          <a:prstGeom prst="rect">
            <a:avLst/>
          </a:prstGeom>
          <a:noFill/>
          <a:ln/>
        </p:spPr>
        <p:txBody>
          <a:bodyPr wrap="square" rtlCol="0" anchor="ctr"/>
          <a:lstStyle/>
          <a:p>
            <a:pPr marL="0" indent="0">
              <a:buNone/>
            </a:pPr>
            <a:r>
              <a:rPr lang="en-US" sz="1100" dirty="0">
                <a:solidFill>
                  <a:srgbClr val="AACCDD"/>
                </a:solidFill>
                <a:latin typeface="Calibri" pitchFamily="34" charset="0"/>
                <a:ea typeface="Calibri" pitchFamily="34" charset="-122"/>
                <a:cs typeface="Calibri" pitchFamily="34" charset="-120"/>
              </a:rPr>
              <a:t>Multi-core CPU and GPU support for massively accelerated training.</a:t>
            </a:r>
            <a:endParaRPr lang="en-US" sz="1100" dirty="0"/>
          </a:p>
        </p:txBody>
      </p:sp>
      <p:sp>
        <p:nvSpPr>
          <p:cNvPr id="20" name="Shape 14"/>
          <p:cNvSpPr/>
          <p:nvPr/>
        </p:nvSpPr>
        <p:spPr>
          <a:xfrm>
            <a:off x="3246120" y="2926080"/>
            <a:ext cx="2743200" cy="1691640"/>
          </a:xfrm>
          <a:prstGeom prst="roundRect">
            <a:avLst>
              <a:gd name="adj" fmla="val 5405"/>
            </a:avLst>
          </a:prstGeom>
          <a:solidFill>
            <a:srgbClr val="152535"/>
          </a:solidFill>
          <a:ln/>
          <a:effectLst>
            <a:outerShdw blurRad="127000" dist="38100" dir="2700000" algn="bl" rotWithShape="0">
              <a:srgbClr val="000000">
                <a:alpha val="30000"/>
              </a:srgbClr>
            </a:outerShdw>
          </a:effectLst>
        </p:spPr>
      </p:sp>
      <p:pic>
        <p:nvPicPr>
          <p:cNvPr id="21" name="Image 4" descr="preencoded.png"/>
          <p:cNvPicPr>
            <a:picLocks noChangeAspect="1"/>
          </p:cNvPicPr>
          <p:nvPr/>
        </p:nvPicPr>
        <p:blipFill>
          <a:blip r:embed="rId7"/>
          <a:stretch>
            <a:fillRect/>
          </a:stretch>
        </p:blipFill>
        <p:spPr>
          <a:xfrm>
            <a:off x="3383280" y="3108960"/>
            <a:ext cx="411480" cy="411480"/>
          </a:xfrm>
          <a:prstGeom prst="rect">
            <a:avLst/>
          </a:prstGeom>
        </p:spPr>
      </p:pic>
      <p:sp>
        <p:nvSpPr>
          <p:cNvPr id="22" name="Text 15"/>
          <p:cNvSpPr/>
          <p:nvPr/>
        </p:nvSpPr>
        <p:spPr>
          <a:xfrm>
            <a:off x="3886200" y="3090672"/>
            <a:ext cx="1920240" cy="411480"/>
          </a:xfrm>
          <a:prstGeom prst="rect">
            <a:avLst/>
          </a:prstGeom>
          <a:noFill/>
          <a:ln/>
        </p:spPr>
        <p:txBody>
          <a:bodyPr wrap="square" rtlCol="0" anchor="ctr"/>
          <a:lstStyle/>
          <a:p>
            <a:pPr marL="0" indent="0">
              <a:buNone/>
            </a:pPr>
            <a:r>
              <a:rPr lang="en-US" sz="1250" b="1" dirty="0">
                <a:solidFill>
                  <a:srgbClr val="1ABC9C"/>
                </a:solidFill>
                <a:latin typeface="Cambria" pitchFamily="34" charset="0"/>
                <a:ea typeface="Cambria" pitchFamily="34" charset="-122"/>
                <a:cs typeface="Cambria" pitchFamily="34" charset="-120"/>
              </a:rPr>
              <a:t>Leaf-wise Growth</a:t>
            </a:r>
            <a:endParaRPr lang="en-US" sz="1250" dirty="0"/>
          </a:p>
        </p:txBody>
      </p:sp>
      <p:sp>
        <p:nvSpPr>
          <p:cNvPr id="23" name="Text 16"/>
          <p:cNvSpPr/>
          <p:nvPr/>
        </p:nvSpPr>
        <p:spPr>
          <a:xfrm>
            <a:off x="3383280" y="3584448"/>
            <a:ext cx="2468880" cy="868680"/>
          </a:xfrm>
          <a:prstGeom prst="rect">
            <a:avLst/>
          </a:prstGeom>
          <a:noFill/>
          <a:ln/>
        </p:spPr>
        <p:txBody>
          <a:bodyPr wrap="square" rtlCol="0" anchor="ctr"/>
          <a:lstStyle/>
          <a:p>
            <a:pPr marL="0" indent="0">
              <a:buNone/>
            </a:pPr>
            <a:r>
              <a:rPr lang="en-US" sz="1100" dirty="0">
                <a:solidFill>
                  <a:srgbClr val="AACCDD"/>
                </a:solidFill>
                <a:latin typeface="Calibri" pitchFamily="34" charset="0"/>
                <a:ea typeface="Calibri" pitchFamily="34" charset="-122"/>
                <a:cs typeface="Calibri" pitchFamily="34" charset="-120"/>
              </a:rPr>
              <a:t>Picks the best-gain leaf at each step — higher accuracy than level-wise.</a:t>
            </a:r>
            <a:endParaRPr lang="en-US" sz="1100" dirty="0"/>
          </a:p>
        </p:txBody>
      </p:sp>
      <p:sp>
        <p:nvSpPr>
          <p:cNvPr id="24" name="Shape 17"/>
          <p:cNvSpPr/>
          <p:nvPr/>
        </p:nvSpPr>
        <p:spPr>
          <a:xfrm>
            <a:off x="6217920" y="2926080"/>
            <a:ext cx="2743200" cy="1691640"/>
          </a:xfrm>
          <a:prstGeom prst="roundRect">
            <a:avLst>
              <a:gd name="adj" fmla="val 5405"/>
            </a:avLst>
          </a:prstGeom>
          <a:solidFill>
            <a:srgbClr val="152535"/>
          </a:solidFill>
          <a:ln/>
          <a:effectLst>
            <a:outerShdw blurRad="127000" dist="38100" dir="2700000" algn="bl" rotWithShape="0">
              <a:srgbClr val="000000">
                <a:alpha val="30000"/>
              </a:srgbClr>
            </a:outerShdw>
          </a:effectLst>
        </p:spPr>
      </p:sp>
      <p:pic>
        <p:nvPicPr>
          <p:cNvPr id="25" name="Image 5" descr="preencoded.png"/>
          <p:cNvPicPr>
            <a:picLocks noChangeAspect="1"/>
          </p:cNvPicPr>
          <p:nvPr/>
        </p:nvPicPr>
        <p:blipFill>
          <a:blip r:embed="rId8"/>
          <a:stretch>
            <a:fillRect/>
          </a:stretch>
        </p:blipFill>
        <p:spPr>
          <a:xfrm>
            <a:off x="6355080" y="3108960"/>
            <a:ext cx="411480" cy="411480"/>
          </a:xfrm>
          <a:prstGeom prst="rect">
            <a:avLst/>
          </a:prstGeom>
        </p:spPr>
      </p:pic>
      <p:sp>
        <p:nvSpPr>
          <p:cNvPr id="26" name="Text 18"/>
          <p:cNvSpPr/>
          <p:nvPr/>
        </p:nvSpPr>
        <p:spPr>
          <a:xfrm>
            <a:off x="6858000" y="3090672"/>
            <a:ext cx="1920240" cy="411480"/>
          </a:xfrm>
          <a:prstGeom prst="rect">
            <a:avLst/>
          </a:prstGeom>
          <a:noFill/>
          <a:ln/>
        </p:spPr>
        <p:txBody>
          <a:bodyPr wrap="square" rtlCol="0" anchor="ctr"/>
          <a:lstStyle/>
          <a:p>
            <a:pPr marL="0" indent="0">
              <a:buNone/>
            </a:pPr>
            <a:r>
              <a:rPr lang="en-US" sz="1250" b="1" dirty="0">
                <a:solidFill>
                  <a:srgbClr val="1ABC9C"/>
                </a:solidFill>
                <a:latin typeface="Cambria" pitchFamily="34" charset="0"/>
                <a:ea typeface="Cambria" pitchFamily="34" charset="-122"/>
                <a:cs typeface="Cambria" pitchFamily="34" charset="-120"/>
              </a:rPr>
              <a:t>Built-in Regularisation</a:t>
            </a:r>
            <a:endParaRPr lang="en-US" sz="1250" dirty="0"/>
          </a:p>
        </p:txBody>
      </p:sp>
      <p:sp>
        <p:nvSpPr>
          <p:cNvPr id="27" name="Text 19"/>
          <p:cNvSpPr/>
          <p:nvPr/>
        </p:nvSpPr>
        <p:spPr>
          <a:xfrm>
            <a:off x="6355080" y="3584448"/>
            <a:ext cx="2468880" cy="868680"/>
          </a:xfrm>
          <a:prstGeom prst="rect">
            <a:avLst/>
          </a:prstGeom>
          <a:noFill/>
          <a:ln/>
        </p:spPr>
        <p:txBody>
          <a:bodyPr wrap="square" rtlCol="0" anchor="ctr"/>
          <a:lstStyle/>
          <a:p>
            <a:pPr marL="0" indent="0">
              <a:buNone/>
            </a:pPr>
            <a:r>
              <a:rPr lang="en-US" sz="1100" dirty="0">
                <a:solidFill>
                  <a:srgbClr val="AACCDD"/>
                </a:solidFill>
                <a:latin typeface="Calibri" pitchFamily="34" charset="0"/>
                <a:ea typeface="Calibri" pitchFamily="34" charset="-122"/>
                <a:cs typeface="Calibri" pitchFamily="34" charset="-120"/>
              </a:rPr>
              <a:t>L1/L2 regularisation baked in to combat overfitting out of the box.</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calability and Business Value">
    <p:bg>
      <p:bgPr>
        <a:solidFill>
          <a:srgbClr val="0D1B2A"/>
        </a:solidFill>
        <a:effectLst/>
      </p:bgPr>
    </p:bg>
    <p:spTree>
      <p:nvGrpSpPr>
        <p:cNvPr id="1" name=""/>
        <p:cNvGrpSpPr/>
        <p:nvPr/>
      </p:nvGrpSpPr>
      <p:grpSpPr>
        <a:xfrm>
          <a:off x="0" y="0"/>
          <a:ext cx="0" cy="0"/>
          <a:chOff x="0" y="0"/>
          <a:chExt cx="0" cy="0"/>
        </a:xfrm>
      </p:grpSpPr>
      <p:sp>
        <p:nvSpPr>
          <p:cNvPr id="2" name="Title"/>
          <p:cNvSpPr/>
          <p:nvPr/>
        </p:nvSpPr>
        <p:spPr>
          <a:xfrm>
            <a:off x="365760" y="182880"/>
            <a:ext cx="8412480" cy="5486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rPr>
              <a:t>SCALABILITY, BUSINESS VALUE &amp; MAJOR BENEFITS</a:t>
            </a:r>
          </a:p>
        </p:txBody>
      </p:sp>
      <p:sp>
        <p:nvSpPr>
          <p:cNvPr id="3" name="AccentLine"/>
          <p:cNvSpPr/>
          <p:nvPr/>
        </p:nvSpPr>
        <p:spPr>
          <a:xfrm>
            <a:off x="365760" y="777240"/>
            <a:ext cx="8412480" cy="0"/>
          </a:xfrm>
          <a:prstGeom prst="line">
            <a:avLst/>
          </a:prstGeom>
          <a:noFill/>
          <a:ln w="25400">
            <a:solidFill>
              <a:srgbClr val="1ABC9C"/>
            </a:solidFill>
          </a:ln>
        </p:spPr>
      </p:sp>
      <p:sp>
        <p:nvSpPr>
          <p:cNvPr id="10" name="Col1Bg"/>
          <p:cNvSpPr/>
          <p:nvPr/>
        </p:nvSpPr>
        <p:spPr>
          <a:xfrm>
            <a:off x="274320" y="868680"/>
            <a:ext cx="2743200" cy="3703320"/>
          </a:xfrm>
          <a:prstGeom prst="roundRect">
            <a:avLst>
              <a:gd name="adj" fmla="val 15000"/>
            </a:avLst>
          </a:prstGeom>
          <a:solidFill>
            <a:srgbClr val="152535"/>
          </a:solidFill>
          <a:ln>
            <a:noFill/>
          </a:ln>
          <a:effectLst>
            <a:outerShdw blurRad="91440" dist="45720" dir="2700000" algn="tl" rotWithShape="0">
              <a:srgbClr val="000000">
                <a:alpha val="30000"/>
              </a:srgbClr>
            </a:outerShdw>
          </a:effectLst>
        </p:spPr>
      </p:sp>
      <p:sp>
        <p:nvSpPr>
          <p:cNvPr id="11" name="Col1Header"/>
          <p:cNvSpPr/>
          <p:nvPr/>
        </p:nvSpPr>
        <p:spPr>
          <a:xfrm>
            <a:off x="274320" y="868680"/>
            <a:ext cx="2743200" cy="594360"/>
          </a:xfrm>
          <a:prstGeom prst="roundRect">
            <a:avLst>
              <a:gd name="adj" fmla="val 10000"/>
            </a:avLst>
          </a:prstGeom>
          <a:solidFill>
            <a:srgbClr val="1ABC9C"/>
          </a:solidFill>
          <a:ln>
            <a:noFill/>
          </a:ln>
        </p:spPr>
        <p:txBody>
          <a:bodyPr wrap="square" lIns="91440" tIns="91440" rIns="91440" bIns="91440" rtlCol="0" anchor="ctr"/>
          <a:lstStyle/>
          <a:p>
            <a:pPr marL="0" indent="0">
              <a:buNone/>
            </a:pPr>
            <a:r>
              <a:rPr lang="en-US" sz="1300" b="1" dirty="0">
                <a:solidFill>
                  <a:srgbClr val="FFFFFF"/>
                </a:solidFill>
                <a:latin typeface="Cambria" pitchFamily="34" charset="0"/>
              </a:rPr>
              <a:t>📊 Scalability</a:t>
            </a:r>
          </a:p>
        </p:txBody>
      </p:sp>
      <p:sp>
        <p:nvSpPr>
          <p:cNvPr id="12" name="Col1Body"/>
          <p:cNvSpPr/>
          <p:nvPr/>
        </p:nvSpPr>
        <p:spPr>
          <a:xfrm>
            <a:off x="365760" y="1509480"/>
            <a:ext cx="2560320" cy="2971800"/>
          </a:xfrm>
          <a:prstGeom prst="rect">
            <a:avLst/>
          </a:prstGeom>
          <a:noFill/>
          <a:ln/>
        </p:spPr>
        <p:txBody>
          <a:bodyPr wrap="square" rtlCol="0" anchor="t"/>
          <a:lstStyle/>
          <a:p>
            <a:pPr marL="228600" indent="-228600">
              <a:buChar char="•"/>
            </a:pPr>
            <a:r>
              <a:rPr lang="en-US" sz="1050" b="1" dirty="0">
                <a:solidFill>
                  <a:srgbClr val="1ABC9C"/>
                </a:solidFill>
                <a:latin typeface="Calibri" pitchFamily="34" charset="0"/>
              </a:rPr>
              <a:t>Large Datasets</a:t>
            </a:r>
            <a:r>
              <a:rPr lang="en-US" sz="1050" dirty="0">
                <a:solidFill>
                  <a:srgbClr val="AACCDD"/>
                </a:solidFill>
                <a:latin typeface="Calibri" pitchFamily="34" charset="0"/>
              </a:rPr>
              <a:t> — handles millions of records and thousands of features efficiently</a:t>
            </a:r>
          </a:p>
          <a:p>
            <a:endParaRPr lang="en-US" sz="900" dirty="0"/>
          </a:p>
          <a:p>
            <a:pPr marL="228600" indent="-228600">
              <a:buChar char="•"/>
            </a:pPr>
            <a:r>
              <a:rPr lang="en-US" sz="1050" b="1" dirty="0">
                <a:solidFill>
                  <a:srgbClr val="1ABC9C"/>
                </a:solidFill>
                <a:latin typeface="Calibri" pitchFamily="34" charset="0"/>
              </a:rPr>
              <a:t>Distributed Training</a:t>
            </a:r>
            <a:r>
              <a:rPr lang="en-US" sz="1050" dirty="0">
                <a:solidFill>
                  <a:srgbClr val="AACCDD"/>
                </a:solidFill>
                <a:latin typeface="Calibri" pitchFamily="34" charset="0"/>
              </a:rPr>
              <a:t> — trains across multiple machines for large-scale workloads</a:t>
            </a:r>
          </a:p>
          <a:p>
            <a:endParaRPr lang="en-US" sz="900" dirty="0"/>
          </a:p>
          <a:p>
            <a:pPr marL="228600" indent="-228600">
              <a:buChar char="•"/>
            </a:pPr>
            <a:r>
              <a:rPr lang="en-US" sz="1050" b="1" dirty="0">
                <a:solidFill>
                  <a:srgbClr val="1ABC9C"/>
                </a:solidFill>
                <a:latin typeface="Calibri" pitchFamily="34" charset="0"/>
              </a:rPr>
              <a:t>Big Data Integration</a:t>
            </a:r>
            <a:r>
              <a:rPr lang="en-US" sz="1050" dirty="0">
                <a:solidFill>
                  <a:srgbClr val="AACCDD"/>
                </a:solidFill>
                <a:latin typeface="Calibri" pitchFamily="34" charset="0"/>
              </a:rPr>
              <a:t> — works seamlessly with Apache Spark and Dask pipelines</a:t>
            </a:r>
          </a:p>
          <a:p>
            <a:endParaRPr lang="en-US" sz="900" dirty="0"/>
          </a:p>
          <a:p>
            <a:pPr marL="228600" indent="-228600">
              <a:buChar char="•"/>
            </a:pPr>
            <a:r>
              <a:rPr lang="en-US" sz="1050" b="1" dirty="0">
                <a:solidFill>
                  <a:srgbClr val="1ABC9C"/>
                </a:solidFill>
                <a:latin typeface="Calibri" pitchFamily="34" charset="0"/>
              </a:rPr>
              <a:t>Enterprise-Ready</a:t>
            </a:r>
            <a:r>
              <a:rPr lang="en-US" sz="1050" dirty="0">
                <a:solidFill>
                  <a:srgbClr val="AACCDD"/>
                </a:solidFill>
                <a:latin typeface="Calibri" pitchFamily="34" charset="0"/>
              </a:rPr>
              <a:t> — designed to meet enterprise-level analytics demands</a:t>
            </a:r>
          </a:p>
          <a:p>
            <a:endParaRPr lang="en-US" sz="900" dirty="0"/>
          </a:p>
          <a:p>
            <a:pPr marL="228600" indent="-228600">
              <a:buChar char="•"/>
            </a:pPr>
            <a:r>
              <a:rPr lang="en-US" sz="1050" b="1" dirty="0">
                <a:solidFill>
                  <a:srgbClr val="1ABC9C"/>
                </a:solidFill>
                <a:latin typeface="Calibri" pitchFamily="34" charset="0"/>
              </a:rPr>
              <a:t>Speed at Scale</a:t>
            </a:r>
            <a:r>
              <a:rPr lang="en-US" sz="1050" dirty="0">
                <a:solidFill>
                  <a:srgbClr val="AACCDD"/>
                </a:solidFill>
                <a:latin typeface="Calibri" pitchFamily="34" charset="0"/>
              </a:rPr>
              <a:t> — maintains speed and efficiency as data volume grows</a:t>
            </a:r>
          </a:p>
        </p:txBody>
      </p:sp>
      <p:sp>
        <p:nvSpPr>
          <p:cNvPr id="20" name="Col2Bg"/>
          <p:cNvSpPr/>
          <p:nvPr/>
        </p:nvSpPr>
        <p:spPr>
          <a:xfrm>
            <a:off x="3200400" y="868680"/>
            <a:ext cx="2743200" cy="3703320"/>
          </a:xfrm>
          <a:prstGeom prst="roundRect">
            <a:avLst>
              <a:gd name="adj" fmla="val 15000"/>
            </a:avLst>
          </a:prstGeom>
          <a:solidFill>
            <a:srgbClr val="152535"/>
          </a:solidFill>
          <a:ln>
            <a:noFill/>
          </a:ln>
          <a:effectLst>
            <a:outerShdw blurRad="91440" dist="45720" dir="2700000" algn="tl" rotWithShape="0">
              <a:srgbClr val="000000">
                <a:alpha val="30000"/>
              </a:srgbClr>
            </a:outerShdw>
          </a:effectLst>
        </p:spPr>
      </p:sp>
      <p:sp>
        <p:nvSpPr>
          <p:cNvPr id="21" name="Col2Header"/>
          <p:cNvSpPr/>
          <p:nvPr/>
        </p:nvSpPr>
        <p:spPr>
          <a:xfrm>
            <a:off x="3200400" y="868680"/>
            <a:ext cx="2743200" cy="594360"/>
          </a:xfrm>
          <a:prstGeom prst="roundRect">
            <a:avLst>
              <a:gd name="adj" fmla="val 10000"/>
            </a:avLst>
          </a:prstGeom>
          <a:solidFill>
            <a:srgbClr val="1B4F72"/>
          </a:solidFill>
          <a:ln>
            <a:noFill/>
          </a:ln>
        </p:spPr>
        <p:txBody>
          <a:bodyPr wrap="square" lIns="91440" tIns="91440" rIns="91440" bIns="91440" rtlCol="0" anchor="ctr"/>
          <a:lstStyle/>
          <a:p>
            <a:pPr marL="0" indent="0">
              <a:buNone/>
            </a:pPr>
            <a:r>
              <a:rPr lang="en-US" sz="1300" b="1" dirty="0">
                <a:solidFill>
                  <a:srgbClr val="FFFFFF"/>
                </a:solidFill>
                <a:latin typeface="Cambria" pitchFamily="34" charset="0"/>
              </a:rPr>
              <a:t>💼 Business Value</a:t>
            </a:r>
          </a:p>
        </p:txBody>
      </p:sp>
      <p:sp>
        <p:nvSpPr>
          <p:cNvPr id="22" name="Col2Body"/>
          <p:cNvSpPr/>
          <p:nvPr/>
        </p:nvSpPr>
        <p:spPr>
          <a:xfrm>
            <a:off x="3291840" y="1509480"/>
            <a:ext cx="2560320" cy="2971800"/>
          </a:xfrm>
          <a:prstGeom prst="rect">
            <a:avLst/>
          </a:prstGeom>
          <a:noFill/>
          <a:ln/>
        </p:spPr>
        <p:txBody>
          <a:bodyPr wrap="square" rtlCol="0" anchor="t"/>
          <a:lstStyle/>
          <a:p>
            <a:pPr marL="228600" indent="-228600">
              <a:buChar char="•"/>
            </a:pPr>
            <a:r>
              <a:rPr lang="en-US" sz="1050" b="1" dirty="0">
                <a:solidFill>
                  <a:srgbClr val="1ABC9C"/>
                </a:solidFill>
                <a:latin typeface="Calibri" pitchFamily="34" charset="0"/>
              </a:rPr>
              <a:t>Finance &amp; Fraud Detection</a:t>
            </a:r>
            <a:r>
              <a:rPr lang="en-US" sz="1050" dirty="0">
                <a:solidFill>
                  <a:srgbClr val="AACCDD"/>
                </a:solidFill>
                <a:latin typeface="Calibri" pitchFamily="34" charset="0"/>
              </a:rPr>
              <a:t> — real-time anomaly detection on high-volume transactions</a:t>
            </a:r>
          </a:p>
          <a:p>
            <a:endParaRPr lang="en-US" sz="900" dirty="0"/>
          </a:p>
          <a:p>
            <a:pPr marL="228600" indent="-228600">
              <a:buChar char="•"/>
            </a:pPr>
            <a:r>
              <a:rPr lang="en-US" sz="1050" b="1" dirty="0">
                <a:solidFill>
                  <a:srgbClr val="1ABC9C"/>
                </a:solidFill>
                <a:latin typeface="Calibri" pitchFamily="34" charset="0"/>
              </a:rPr>
              <a:t>Telecommunications</a:t>
            </a:r>
            <a:r>
              <a:rPr lang="en-US" sz="1050" dirty="0">
                <a:solidFill>
                  <a:srgbClr val="AACCDD"/>
                </a:solidFill>
                <a:latin typeface="Calibri" pitchFamily="34" charset="0"/>
              </a:rPr>
              <a:t> — churn prediction and customer segmentation</a:t>
            </a:r>
          </a:p>
          <a:p>
            <a:endParaRPr lang="en-US" sz="900" dirty="0"/>
          </a:p>
          <a:p>
            <a:pPr marL="228600" indent="-228600">
              <a:buChar char="•"/>
            </a:pPr>
            <a:r>
              <a:rPr lang="en-US" sz="1050" b="1" dirty="0">
                <a:solidFill>
                  <a:srgbClr val="1ABC9C"/>
                </a:solidFill>
                <a:latin typeface="Calibri" pitchFamily="34" charset="0"/>
              </a:rPr>
              <a:t>E-Commerce</a:t>
            </a:r>
            <a:r>
              <a:rPr lang="en-US" sz="1050" dirty="0">
                <a:solidFill>
                  <a:srgbClr val="AACCDD"/>
                </a:solidFill>
                <a:latin typeface="Calibri" pitchFamily="34" charset="0"/>
              </a:rPr>
              <a:t> — recommendation engines and demand forecasting</a:t>
            </a:r>
          </a:p>
          <a:p>
            <a:endParaRPr lang="en-US" sz="900" dirty="0"/>
          </a:p>
          <a:p>
            <a:pPr marL="228600" indent="-228600">
              <a:buChar char="•"/>
            </a:pPr>
            <a:r>
              <a:rPr lang="en-US" sz="1050" b="1" dirty="0">
                <a:solidFill>
                  <a:srgbClr val="1ABC9C"/>
                </a:solidFill>
                <a:latin typeface="Calibri" pitchFamily="34" charset="0"/>
              </a:rPr>
              <a:t>Healthcare</a:t>
            </a:r>
            <a:r>
              <a:rPr lang="en-US" sz="1050" dirty="0">
                <a:solidFill>
                  <a:srgbClr val="AACCDD"/>
                </a:solidFill>
                <a:latin typeface="Calibri" pitchFamily="34" charset="0"/>
              </a:rPr>
              <a:t> — disease risk scoring from large clinical datasets</a:t>
            </a:r>
          </a:p>
          <a:p>
            <a:endParaRPr lang="en-US" sz="900" dirty="0"/>
          </a:p>
          <a:p>
            <a:pPr marL="228600" indent="-228600">
              <a:buChar char="•"/>
            </a:pPr>
            <a:r>
              <a:rPr lang="en-US" sz="1050" b="1" dirty="0">
                <a:solidFill>
                  <a:srgbClr val="1ABC9C"/>
                </a:solidFill>
                <a:latin typeface="Calibri" pitchFamily="34" charset="0"/>
              </a:rPr>
              <a:t>Flexible Deployment</a:t>
            </a:r>
            <a:r>
              <a:rPr lang="en-US" sz="1050" dirty="0">
                <a:solidFill>
                  <a:srgbClr val="AACCDD"/>
                </a:solidFill>
                <a:latin typeface="Calibri" pitchFamily="34" charset="0"/>
              </a:rPr>
              <a:t> — runs on laptops, servers, and cloud platforms</a:t>
            </a:r>
          </a:p>
        </p:txBody>
      </p:sp>
      <p:sp>
        <p:nvSpPr>
          <p:cNvPr id="30" name="Col3Bg"/>
          <p:cNvSpPr/>
          <p:nvPr/>
        </p:nvSpPr>
        <p:spPr>
          <a:xfrm>
            <a:off x="6126480" y="868680"/>
            <a:ext cx="2743200" cy="3703320"/>
          </a:xfrm>
          <a:prstGeom prst="roundRect">
            <a:avLst>
              <a:gd name="adj" fmla="val 15000"/>
            </a:avLst>
          </a:prstGeom>
          <a:solidFill>
            <a:srgbClr val="152535"/>
          </a:solidFill>
          <a:ln>
            <a:noFill/>
          </a:ln>
          <a:effectLst>
            <a:outerShdw blurRad="91440" dist="45720" dir="2700000" algn="tl" rotWithShape="0">
              <a:srgbClr val="000000">
                <a:alpha val="30000"/>
              </a:srgbClr>
            </a:outerShdw>
          </a:effectLst>
        </p:spPr>
      </p:sp>
      <p:sp>
        <p:nvSpPr>
          <p:cNvPr id="31" name="Col3Header"/>
          <p:cNvSpPr/>
          <p:nvPr/>
        </p:nvSpPr>
        <p:spPr>
          <a:xfrm>
            <a:off x="6126480" y="868680"/>
            <a:ext cx="2743200" cy="594360"/>
          </a:xfrm>
          <a:prstGeom prst="roundRect">
            <a:avLst>
              <a:gd name="adj" fmla="val 10000"/>
            </a:avLst>
          </a:prstGeom>
          <a:solidFill>
            <a:srgbClr val="27AE60"/>
          </a:solidFill>
          <a:ln>
            <a:noFill/>
          </a:ln>
        </p:spPr>
        <p:txBody>
          <a:bodyPr wrap="square" lIns="91440" tIns="91440" rIns="91440" bIns="91440" rtlCol="0" anchor="ctr"/>
          <a:lstStyle/>
          <a:p>
            <a:pPr marL="0" indent="0">
              <a:buNone/>
            </a:pPr>
            <a:r>
              <a:rPr lang="en-US" sz="1300" b="1" dirty="0">
                <a:solidFill>
                  <a:srgbClr val="FFFFFF"/>
                </a:solidFill>
                <a:latin typeface="Cambria" pitchFamily="34" charset="0"/>
              </a:rPr>
              <a:t>✓ Major Benefits</a:t>
            </a:r>
          </a:p>
        </p:txBody>
      </p:sp>
      <p:sp>
        <p:nvSpPr>
          <p:cNvPr id="32" name="Col3Body"/>
          <p:cNvSpPr/>
          <p:nvPr/>
        </p:nvSpPr>
        <p:spPr>
          <a:xfrm>
            <a:off x="6217920" y="1509480"/>
            <a:ext cx="2560320" cy="2971800"/>
          </a:xfrm>
          <a:prstGeom prst="rect">
            <a:avLst/>
          </a:prstGeom>
          <a:noFill/>
          <a:ln/>
        </p:spPr>
        <p:txBody>
          <a:bodyPr wrap="square" rtlCol="0" anchor="t"/>
          <a:lstStyle/>
          <a:p>
            <a:pPr marL="228600" indent="-228600">
              <a:buChar char="•"/>
            </a:pPr>
            <a:r>
              <a:rPr lang="en-US" sz="1050" b="1" dirty="0">
                <a:solidFill>
                  <a:srgbClr val="1ABC9C"/>
                </a:solidFill>
                <a:latin typeface="Calibri" pitchFamily="34" charset="0"/>
              </a:rPr>
              <a:t>Faster Training</a:t>
            </a:r>
            <a:r>
              <a:rPr lang="en-US" sz="1050" dirty="0">
                <a:solidFill>
                  <a:srgbClr val="AACCDD"/>
                </a:solidFill>
                <a:latin typeface="Calibri" pitchFamily="34" charset="0"/>
              </a:rPr>
              <a:t> — significantly quicker than most traditional boosting methods</a:t>
            </a:r>
          </a:p>
          <a:p>
            <a:endParaRPr lang="en-US" sz="900" dirty="0"/>
          </a:p>
          <a:p>
            <a:pPr marL="228600" indent="-228600">
              <a:buChar char="•"/>
            </a:pPr>
            <a:r>
              <a:rPr lang="en-US" sz="1050" b="1" dirty="0">
                <a:solidFill>
                  <a:srgbClr val="1ABC9C"/>
                </a:solidFill>
                <a:latin typeface="Calibri" pitchFamily="34" charset="0"/>
              </a:rPr>
              <a:t>Low Memory Usage</a:t>
            </a:r>
            <a:r>
              <a:rPr lang="en-US" sz="1050" dirty="0">
                <a:solidFill>
                  <a:srgbClr val="AACCDD"/>
                </a:solidFill>
                <a:latin typeface="Calibri" pitchFamily="34" charset="0"/>
              </a:rPr>
              <a:t> — requires less RAM; suitable for standard hardware</a:t>
            </a:r>
          </a:p>
          <a:p>
            <a:endParaRPr lang="en-US" sz="900" dirty="0"/>
          </a:p>
          <a:p>
            <a:pPr marL="228600" indent="-228600">
              <a:buChar char="•"/>
            </a:pPr>
            <a:r>
              <a:rPr lang="en-US" sz="1050" b="1" dirty="0">
                <a:solidFill>
                  <a:srgbClr val="1ABC9C"/>
                </a:solidFill>
                <a:latin typeface="Calibri" pitchFamily="34" charset="0"/>
              </a:rPr>
              <a:t>High Accuracy</a:t>
            </a:r>
            <a:r>
              <a:rPr lang="en-US" sz="1050" dirty="0">
                <a:solidFill>
                  <a:srgbClr val="AACCDD"/>
                </a:solidFill>
                <a:latin typeface="Calibri" pitchFamily="34" charset="0"/>
              </a:rPr>
              <a:t> — leaf-wise growth achieves superior predictive performance</a:t>
            </a:r>
          </a:p>
          <a:p>
            <a:endParaRPr lang="en-US" sz="900" dirty="0"/>
          </a:p>
          <a:p>
            <a:pPr marL="228600" indent="-228600">
              <a:buChar char="•"/>
            </a:pPr>
            <a:r>
              <a:rPr lang="en-US" sz="1050" b="1" dirty="0">
                <a:solidFill>
                  <a:srgbClr val="1ABC9C"/>
                </a:solidFill>
                <a:latin typeface="Calibri" pitchFamily="34" charset="0"/>
              </a:rPr>
              <a:t>Missing Value Handling</a:t>
            </a:r>
            <a:r>
              <a:rPr lang="en-US" sz="1050" dirty="0">
                <a:solidFill>
                  <a:srgbClr val="AACCDD"/>
                </a:solidFill>
                <a:latin typeface="Calibri" pitchFamily="34" charset="0"/>
              </a:rPr>
              <a:t> — natively tolerates gaps in data without imputation</a:t>
            </a:r>
          </a:p>
          <a:p>
            <a:endParaRPr lang="en-US" sz="900" dirty="0"/>
          </a:p>
          <a:p>
            <a:pPr marL="228600" indent="-228600">
              <a:buChar char="•"/>
            </a:pPr>
            <a:r>
              <a:rPr lang="en-US" sz="1050" b="1" dirty="0">
                <a:solidFill>
                  <a:srgbClr val="1ABC9C"/>
                </a:solidFill>
                <a:latin typeface="Calibri" pitchFamily="34" charset="0"/>
              </a:rPr>
              <a:t>Parallel &amp; GPU Support</a:t>
            </a:r>
            <a:r>
              <a:rPr lang="en-US" sz="1050" dirty="0">
                <a:solidFill>
                  <a:srgbClr val="AACCDD"/>
                </a:solidFill>
                <a:latin typeface="Calibri" pitchFamily="34" charset="0"/>
              </a:rPr>
              <a:t> — optimised CPU and GPU utilization for performance</a:t>
            </a:r>
          </a:p>
        </p:txBody>
      </p:sp>
      <p:sp>
        <p:nvSpPr>
          <p:cNvPr id="40" name="Tagline"/>
          <p:cNvSpPr/>
          <p:nvPr/>
        </p:nvSpPr>
        <p:spPr>
          <a:xfrm>
            <a:off x="274320" y="4663200"/>
            <a:ext cx="8595360" cy="320040"/>
          </a:xfrm>
          <a:prstGeom prst="rect">
            <a:avLst/>
          </a:prstGeom>
          <a:noFill/>
          <a:ln/>
        </p:spPr>
        <p:txBody>
          <a:bodyPr wrap="square" rtlCol="0" anchor="ctr"/>
          <a:lstStyle/>
          <a:p>
            <a:pPr marL="0" indent="0" algn="ctr">
              <a:buNone/>
            </a:pPr>
            <a:r>
              <a:rPr lang="en-US" sz="1000" i="1" dirty="0">
                <a:solidFill>
                  <a:srgbClr val="5D7A8A"/>
                </a:solidFill>
                <a:latin typeface="Calibri" pitchFamily="34" charset="0"/>
              </a:rPr>
              <a:t>✦ Used across finance, healthcare, e-commerce &amp; telecom for fast, accurate, large-scale ML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COMPARISON WITH OTHER BOOSTING ALGORITHMS</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3328416"/>
        </p:xfrm>
        <a:graphic>
          <a:graphicData uri="http://schemas.openxmlformats.org/drawingml/2006/table">
            <a:tbl>
              <a:tblPr/>
              <a:tblGrid>
                <a:gridCol w="18288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475488">
                <a:tc>
                  <a:txBody>
                    <a:bodyPr/>
                    <a:lstStyle/>
                    <a:p>
                      <a:pPr marL="0" indent="0" algn="l">
                        <a:buNone/>
                      </a:pPr>
                      <a:r>
                        <a:rPr lang="en-US" sz="1200" b="1" dirty="0">
                          <a:solidFill>
                            <a:srgbClr val="FFFFFF"/>
                          </a:solidFill>
                          <a:latin typeface="Cambria" pitchFamily="34" charset="0"/>
                          <a:ea typeface="Cambria" pitchFamily="34" charset="-122"/>
                          <a:cs typeface="Cambria" pitchFamily="34" charset="-120"/>
                        </a:rPr>
                        <a:t>Feature</a:t>
                      </a:r>
                      <a:endParaRPr lang="en-US" sz="1200" dirty="0">
                        <a:latin typeface="Cambria" charset="0"/>
                        <a:ea typeface="Cambria" charset="0"/>
                        <a:cs typeface="Cambria"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1B4F72"/>
                    </a:solidFill>
                  </a:tcPr>
                </a:tc>
                <a:tc>
                  <a:txBody>
                    <a:bodyPr/>
                    <a:lstStyle/>
                    <a:p>
                      <a:pPr marL="0" indent="0" algn="ctr">
                        <a:buNone/>
                      </a:pPr>
                      <a:r>
                        <a:rPr lang="en-US" sz="1200" b="1" dirty="0">
                          <a:solidFill>
                            <a:srgbClr val="FFFFFF"/>
                          </a:solidFill>
                          <a:latin typeface="Cambria" pitchFamily="34" charset="0"/>
                          <a:ea typeface="Cambria" pitchFamily="34" charset="-122"/>
                          <a:cs typeface="Cambria" pitchFamily="34" charset="-120"/>
                        </a:rPr>
                        <a:t>LightGBM</a:t>
                      </a:r>
                      <a:endParaRPr lang="en-US" sz="1200" dirty="0">
                        <a:latin typeface="Cambria" charset="0"/>
                        <a:ea typeface="Cambria" charset="0"/>
                        <a:cs typeface="Cambria"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1B4F72"/>
                    </a:solidFill>
                  </a:tcPr>
                </a:tc>
                <a:tc>
                  <a:txBody>
                    <a:bodyPr/>
                    <a:lstStyle/>
                    <a:p>
                      <a:pPr marL="0" indent="0" algn="ctr">
                        <a:buNone/>
                      </a:pPr>
                      <a:r>
                        <a:rPr lang="en-US" sz="1200" b="1" dirty="0">
                          <a:solidFill>
                            <a:srgbClr val="FFFFFF"/>
                          </a:solidFill>
                          <a:latin typeface="Cambria" pitchFamily="34" charset="0"/>
                          <a:ea typeface="Cambria" pitchFamily="34" charset="-122"/>
                          <a:cs typeface="Cambria" pitchFamily="34" charset="-120"/>
                        </a:rPr>
                        <a:t>XGBoost</a:t>
                      </a:r>
                      <a:endParaRPr lang="en-US" sz="1200" dirty="0">
                        <a:latin typeface="Cambria" charset="0"/>
                        <a:ea typeface="Cambria" charset="0"/>
                        <a:cs typeface="Cambria"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1B4F72"/>
                    </a:solidFill>
                  </a:tcPr>
                </a:tc>
                <a:tc>
                  <a:txBody>
                    <a:bodyPr/>
                    <a:lstStyle/>
                    <a:p>
                      <a:pPr marL="0" indent="0" algn="ctr">
                        <a:buNone/>
                      </a:pPr>
                      <a:r>
                        <a:rPr lang="en-US" sz="1200" b="1" dirty="0">
                          <a:solidFill>
                            <a:srgbClr val="FFFFFF"/>
                          </a:solidFill>
                          <a:latin typeface="Cambria" pitchFamily="34" charset="0"/>
                          <a:ea typeface="Cambria" pitchFamily="34" charset="-122"/>
                          <a:cs typeface="Cambria" pitchFamily="34" charset="-120"/>
                        </a:rPr>
                        <a:t>CatBoost</a:t>
                      </a:r>
                      <a:endParaRPr lang="en-US" sz="1200" dirty="0">
                        <a:latin typeface="Cambria" charset="0"/>
                        <a:ea typeface="Cambria" charset="0"/>
                        <a:cs typeface="Cambria"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1B4F72"/>
                    </a:solidFill>
                  </a:tcPr>
                </a:tc>
                <a:tc>
                  <a:txBody>
                    <a:bodyPr/>
                    <a:lstStyle/>
                    <a:p>
                      <a:pPr marL="0" indent="0" algn="ctr">
                        <a:buNone/>
                      </a:pPr>
                      <a:r>
                        <a:rPr lang="en-US" sz="1200" b="1" dirty="0">
                          <a:solidFill>
                            <a:srgbClr val="FFFFFF"/>
                          </a:solidFill>
                          <a:latin typeface="Cambria" pitchFamily="34" charset="0"/>
                          <a:ea typeface="Cambria" pitchFamily="34" charset="-122"/>
                          <a:cs typeface="Cambria" pitchFamily="34" charset="-120"/>
                        </a:rPr>
                        <a:t>AdaBoost</a:t>
                      </a:r>
                      <a:endParaRPr lang="en-US" sz="1200" dirty="0">
                        <a:latin typeface="Cambria" charset="0"/>
                        <a:ea typeface="Cambria" charset="0"/>
                        <a:cs typeface="Cambria"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1B4F72"/>
                    </a:solidFill>
                  </a:tcPr>
                </a:tc>
                <a:extLst>
                  <a:ext uri="{0D108BD9-81ED-4DB2-BD59-A6C34878D82A}">
                    <a16:rowId xmlns:a16="http://schemas.microsoft.com/office/drawing/2014/main" val="10000"/>
                  </a:ext>
                </a:extLst>
              </a:tr>
              <a:tr h="475488">
                <a:tc>
                  <a:txBody>
                    <a:bodyPr/>
                    <a:lstStyle/>
                    <a:p>
                      <a:pPr marL="0" indent="0" algn="l">
                        <a:buNone/>
                      </a:pPr>
                      <a:r>
                        <a:rPr lang="en-US" sz="1150" dirty="0">
                          <a:solidFill>
                            <a:srgbClr val="1A2A3A"/>
                          </a:solidFill>
                          <a:latin typeface="Calibri" pitchFamily="34" charset="0"/>
                          <a:ea typeface="Calibri" pitchFamily="34" charset="-122"/>
                          <a:cs typeface="Calibri" pitchFamily="34" charset="-120"/>
                        </a:rPr>
                        <a:t>Tree Growth</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A6B50"/>
                          </a:solidFill>
                          <a:latin typeface="Calibri" pitchFamily="34" charset="0"/>
                          <a:ea typeface="Calibri" pitchFamily="34" charset="-122"/>
                          <a:cs typeface="Calibri" pitchFamily="34" charset="-120"/>
                        </a:rPr>
                        <a:t>Leaf-wise</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DFF5F0"/>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Level-wise</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Symmetric</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Sequential</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150" dirty="0">
                          <a:solidFill>
                            <a:srgbClr val="1A2A3A"/>
                          </a:solidFill>
                          <a:latin typeface="Calibri" pitchFamily="34" charset="0"/>
                          <a:ea typeface="Calibri" pitchFamily="34" charset="-122"/>
                          <a:cs typeface="Calibri" pitchFamily="34" charset="-120"/>
                        </a:rPr>
                        <a:t>Training Speed</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b="1" dirty="0">
                          <a:solidFill>
                            <a:srgbClr val="0A6B50"/>
                          </a:solidFill>
                          <a:latin typeface="Calibri" pitchFamily="34" charset="0"/>
                          <a:ea typeface="Calibri" pitchFamily="34" charset="-122"/>
                          <a:cs typeface="Calibri" pitchFamily="34" charset="-120"/>
                        </a:rPr>
                        <a:t>Very Fast</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DFF5F0"/>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Fast</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extLst>
                  <a:ext uri="{0D108BD9-81ED-4DB2-BD59-A6C34878D82A}">
                    <a16:rowId xmlns:a16="http://schemas.microsoft.com/office/drawing/2014/main" val="10002"/>
                  </a:ext>
                </a:extLst>
              </a:tr>
              <a:tr h="475488">
                <a:tc>
                  <a:txBody>
                    <a:bodyPr/>
                    <a:lstStyle/>
                    <a:p>
                      <a:pPr marL="0" indent="0" algn="l">
                        <a:buNone/>
                      </a:pPr>
                      <a:r>
                        <a:rPr lang="en-US" sz="1150" dirty="0">
                          <a:solidFill>
                            <a:srgbClr val="1A2A3A"/>
                          </a:solidFill>
                          <a:latin typeface="Calibri" pitchFamily="34" charset="0"/>
                          <a:ea typeface="Calibri" pitchFamily="34" charset="-122"/>
                          <a:cs typeface="Calibri" pitchFamily="34" charset="-120"/>
                        </a:rPr>
                        <a:t>Memory Usage</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A6B50"/>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DFF5F0"/>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Higher</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150" dirty="0">
                          <a:solidFill>
                            <a:srgbClr val="1A2A3A"/>
                          </a:solidFill>
                          <a:latin typeface="Calibri" pitchFamily="34" charset="0"/>
                          <a:ea typeface="Calibri" pitchFamily="34" charset="-122"/>
                          <a:cs typeface="Calibri" pitchFamily="34" charset="-120"/>
                        </a:rPr>
                        <a:t>Large Datasets</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b="1" dirty="0">
                          <a:solidFill>
                            <a:srgbClr val="0A6B50"/>
                          </a:solidFill>
                          <a:latin typeface="Calibri" pitchFamily="34" charset="0"/>
                          <a:ea typeface="Calibri" pitchFamily="34" charset="-122"/>
                          <a:cs typeface="Calibri" pitchFamily="34" charset="-120"/>
                        </a:rPr>
                        <a:t>Excellent</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DFF5F0"/>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Good</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Good</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Limited</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extLst>
                  <a:ext uri="{0D108BD9-81ED-4DB2-BD59-A6C34878D82A}">
                    <a16:rowId xmlns:a16="http://schemas.microsoft.com/office/drawing/2014/main" val="10004"/>
                  </a:ext>
                </a:extLst>
              </a:tr>
              <a:tr h="475488">
                <a:tc>
                  <a:txBody>
                    <a:bodyPr/>
                    <a:lstStyle/>
                    <a:p>
                      <a:pPr marL="0" indent="0" algn="l">
                        <a:buNone/>
                      </a:pPr>
                      <a:r>
                        <a:rPr lang="en-US" sz="1150" dirty="0">
                          <a:solidFill>
                            <a:srgbClr val="1A2A3A"/>
                          </a:solidFill>
                          <a:latin typeface="Calibri" pitchFamily="34" charset="0"/>
                          <a:ea typeface="Calibri" pitchFamily="34" charset="-122"/>
                          <a:cs typeface="Calibri" pitchFamily="34" charset="-120"/>
                        </a:rPr>
                        <a:t>Categorical Data</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0A6B50"/>
                          </a:solidFill>
                          <a:latin typeface="Calibri" pitchFamily="34" charset="0"/>
                          <a:ea typeface="Calibri" pitchFamily="34" charset="-122"/>
                          <a:cs typeface="Calibri" pitchFamily="34" charset="-120"/>
                        </a:rPr>
                        <a:t>Encoding req.</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DFF5F0"/>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Encoding req.</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Native ✓</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Encoding req.</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150" dirty="0">
                          <a:solidFill>
                            <a:srgbClr val="1A2A3A"/>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b="1" dirty="0">
                          <a:solidFill>
                            <a:srgbClr val="0A6B50"/>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DFF5F0"/>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tc>
                  <a:txBody>
                    <a:bodyPr/>
                    <a:lstStyle/>
                    <a:p>
                      <a:pPr marL="0" indent="0" algn="ctr">
                        <a:buNone/>
                      </a:pPr>
                      <a:r>
                        <a:rPr lang="en-US" sz="1150" dirty="0">
                          <a:solidFill>
                            <a:srgbClr val="1A2A3A"/>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4F8FB"/>
                    </a:solidFill>
                  </a:tcPr>
                </a:tc>
                <a:extLst>
                  <a:ext uri="{0D108BD9-81ED-4DB2-BD59-A6C34878D82A}">
                    <a16:rowId xmlns:a16="http://schemas.microsoft.com/office/drawing/2014/main" val="10006"/>
                  </a:ext>
                </a:extLst>
              </a:tr>
            </a:tbl>
          </a:graphicData>
        </a:graphic>
      </p:graphicFrame>
      <p:sp>
        <p:nvSpPr>
          <p:cNvPr id="5" name="Text 2"/>
          <p:cNvSpPr/>
          <p:nvPr/>
        </p:nvSpPr>
        <p:spPr>
          <a:xfrm>
            <a:off x="274320" y="4800600"/>
            <a:ext cx="8595360" cy="274320"/>
          </a:xfrm>
          <a:prstGeom prst="rect">
            <a:avLst/>
          </a:prstGeom>
          <a:noFill/>
          <a:ln/>
        </p:spPr>
        <p:txBody>
          <a:bodyPr wrap="square" rtlCol="0" anchor="ctr"/>
          <a:lstStyle/>
          <a:p>
            <a:pPr marL="0" indent="0">
              <a:buNone/>
            </a:pPr>
            <a:r>
              <a:rPr lang="en-US" sz="1000" i="1" dirty="0">
                <a:solidFill>
                  <a:srgbClr val="5D7A8A"/>
                </a:solidFill>
                <a:latin typeface="Calibri" pitchFamily="34" charset="0"/>
                <a:ea typeface="Calibri" pitchFamily="34" charset="-122"/>
                <a:cs typeface="Calibri" pitchFamily="34" charset="-120"/>
              </a:rPr>
              <a:t>✦ LightGBM highlighted  ·  Best balance of speed, accuracy &amp; scalability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F72"/>
          </a:solidFill>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HYPERPARAMETER TUNING</a:t>
            </a:r>
            <a:endParaRPr lang="en-US" sz="2000" dirty="0"/>
          </a:p>
        </p:txBody>
      </p:sp>
      <p:sp>
        <p:nvSpPr>
          <p:cNvPr id="4" name="Text 2"/>
          <p:cNvSpPr/>
          <p:nvPr/>
        </p:nvSpPr>
        <p:spPr>
          <a:xfrm>
            <a:off x="274320" y="1402080"/>
            <a:ext cx="8412480" cy="320040"/>
          </a:xfrm>
          <a:prstGeom prst="rect">
            <a:avLst/>
          </a:prstGeom>
          <a:noFill/>
          <a:ln/>
        </p:spPr>
        <p:txBody>
          <a:bodyPr wrap="square" rtlCol="0" anchor="ctr"/>
          <a:lstStyle/>
          <a:p>
            <a:pPr marL="0" indent="0">
              <a:buNone/>
            </a:pPr>
            <a:r>
              <a:rPr lang="en-US" sz="1300" i="1" u="sng" dirty="0">
                <a:solidFill>
                  <a:srgbClr val="5D7A8A"/>
                </a:solidFill>
                <a:latin typeface="Calibri" pitchFamily="34" charset="0"/>
                <a:ea typeface="Calibri" pitchFamily="34" charset="-122"/>
                <a:cs typeface="Calibri" pitchFamily="34" charset="-120"/>
              </a:rPr>
              <a:t>Key parameters that control how LightGBM learns</a:t>
            </a:r>
            <a:r>
              <a:rPr lang="en-US" sz="1300" i="1" dirty="0">
                <a:solidFill>
                  <a:srgbClr val="5D7A8A"/>
                </a:solidFill>
                <a:latin typeface="Calibri" pitchFamily="34" charset="0"/>
                <a:ea typeface="Calibri" pitchFamily="34" charset="-122"/>
                <a:cs typeface="Calibri" pitchFamily="34" charset="-120"/>
              </a:rPr>
              <a: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2318955772"/>
              </p:ext>
            </p:extLst>
          </p:nvPr>
        </p:nvGraphicFramePr>
        <p:xfrm>
          <a:off x="274320" y="1722120"/>
          <a:ext cx="8595360" cy="3288789"/>
        </p:xfrm>
        <a:graphic>
          <a:graphicData uri="http://schemas.openxmlformats.org/drawingml/2006/table">
            <a:tbl>
              <a:tblPr/>
              <a:tblGrid>
                <a:gridCol w="29260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65421">
                <a:tc>
                  <a:txBody>
                    <a:bodyPr/>
                    <a:lstStyle/>
                    <a:p>
                      <a:pPr marL="0" indent="0">
                        <a:buNone/>
                      </a:pPr>
                      <a:r>
                        <a:rPr lang="en-US" sz="1200" b="1" dirty="0">
                          <a:solidFill>
                            <a:srgbClr val="FFFFFF"/>
                          </a:solidFill>
                          <a:latin typeface="Cambria" pitchFamily="34" charset="0"/>
                          <a:ea typeface="Cambria" pitchFamily="34" charset="-122"/>
                          <a:cs typeface="Cambria" pitchFamily="34" charset="-120"/>
                        </a:rPr>
                        <a:t>Parameter</a:t>
                      </a:r>
                      <a:endParaRPr lang="en-US" sz="1200" dirty="0">
                        <a:latin typeface="Cambria" charset="0"/>
                        <a:ea typeface="Cambria" charset="0"/>
                        <a:cs typeface="Cambria"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mbria" pitchFamily="34" charset="0"/>
                          <a:ea typeface="Cambria" pitchFamily="34" charset="-122"/>
                          <a:cs typeface="Cambria" pitchFamily="34" charset="-120"/>
                        </a:rPr>
                        <a:t>Effect on Model</a:t>
                      </a:r>
                      <a:endParaRPr lang="en-US" sz="1200" dirty="0">
                        <a:latin typeface="Cambria" charset="0"/>
                        <a:ea typeface="Cambria" charset="0"/>
                        <a:cs typeface="Cambria"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learning_rate</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Controls step size; lower = more accurate, slower</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extLst>
                  <a:ext uri="{0D108BD9-81ED-4DB2-BD59-A6C34878D82A}">
                    <a16:rowId xmlns:a16="http://schemas.microsoft.com/office/drawing/2014/main" val="10001"/>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num_leaves</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Number of leaves per tree; more = complex model</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max_depth</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Maximum tree depth; limits growth to prevent overfitting</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extLst>
                  <a:ext uri="{0D108BD9-81ED-4DB2-BD59-A6C34878D82A}">
                    <a16:rowId xmlns:a16="http://schemas.microsoft.com/office/drawing/2014/main" val="10003"/>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n_estimators</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Number of boosting rounds (trees)</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min_child_samples</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Min data points per leaf; higher = smoother model</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extLst>
                  <a:ext uri="{0D108BD9-81ED-4DB2-BD59-A6C34878D82A}">
                    <a16:rowId xmlns:a16="http://schemas.microsoft.com/office/drawing/2014/main" val="10005"/>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feature_fraction</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Fraction of features used per tree; prevents overfitting</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bagging_fraction</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Fraction of data sampled per iteration</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EAF4FB"/>
                    </a:solidFill>
                  </a:tcPr>
                </a:tc>
                <a:extLst>
                  <a:ext uri="{0D108BD9-81ED-4DB2-BD59-A6C34878D82A}">
                    <a16:rowId xmlns:a16="http://schemas.microsoft.com/office/drawing/2014/main" val="10007"/>
                  </a:ext>
                </a:extLst>
              </a:tr>
              <a:tr h="365421">
                <a:tc>
                  <a:txBody>
                    <a:bodyPr/>
                    <a:lstStyle/>
                    <a:p>
                      <a:pPr marL="0" indent="0">
                        <a:buNone/>
                      </a:pPr>
                      <a:r>
                        <a:rPr lang="en-US" sz="1100" b="1" dirty="0">
                          <a:solidFill>
                            <a:srgbClr val="1B4F72"/>
                          </a:solidFill>
                          <a:latin typeface="Calibri" pitchFamily="34" charset="0"/>
                          <a:ea typeface="Calibri" pitchFamily="34" charset="-122"/>
                          <a:cs typeface="Calibri" pitchFamily="34" charset="-120"/>
                        </a:rPr>
                        <a:t>reg_alpha / reg_lambda</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L1 / L2 regularisation strength</a:t>
                      </a:r>
                      <a:endParaRPr lang="en-US" sz="1100" dirty="0">
                        <a:latin typeface="Calibri" charset="0"/>
                        <a:ea typeface="Calibri" charset="0"/>
                        <a:cs typeface="Calibri" charset="0"/>
                      </a:endParaRPr>
                    </a:p>
                  </a:txBody>
                  <a:tcPr>
                    <a:lnL w="6350" cap="flat" cmpd="sng" algn="ctr">
                      <a:solidFill>
                        <a:srgbClr val="D0DDE6"/>
                      </a:solidFill>
                      <a:prstDash val="solid"/>
                      <a:round/>
                      <a:headEnd type="none" w="med" len="med"/>
                      <a:tailEnd type="none" w="med" len="med"/>
                    </a:lnL>
                    <a:lnR w="6350" cap="flat" cmpd="sng" algn="ctr">
                      <a:solidFill>
                        <a:srgbClr val="D0DDE6"/>
                      </a:solidFill>
                      <a:prstDash val="solid"/>
                      <a:round/>
                      <a:headEnd type="none" w="med" len="med"/>
                      <a:tailEnd type="none" w="med" len="med"/>
                    </a:lnR>
                    <a:lnT w="6350" cap="flat" cmpd="sng" algn="ctr">
                      <a:solidFill>
                        <a:srgbClr val="D0DDE6"/>
                      </a:solidFill>
                      <a:prstDash val="solid"/>
                      <a:round/>
                      <a:headEnd type="none" w="med" len="med"/>
                      <a:tailEnd type="none" w="med" len="med"/>
                    </a:lnT>
                    <a:lnB w="6350" cap="flat" cmpd="sng" algn="ctr">
                      <a:solidFill>
                        <a:srgbClr val="D0DD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8DC72945-4BCB-4167-A178-286E669437E5}"/>
              </a:ext>
            </a:extLst>
          </p:cNvPr>
          <p:cNvSpPr/>
          <p:nvPr/>
        </p:nvSpPr>
        <p:spPr>
          <a:xfrm>
            <a:off x="228600" y="717972"/>
            <a:ext cx="8686800" cy="716991"/>
          </a:xfrm>
          <a:prstGeom prst="rect">
            <a:avLst/>
          </a:prstGeom>
        </p:spPr>
        <p:txBody>
          <a:bodyPr wrap="square">
            <a:spAutoFit/>
          </a:bodyPr>
          <a:lstStyle/>
          <a:p>
            <a:pPr fontAlgn="base">
              <a:lnSpc>
                <a:spcPct val="115000"/>
              </a:lnSpc>
              <a:spcAft>
                <a:spcPts val="750"/>
              </a:spcAft>
            </a:pPr>
            <a:r>
              <a:rPr lang="en-US" sz="1200" kern="0" spc="10" dirty="0">
                <a:solidFill>
                  <a:srgbClr val="273239"/>
                </a:solidFill>
                <a:ea typeface="Times New Roman" panose="02020603050405020304" pitchFamily="18" charset="0"/>
                <a:cs typeface="Arial" panose="020B0604020202020204" pitchFamily="34" charset="0"/>
              </a:rPr>
              <a:t>Hyperparameter</a:t>
            </a:r>
            <a:r>
              <a:rPr lang="en-US" sz="1200" kern="0" spc="10" dirty="0">
                <a:solidFill>
                  <a:srgbClr val="273239"/>
                </a:solidFill>
                <a:latin typeface="Nunito"/>
                <a:ea typeface="Times New Roman" panose="02020603050405020304" pitchFamily="18" charset="0"/>
                <a:cs typeface="Arial" panose="020B0604020202020204" pitchFamily="34" charset="0"/>
              </a:rPr>
              <a:t> tuning is the process of selecting the optimal values for a machine learning model's hyperparameters. These are </a:t>
            </a:r>
            <a:r>
              <a:rPr lang="en-US" sz="1100" kern="0" spc="10" dirty="0">
                <a:solidFill>
                  <a:srgbClr val="273239"/>
                </a:solidFill>
                <a:latin typeface="Nunito"/>
                <a:ea typeface="Times New Roman" panose="02020603050405020304" pitchFamily="18" charset="0"/>
                <a:cs typeface="Arial" panose="020B0604020202020204" pitchFamily="34" charset="0"/>
              </a:rPr>
              <a:t>typically</a:t>
            </a:r>
            <a:r>
              <a:rPr lang="en-US" sz="1200" kern="0" spc="10" dirty="0">
                <a:solidFill>
                  <a:srgbClr val="273239"/>
                </a:solidFill>
                <a:latin typeface="Nunito"/>
                <a:ea typeface="Times New Roman" panose="02020603050405020304" pitchFamily="18" charset="0"/>
                <a:cs typeface="Arial" panose="020B0604020202020204" pitchFamily="34" charset="0"/>
              </a:rPr>
              <a:t> set before the actual training process begins and control aspects of the learning process itself. Effective tuning helps the model learn better patterns, avoid overfitting or underfitting and achieve higher accuracy on unseen data.</a:t>
            </a:r>
            <a:endParaRPr lang="en-US" sz="1200" kern="100" dirty="0">
              <a:effectLst/>
              <a:latin typeface="Aptos"/>
              <a:ea typeface="Aptos"/>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Hyperparameter Tuning">
    <p:bg>
      <p:bgPr>
        <a:solidFill>
          <a:srgbClr val="F0F4F8"/>
        </a:solidFill>
        <a:effectLst/>
      </p:bgPr>
    </p:bg>
    <p:spTree>
      <p:nvGrpSpPr>
        <p:cNvPr id="1" name=""/>
        <p:cNvGrpSpPr/>
        <p:nvPr/>
      </p:nvGrpSpPr>
      <p:grpSpPr>
        <a:xfrm>
          <a:off x="0" y="0"/>
          <a:ext cx="0" cy="0"/>
          <a:chOff x="0" y="0"/>
          <a:chExt cx="0" cy="0"/>
        </a:xfrm>
      </p:grpSpPr>
      <p:sp>
        <p:nvSpPr>
          <p:cNvPr id="2" name="HeaderBg"/>
          <p:cNvSpPr/>
          <p:nvPr/>
        </p:nvSpPr>
        <p:spPr>
          <a:xfrm>
            <a:off x="0" y="0"/>
            <a:ext cx="9144000" cy="777240"/>
          </a:xfrm>
          <a:prstGeom prst="rect">
            <a:avLst/>
          </a:prstGeom>
          <a:solidFill>
            <a:srgbClr val="1B4F72"/>
          </a:solidFill>
          <a:ln/>
        </p:spPr>
      </p:sp>
      <p:sp>
        <p:nvSpPr>
          <p:cNvPr id="3" name="HeaderTitle"/>
          <p:cNvSpPr/>
          <p:nvPr/>
        </p:nvSpPr>
        <p:spPr>
          <a:xfrm>
            <a:off x="365760" y="0"/>
            <a:ext cx="8412480" cy="7772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rPr>
              <a:t>HYPERPARAMETER TUNING</a:t>
            </a:r>
          </a:p>
        </p:txBody>
      </p:sp>
      <p:sp>
        <p:nvSpPr>
          <p:cNvPr id="4" name="Subtitle"/>
          <p:cNvSpPr/>
          <p:nvPr/>
        </p:nvSpPr>
        <p:spPr>
          <a:xfrm>
            <a:off x="365760" y="822960"/>
            <a:ext cx="8412480" cy="320040"/>
          </a:xfrm>
          <a:prstGeom prst="rect">
            <a:avLst/>
          </a:prstGeom>
          <a:noFill/>
          <a:ln/>
        </p:spPr>
        <p:txBody>
          <a:bodyPr wrap="square" rtlCol="0" anchor="ctr"/>
          <a:lstStyle/>
          <a:p>
            <a:pPr marL="0" indent="0">
              <a:buNone/>
            </a:pPr>
            <a:r>
              <a:rPr lang="en-US" sz="1100" i="1" dirty="0">
                <a:solidFill>
                  <a:srgbClr val="5D7A8A"/>
                </a:solidFill>
                <a:latin typeface="Calibri" pitchFamily="34" charset="0"/>
              </a:rPr>
              <a:t>Selecting optimal hyperparameter values to improve model learning, accuracy and generalisation.</a:t>
            </a:r>
          </a:p>
        </p:txBody>
      </p:sp>
      <p:sp>
        <p:nvSpPr>
          <p:cNvPr id="10" name="LeftCardBg"/>
          <p:cNvSpPr/>
          <p:nvPr/>
        </p:nvSpPr>
        <p:spPr>
          <a:xfrm>
            <a:off x="274320" y="1234440"/>
            <a:ext cx="4115880" cy="3703320"/>
          </a:xfrm>
          <a:prstGeom prst="roundRect">
            <a:avLst>
              <a:gd name="adj" fmla="val 20000"/>
            </a:avLst>
          </a:prstGeom>
          <a:solidFill>
            <a:srgbClr val="FFFFFF"/>
          </a:solidFill>
          <a:ln>
            <a:noFill/>
          </a:ln>
          <a:effectLst>
            <a:outerShdw blurRad="76200" dist="38100" dir="2700000" algn="tl" rotWithShape="0">
              <a:srgbClr val="000000">
                <a:alpha val="12000"/>
              </a:srgbClr>
            </a:outerShdw>
          </a:effectLst>
        </p:spPr>
      </p:sp>
      <p:sp>
        <p:nvSpPr>
          <p:cNvPr id="11" name="LeftCardTitle"/>
          <p:cNvSpPr/>
          <p:nvPr/>
        </p:nvSpPr>
        <p:spPr>
          <a:xfrm>
            <a:off x="274320" y="1234440"/>
            <a:ext cx="4115880" cy="685800"/>
          </a:xfrm>
          <a:prstGeom prst="roundRect">
            <a:avLst>
              <a:gd name="adj" fmla="val 10000"/>
            </a:avLst>
          </a:prstGeom>
          <a:solidFill>
            <a:srgbClr val="1B4F72"/>
          </a:solidFill>
          <a:ln>
            <a:noFill/>
          </a:ln>
        </p:spPr>
        <p:txBody>
          <a:bodyPr wrap="square" lIns="91440" tIns="91440" rIns="91440" bIns="91440" rtlCol="0" anchor="ctr"/>
          <a:lstStyle/>
          <a:p>
            <a:pPr marL="0" indent="0">
              <a:buNone/>
            </a:pPr>
            <a:r>
              <a:rPr lang="en-US" sz="1400" b="1" dirty="0">
                <a:solidFill>
                  <a:srgbClr val="FFFFFF"/>
                </a:solidFill>
                <a:latin typeface="Cambria" pitchFamily="34" charset="0"/>
              </a:rPr>
              <a:t>1. GridSearchCV</a:t>
            </a:r>
          </a:p>
        </p:txBody>
      </p:sp>
      <p:sp>
        <p:nvSpPr>
          <p:cNvPr id="12" name="LeftCardBody"/>
          <p:cNvSpPr/>
          <p:nvPr/>
        </p:nvSpPr>
        <p:spPr>
          <a:xfrm>
            <a:off x="365760" y="1966200"/>
            <a:ext cx="3932640" cy="2880360"/>
          </a:xfrm>
          <a:prstGeom prst="rect">
            <a:avLst/>
          </a:prstGeom>
          <a:noFill/>
          <a:ln/>
        </p:spPr>
        <p:txBody>
          <a:bodyPr wrap="square" rtlCol="0" anchor="t"/>
          <a:lstStyle/>
          <a:p>
            <a:pPr marL="0" indent="0">
              <a:buNone/>
            </a:pPr>
            <a:r>
              <a:rPr lang="en-US" sz="1100" dirty="0">
                <a:solidFill>
                  <a:srgbClr val="1A2A3A"/>
                </a:solidFill>
                <a:latin typeface="Calibri" pitchFamily="34" charset="0"/>
              </a:rPr>
              <a:t>A brute-force technique that trains the model on every possible combination of specified hyperparameter values to find the best setup. It is thorough but slow and resource-heavy on large datasets.</a:t>
            </a:r>
          </a:p>
          <a:p>
            <a:endParaRPr lang="en-US" sz="1100" dirty="0"/>
          </a:p>
          <a:p>
            <a:pPr marL="0" indent="0">
              <a:buNone/>
            </a:pPr>
            <a:r>
              <a:rPr lang="en-US" sz="1100" b="1" dirty="0">
                <a:solidFill>
                  <a:srgbClr val="1B4F72"/>
                </a:solidFill>
                <a:latin typeface="Cambria" pitchFamily="34" charset="0"/>
              </a:rPr>
              <a:t>Key Components:</a:t>
            </a:r>
          </a:p>
          <a:p>
            <a:pPr marL="228600" indent="-228600">
              <a:buChar char="•"/>
            </a:pPr>
            <a:r>
              <a:rPr lang="en-US" sz="1050" b="1" dirty="0">
                <a:solidFill>
                  <a:srgbClr val="1A2A3A"/>
                </a:solidFill>
                <a:latin typeface="Calibri" pitchFamily="34" charset="0"/>
              </a:rPr>
              <a:t>Estimator</a:t>
            </a:r>
            <a:r>
              <a:rPr lang="en-US" sz="1050" dirty="0">
                <a:solidFill>
                  <a:srgbClr val="1A2A3A"/>
                </a:solidFill>
                <a:latin typeface="Calibri" pitchFamily="34" charset="0"/>
              </a:rPr>
              <a:t> — the ML model to be tuned</a:t>
            </a:r>
          </a:p>
          <a:p>
            <a:pPr marL="228600" indent="-228600">
              <a:buChar char="•"/>
            </a:pPr>
            <a:r>
              <a:rPr lang="en-US" sz="1050" b="1" dirty="0">
                <a:solidFill>
                  <a:srgbClr val="1A2A3A"/>
                </a:solidFill>
                <a:latin typeface="Calibri" pitchFamily="34" charset="0"/>
              </a:rPr>
              <a:t>Param_grid</a:t>
            </a:r>
            <a:r>
              <a:rPr lang="en-US" sz="1050" dirty="0">
                <a:solidFill>
                  <a:srgbClr val="1A2A3A"/>
                </a:solidFill>
                <a:latin typeface="Calibri" pitchFamily="34" charset="0"/>
              </a:rPr>
              <a:t> — dictionary of parameter values to search</a:t>
            </a:r>
          </a:p>
          <a:p>
            <a:pPr marL="228600" indent="-228600">
              <a:buChar char="•"/>
            </a:pPr>
            <a:r>
              <a:rPr lang="en-US" sz="1050" b="1" dirty="0">
                <a:solidFill>
                  <a:srgbClr val="1A2A3A"/>
                </a:solidFill>
                <a:latin typeface="Calibri" pitchFamily="34" charset="0"/>
              </a:rPr>
              <a:t>Scoring</a:t>
            </a:r>
            <a:r>
              <a:rPr lang="en-US" sz="1050" dirty="0">
                <a:solidFill>
                  <a:srgbClr val="1A2A3A"/>
                </a:solidFill>
                <a:latin typeface="Calibri" pitchFamily="34" charset="0"/>
              </a:rPr>
              <a:t> — metric used to evaluate performance</a:t>
            </a:r>
          </a:p>
          <a:p>
            <a:pPr marL="228600" indent="-228600">
              <a:buChar char="•"/>
            </a:pPr>
            <a:r>
              <a:rPr lang="en-US" sz="1050" b="1" dirty="0">
                <a:solidFill>
                  <a:srgbClr val="1A2A3A"/>
                </a:solidFill>
                <a:latin typeface="Calibri" pitchFamily="34" charset="0"/>
              </a:rPr>
              <a:t>CV</a:t>
            </a:r>
            <a:r>
              <a:rPr lang="en-US" sz="1050" dirty="0">
                <a:solidFill>
                  <a:srgbClr val="1A2A3A"/>
                </a:solidFill>
                <a:latin typeface="Calibri" pitchFamily="34" charset="0"/>
              </a:rPr>
              <a:t> — cross-validation strategy</a:t>
            </a:r>
          </a:p>
        </p:txBody>
      </p:sp>
      <p:sp>
        <p:nvSpPr>
          <p:cNvPr id="20" name="RightCardBg"/>
          <p:cNvSpPr/>
          <p:nvPr/>
        </p:nvSpPr>
        <p:spPr>
          <a:xfrm>
            <a:off x="4572000" y="1234440"/>
            <a:ext cx="4298520" cy="3703320"/>
          </a:xfrm>
          <a:prstGeom prst="roundRect">
            <a:avLst>
              <a:gd name="adj" fmla="val 20000"/>
            </a:avLst>
          </a:prstGeom>
          <a:solidFill>
            <a:srgbClr val="FFFFFF"/>
          </a:solidFill>
          <a:ln>
            <a:noFill/>
          </a:ln>
          <a:effectLst>
            <a:outerShdw blurRad="76200" dist="38100" dir="2700000" algn="tl" rotWithShape="0">
              <a:srgbClr val="000000">
                <a:alpha val="12000"/>
              </a:srgbClr>
            </a:outerShdw>
          </a:effectLst>
        </p:spPr>
      </p:sp>
      <p:sp>
        <p:nvSpPr>
          <p:cNvPr id="21" name="RightCardTitle"/>
          <p:cNvSpPr/>
          <p:nvPr/>
        </p:nvSpPr>
        <p:spPr>
          <a:xfrm>
            <a:off x="4572000" y="1234440"/>
            <a:ext cx="4298520" cy="685800"/>
          </a:xfrm>
          <a:prstGeom prst="roundRect">
            <a:avLst>
              <a:gd name="adj" fmla="val 10000"/>
            </a:avLst>
          </a:prstGeom>
          <a:solidFill>
            <a:srgbClr val="1ABC9C"/>
          </a:solidFill>
          <a:ln>
            <a:noFill/>
          </a:ln>
        </p:spPr>
        <p:txBody>
          <a:bodyPr wrap="square" lIns="91440" tIns="91440" rIns="91440" bIns="91440" rtlCol="0" anchor="ctr"/>
          <a:lstStyle/>
          <a:p>
            <a:pPr marL="0" indent="0">
              <a:buNone/>
            </a:pPr>
            <a:r>
              <a:rPr lang="en-US" sz="1400" b="1" dirty="0">
                <a:solidFill>
                  <a:srgbClr val="FFFFFF"/>
                </a:solidFill>
                <a:latin typeface="Cambria" pitchFamily="34" charset="0"/>
              </a:rPr>
              <a:t>2. RandomizedSearchCV</a:t>
            </a:r>
          </a:p>
        </p:txBody>
      </p:sp>
      <p:sp>
        <p:nvSpPr>
          <p:cNvPr id="22" name="RightCardBody"/>
          <p:cNvSpPr/>
          <p:nvPr/>
        </p:nvSpPr>
        <p:spPr>
          <a:xfrm>
            <a:off x="4663440" y="1966200"/>
            <a:ext cx="4115880" cy="2880360"/>
          </a:xfrm>
          <a:prstGeom prst="rect">
            <a:avLst/>
          </a:prstGeom>
          <a:noFill/>
          <a:ln/>
        </p:spPr>
        <p:txBody>
          <a:bodyPr wrap="square" rtlCol="0" anchor="t"/>
          <a:lstStyle/>
          <a:p>
            <a:pPr marL="0" indent="0">
              <a:buNone/>
            </a:pPr>
            <a:r>
              <a:rPr lang="en-US" sz="1100" dirty="0">
                <a:solidFill>
                  <a:srgbClr val="1A2A3A"/>
                </a:solidFill>
                <a:latin typeface="Calibri" pitchFamily="34" charset="0"/>
              </a:rPr>
              <a:t>Picks random combinations of hyperparameters from given ranges instead of checking every combination. Faster than GridSearchCV and works well on large search spaces.</a:t>
            </a:r>
          </a:p>
          <a:p>
            <a:endParaRPr lang="en-US" sz="1100" dirty="0"/>
          </a:p>
          <a:p>
            <a:pPr marL="0" indent="0">
              <a:buNone/>
            </a:pPr>
            <a:r>
              <a:rPr lang="en-US" sz="1100" b="1" dirty="0">
                <a:solidFill>
                  <a:srgbClr val="1B4F72"/>
                </a:solidFill>
                <a:latin typeface="Cambria" pitchFamily="34" charset="0"/>
              </a:rPr>
              <a:t>How It Works:</a:t>
            </a:r>
          </a:p>
          <a:p>
            <a:pPr marL="228600" indent="-228600">
              <a:buChar char="•"/>
            </a:pPr>
            <a:r>
              <a:rPr lang="en-US" sz="1050" dirty="0">
                <a:solidFill>
                  <a:srgbClr val="1A2A3A"/>
                </a:solidFill>
                <a:latin typeface="Calibri" pitchFamily="34" charset="0"/>
              </a:rPr>
              <a:t>Randomly samples hyperparameter combinations from specified ranges</a:t>
            </a:r>
          </a:p>
          <a:p>
            <a:pPr marL="228600" indent="-228600">
              <a:buChar char="•"/>
            </a:pPr>
            <a:r>
              <a:rPr lang="en-US" sz="1050" dirty="0">
                <a:solidFill>
                  <a:srgbClr val="1A2A3A"/>
                </a:solidFill>
                <a:latin typeface="Calibri" pitchFamily="34" charset="0"/>
              </a:rPr>
              <a:t>Trains and records model performance for each combination</a:t>
            </a:r>
          </a:p>
          <a:p>
            <a:pPr marL="228600" indent="-228600">
              <a:buChar char="•"/>
            </a:pPr>
            <a:r>
              <a:rPr lang="en-US" sz="1050" dirty="0">
                <a:solidFill>
                  <a:srgbClr val="1A2A3A"/>
                </a:solidFill>
                <a:latin typeface="Calibri" pitchFamily="34" charset="0"/>
              </a:rPr>
              <a:t>After several iterations, selects the best-performing set</a:t>
            </a:r>
          </a:p>
          <a:p>
            <a:pPr marL="228600" indent="-228600">
              <a:buChar char="•"/>
            </a:pPr>
            <a:r>
              <a:rPr lang="en-US" sz="1050" dirty="0">
                <a:solidFill>
                  <a:srgbClr val="1A2A3A"/>
                </a:solidFill>
                <a:latin typeface="Calibri" pitchFamily="34" charset="0"/>
              </a:rPr>
              <a:t>Ideal when search space is large or training time is limited</a:t>
            </a:r>
          </a:p>
        </p:txBody>
      </p:sp>
      <p:sp>
        <p:nvSpPr>
          <p:cNvPr id="30" name="VsCircle"/>
          <p:cNvSpPr/>
          <p:nvPr/>
        </p:nvSpPr>
        <p:spPr>
          <a:xfrm>
            <a:off x="4206240" y="2743200"/>
            <a:ext cx="457200" cy="457200"/>
          </a:xfrm>
          <a:prstGeom prst="ellipse">
            <a:avLst/>
          </a:prstGeom>
          <a:solidFill>
            <a:srgbClr val="0D1B2A"/>
          </a:solidFill>
          <a:ln>
            <a:noFill/>
          </a:ln>
        </p:spPr>
        <p:txBody>
          <a:bodyPr wrap="square" lIns="0" tIns="0" rIns="0" bIns="0" rtlCol="0" anchor="ctr"/>
          <a:lstStyle/>
          <a:p>
            <a:pPr marL="0" indent="0" algn="ctr">
              <a:buNone/>
            </a:pPr>
            <a:r>
              <a:rPr lang="en-US" sz="1100" b="1" dirty="0">
                <a:solidFill>
                  <a:srgbClr val="FFFFFF"/>
                </a:solidFill>
                <a:latin typeface="Calibri" pitchFamily="34" charset="0"/>
              </a:rPr>
              <a:t>VS</a:t>
            </a:r>
          </a:p>
        </p:txBody>
      </p:sp>
      <p:sp>
        <p:nvSpPr>
          <p:cNvPr id="40" name="BottomNote"/>
          <p:cNvSpPr/>
          <p:nvPr/>
        </p:nvSpPr>
        <p:spPr>
          <a:xfrm>
            <a:off x="274320" y="5029200"/>
            <a:ext cx="8595360" cy="274320"/>
          </a:xfrm>
          <a:prstGeom prst="rect">
            <a:avLst/>
          </a:prstGeom>
          <a:noFill/>
          <a:ln/>
        </p:spPr>
        <p:txBody>
          <a:bodyPr wrap="square" rtlCol="0" anchor="ctr"/>
          <a:lstStyle/>
          <a:p>
            <a:pPr marL="0" indent="0">
              <a:buNone/>
            </a:pPr>
            <a:r>
              <a:rPr lang="en-US" sz="1000" i="1" dirty="0">
                <a:solidFill>
                  <a:srgbClr val="5D7A8A"/>
                </a:solidFill>
                <a:latin typeface="Calibri" pitchFamily="34" charset="0"/>
              </a:rPr>
              <a:t>✦ Both techniques use cross-validation to find the best hyperparameter configuration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F72"/>
          </a:solidFill>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MODEL EVALUATION METRICS</a:t>
            </a:r>
            <a:endParaRPr lang="en-US" sz="2000" dirty="0"/>
          </a:p>
        </p:txBody>
      </p:sp>
      <p:sp>
        <p:nvSpPr>
          <p:cNvPr id="4" name="Text 2"/>
          <p:cNvSpPr/>
          <p:nvPr/>
        </p:nvSpPr>
        <p:spPr>
          <a:xfrm>
            <a:off x="274320" y="914400"/>
            <a:ext cx="4023360" cy="365760"/>
          </a:xfrm>
          <a:prstGeom prst="rect">
            <a:avLst/>
          </a:prstGeom>
          <a:noFill/>
          <a:ln/>
        </p:spPr>
        <p:txBody>
          <a:bodyPr wrap="square"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Classification Metrics</a:t>
            </a:r>
            <a:endParaRPr lang="en-US" sz="1400" dirty="0"/>
          </a:p>
        </p:txBody>
      </p:sp>
      <p:sp>
        <p:nvSpPr>
          <p:cNvPr id="5" name="Shape 3"/>
          <p:cNvSpPr/>
          <p:nvPr/>
        </p:nvSpPr>
        <p:spPr>
          <a:xfrm>
            <a:off x="274320" y="1371600"/>
            <a:ext cx="4023360" cy="594360"/>
          </a:xfrm>
          <a:prstGeom prst="roundRect">
            <a:avLst>
              <a:gd name="adj" fmla="val 9231"/>
            </a:avLst>
          </a:prstGeom>
          <a:solidFill>
            <a:srgbClr val="EAF4FB"/>
          </a:solidFill>
          <a:ln/>
        </p:spPr>
      </p:sp>
      <p:sp>
        <p:nvSpPr>
          <p:cNvPr id="6" name="Text 4"/>
          <p:cNvSpPr/>
          <p:nvPr/>
        </p:nvSpPr>
        <p:spPr>
          <a:xfrm>
            <a:off x="411480" y="1417320"/>
            <a:ext cx="118872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Accuracy</a:t>
            </a:r>
            <a:endParaRPr lang="en-US" sz="1200" dirty="0"/>
          </a:p>
        </p:txBody>
      </p:sp>
      <p:sp>
        <p:nvSpPr>
          <p:cNvPr id="7" name="Text 5"/>
          <p:cNvSpPr/>
          <p:nvPr/>
        </p:nvSpPr>
        <p:spPr>
          <a:xfrm>
            <a:off x="1554480" y="1417320"/>
            <a:ext cx="123444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Correct / Total</a:t>
            </a:r>
            <a:endParaRPr lang="en-US" sz="1050" dirty="0"/>
          </a:p>
        </p:txBody>
      </p:sp>
      <p:sp>
        <p:nvSpPr>
          <p:cNvPr id="8" name="Text 6"/>
          <p:cNvSpPr/>
          <p:nvPr/>
        </p:nvSpPr>
        <p:spPr>
          <a:xfrm>
            <a:off x="411480" y="1682496"/>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Overall correctness; baseline metric.</a:t>
            </a:r>
            <a:endParaRPr lang="en-US" sz="1050" dirty="0"/>
          </a:p>
        </p:txBody>
      </p:sp>
      <p:sp>
        <p:nvSpPr>
          <p:cNvPr id="9" name="Shape 7"/>
          <p:cNvSpPr/>
          <p:nvPr/>
        </p:nvSpPr>
        <p:spPr>
          <a:xfrm>
            <a:off x="274320" y="2066544"/>
            <a:ext cx="4023360" cy="594360"/>
          </a:xfrm>
          <a:prstGeom prst="roundRect">
            <a:avLst>
              <a:gd name="adj" fmla="val 9231"/>
            </a:avLst>
          </a:prstGeom>
          <a:solidFill>
            <a:srgbClr val="FFFFFF"/>
          </a:solidFill>
          <a:ln/>
        </p:spPr>
      </p:sp>
      <p:sp>
        <p:nvSpPr>
          <p:cNvPr id="10" name="Text 8"/>
          <p:cNvSpPr/>
          <p:nvPr/>
        </p:nvSpPr>
        <p:spPr>
          <a:xfrm>
            <a:off x="411480" y="2112264"/>
            <a:ext cx="118872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Precision</a:t>
            </a:r>
            <a:endParaRPr lang="en-US" sz="1200" dirty="0"/>
          </a:p>
        </p:txBody>
      </p:sp>
      <p:sp>
        <p:nvSpPr>
          <p:cNvPr id="11" name="Text 9"/>
          <p:cNvSpPr/>
          <p:nvPr/>
        </p:nvSpPr>
        <p:spPr>
          <a:xfrm>
            <a:off x="1554480" y="2112264"/>
            <a:ext cx="123444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TP / (TP + FP)</a:t>
            </a:r>
            <a:endParaRPr lang="en-US" sz="1050" dirty="0"/>
          </a:p>
        </p:txBody>
      </p:sp>
      <p:sp>
        <p:nvSpPr>
          <p:cNvPr id="12" name="Text 10"/>
          <p:cNvSpPr/>
          <p:nvPr/>
        </p:nvSpPr>
        <p:spPr>
          <a:xfrm>
            <a:off x="411480" y="2377440"/>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Of predicted positives, how many are real?</a:t>
            </a:r>
            <a:endParaRPr lang="en-US" sz="1050" dirty="0"/>
          </a:p>
        </p:txBody>
      </p:sp>
      <p:sp>
        <p:nvSpPr>
          <p:cNvPr id="13" name="Shape 11"/>
          <p:cNvSpPr/>
          <p:nvPr/>
        </p:nvSpPr>
        <p:spPr>
          <a:xfrm>
            <a:off x="274320" y="2761488"/>
            <a:ext cx="4023360" cy="594360"/>
          </a:xfrm>
          <a:prstGeom prst="roundRect">
            <a:avLst>
              <a:gd name="adj" fmla="val 9231"/>
            </a:avLst>
          </a:prstGeom>
          <a:solidFill>
            <a:srgbClr val="EAF4FB"/>
          </a:solidFill>
          <a:ln/>
        </p:spPr>
      </p:sp>
      <p:sp>
        <p:nvSpPr>
          <p:cNvPr id="14" name="Text 12"/>
          <p:cNvSpPr/>
          <p:nvPr/>
        </p:nvSpPr>
        <p:spPr>
          <a:xfrm>
            <a:off x="411480" y="2807208"/>
            <a:ext cx="118872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Recall</a:t>
            </a:r>
            <a:endParaRPr lang="en-US" sz="1200" dirty="0"/>
          </a:p>
        </p:txBody>
      </p:sp>
      <p:sp>
        <p:nvSpPr>
          <p:cNvPr id="15" name="Text 13"/>
          <p:cNvSpPr/>
          <p:nvPr/>
        </p:nvSpPr>
        <p:spPr>
          <a:xfrm>
            <a:off x="1554480" y="2807208"/>
            <a:ext cx="123444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TP / (TP + FN)</a:t>
            </a:r>
            <a:endParaRPr lang="en-US" sz="1050" dirty="0"/>
          </a:p>
        </p:txBody>
      </p:sp>
      <p:sp>
        <p:nvSpPr>
          <p:cNvPr id="16" name="Text 14"/>
          <p:cNvSpPr/>
          <p:nvPr/>
        </p:nvSpPr>
        <p:spPr>
          <a:xfrm>
            <a:off x="411480" y="3072384"/>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Of all actual positives, how many found?</a:t>
            </a:r>
            <a:endParaRPr lang="en-US" sz="1050" dirty="0"/>
          </a:p>
        </p:txBody>
      </p:sp>
      <p:sp>
        <p:nvSpPr>
          <p:cNvPr id="17" name="Shape 15"/>
          <p:cNvSpPr/>
          <p:nvPr/>
        </p:nvSpPr>
        <p:spPr>
          <a:xfrm>
            <a:off x="274320" y="3456432"/>
            <a:ext cx="4023360" cy="594360"/>
          </a:xfrm>
          <a:prstGeom prst="roundRect">
            <a:avLst>
              <a:gd name="adj" fmla="val 9231"/>
            </a:avLst>
          </a:prstGeom>
          <a:solidFill>
            <a:srgbClr val="FFFFFF"/>
          </a:solidFill>
          <a:ln/>
        </p:spPr>
      </p:sp>
      <p:sp>
        <p:nvSpPr>
          <p:cNvPr id="18" name="Text 16"/>
          <p:cNvSpPr/>
          <p:nvPr/>
        </p:nvSpPr>
        <p:spPr>
          <a:xfrm>
            <a:off x="411480" y="3502152"/>
            <a:ext cx="118872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F1-Score</a:t>
            </a:r>
            <a:endParaRPr lang="en-US" sz="1200" dirty="0"/>
          </a:p>
        </p:txBody>
      </p:sp>
      <p:sp>
        <p:nvSpPr>
          <p:cNvPr id="19" name="Text 17"/>
          <p:cNvSpPr/>
          <p:nvPr/>
        </p:nvSpPr>
        <p:spPr>
          <a:xfrm>
            <a:off x="1554480" y="3502152"/>
            <a:ext cx="123444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2·(P·R)/(P+R)</a:t>
            </a:r>
            <a:endParaRPr lang="en-US" sz="1050" dirty="0"/>
          </a:p>
        </p:txBody>
      </p:sp>
      <p:sp>
        <p:nvSpPr>
          <p:cNvPr id="20" name="Text 18"/>
          <p:cNvSpPr/>
          <p:nvPr/>
        </p:nvSpPr>
        <p:spPr>
          <a:xfrm>
            <a:off x="411480" y="3767328"/>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Harmonic mean of Precision &amp; Recall.</a:t>
            </a:r>
            <a:endParaRPr lang="en-US" sz="1050" dirty="0"/>
          </a:p>
        </p:txBody>
      </p:sp>
      <p:sp>
        <p:nvSpPr>
          <p:cNvPr id="21" name="Shape 19"/>
          <p:cNvSpPr/>
          <p:nvPr/>
        </p:nvSpPr>
        <p:spPr>
          <a:xfrm>
            <a:off x="274320" y="4151376"/>
            <a:ext cx="4023360" cy="594360"/>
          </a:xfrm>
          <a:prstGeom prst="roundRect">
            <a:avLst>
              <a:gd name="adj" fmla="val 9231"/>
            </a:avLst>
          </a:prstGeom>
          <a:solidFill>
            <a:srgbClr val="EAF4FB"/>
          </a:solidFill>
          <a:ln/>
        </p:spPr>
      </p:sp>
      <p:sp>
        <p:nvSpPr>
          <p:cNvPr id="22" name="Text 20"/>
          <p:cNvSpPr/>
          <p:nvPr/>
        </p:nvSpPr>
        <p:spPr>
          <a:xfrm>
            <a:off x="411480" y="4197096"/>
            <a:ext cx="118872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ROC AUC</a:t>
            </a:r>
            <a:endParaRPr lang="en-US" sz="1200" dirty="0"/>
          </a:p>
        </p:txBody>
      </p:sp>
      <p:sp>
        <p:nvSpPr>
          <p:cNvPr id="23" name="Text 21"/>
          <p:cNvSpPr/>
          <p:nvPr/>
        </p:nvSpPr>
        <p:spPr>
          <a:xfrm>
            <a:off x="1554480" y="4197096"/>
            <a:ext cx="123444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Area under ROC curve</a:t>
            </a:r>
            <a:endParaRPr lang="en-US" sz="1050" dirty="0"/>
          </a:p>
        </p:txBody>
      </p:sp>
      <p:sp>
        <p:nvSpPr>
          <p:cNvPr id="24" name="Text 22"/>
          <p:cNvSpPr/>
          <p:nvPr/>
        </p:nvSpPr>
        <p:spPr>
          <a:xfrm>
            <a:off x="411480" y="4462272"/>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Separability between classes; 1.0 = perfect.</a:t>
            </a:r>
            <a:endParaRPr lang="en-US" sz="1050" dirty="0"/>
          </a:p>
        </p:txBody>
      </p:sp>
      <p:sp>
        <p:nvSpPr>
          <p:cNvPr id="25" name="Text 23"/>
          <p:cNvSpPr/>
          <p:nvPr/>
        </p:nvSpPr>
        <p:spPr>
          <a:xfrm>
            <a:off x="4846320" y="914400"/>
            <a:ext cx="4023360" cy="365760"/>
          </a:xfrm>
          <a:prstGeom prst="rect">
            <a:avLst/>
          </a:prstGeom>
          <a:noFill/>
          <a:ln/>
        </p:spPr>
        <p:txBody>
          <a:bodyPr wrap="square"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Regression Metrics</a:t>
            </a:r>
            <a:endParaRPr lang="en-US" sz="1400" dirty="0"/>
          </a:p>
        </p:txBody>
      </p:sp>
      <p:sp>
        <p:nvSpPr>
          <p:cNvPr id="26" name="Shape 24"/>
          <p:cNvSpPr/>
          <p:nvPr/>
        </p:nvSpPr>
        <p:spPr>
          <a:xfrm>
            <a:off x="4846320" y="1371600"/>
            <a:ext cx="4023360" cy="594360"/>
          </a:xfrm>
          <a:prstGeom prst="roundRect">
            <a:avLst>
              <a:gd name="adj" fmla="val 9231"/>
            </a:avLst>
          </a:prstGeom>
          <a:solidFill>
            <a:srgbClr val="EAF4FB"/>
          </a:solidFill>
          <a:ln/>
        </p:spPr>
      </p:sp>
      <p:sp>
        <p:nvSpPr>
          <p:cNvPr id="27" name="Text 25"/>
          <p:cNvSpPr/>
          <p:nvPr/>
        </p:nvSpPr>
        <p:spPr>
          <a:xfrm>
            <a:off x="4983480" y="1417320"/>
            <a:ext cx="100584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MAE</a:t>
            </a:r>
            <a:endParaRPr lang="en-US" sz="1200" dirty="0"/>
          </a:p>
        </p:txBody>
      </p:sp>
      <p:sp>
        <p:nvSpPr>
          <p:cNvPr id="28" name="Text 26"/>
          <p:cNvSpPr/>
          <p:nvPr/>
        </p:nvSpPr>
        <p:spPr>
          <a:xfrm>
            <a:off x="5943600" y="1417320"/>
            <a:ext cx="137160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Mean |yᵢ − ŷᵢ|</a:t>
            </a:r>
            <a:endParaRPr lang="en-US" sz="1050" dirty="0"/>
          </a:p>
        </p:txBody>
      </p:sp>
      <p:sp>
        <p:nvSpPr>
          <p:cNvPr id="29" name="Text 27"/>
          <p:cNvSpPr/>
          <p:nvPr/>
        </p:nvSpPr>
        <p:spPr>
          <a:xfrm>
            <a:off x="4983480" y="1682496"/>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Average magnitude of errors; easy to interpret.</a:t>
            </a:r>
            <a:endParaRPr lang="en-US" sz="1050" dirty="0"/>
          </a:p>
        </p:txBody>
      </p:sp>
      <p:sp>
        <p:nvSpPr>
          <p:cNvPr id="30" name="Shape 28"/>
          <p:cNvSpPr/>
          <p:nvPr/>
        </p:nvSpPr>
        <p:spPr>
          <a:xfrm>
            <a:off x="4846320" y="2066544"/>
            <a:ext cx="4023360" cy="594360"/>
          </a:xfrm>
          <a:prstGeom prst="roundRect">
            <a:avLst>
              <a:gd name="adj" fmla="val 9231"/>
            </a:avLst>
          </a:prstGeom>
          <a:solidFill>
            <a:srgbClr val="FFFFFF"/>
          </a:solidFill>
          <a:ln/>
        </p:spPr>
      </p:sp>
      <p:sp>
        <p:nvSpPr>
          <p:cNvPr id="31" name="Text 29"/>
          <p:cNvSpPr/>
          <p:nvPr/>
        </p:nvSpPr>
        <p:spPr>
          <a:xfrm>
            <a:off x="4983480" y="2112264"/>
            <a:ext cx="100584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MSE</a:t>
            </a:r>
            <a:endParaRPr lang="en-US" sz="1200" dirty="0"/>
          </a:p>
        </p:txBody>
      </p:sp>
      <p:sp>
        <p:nvSpPr>
          <p:cNvPr id="32" name="Text 30"/>
          <p:cNvSpPr/>
          <p:nvPr/>
        </p:nvSpPr>
        <p:spPr>
          <a:xfrm>
            <a:off x="5943600" y="2112264"/>
            <a:ext cx="137160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Mean (yᵢ − ŷᵢ)²</a:t>
            </a:r>
            <a:endParaRPr lang="en-US" sz="1050" dirty="0"/>
          </a:p>
        </p:txBody>
      </p:sp>
      <p:sp>
        <p:nvSpPr>
          <p:cNvPr id="33" name="Text 31"/>
          <p:cNvSpPr/>
          <p:nvPr/>
        </p:nvSpPr>
        <p:spPr>
          <a:xfrm>
            <a:off x="4983480" y="2377440"/>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Squares errors — penalises large deviations.</a:t>
            </a:r>
            <a:endParaRPr lang="en-US" sz="1050" dirty="0"/>
          </a:p>
        </p:txBody>
      </p:sp>
      <p:sp>
        <p:nvSpPr>
          <p:cNvPr id="34" name="Shape 32"/>
          <p:cNvSpPr/>
          <p:nvPr/>
        </p:nvSpPr>
        <p:spPr>
          <a:xfrm>
            <a:off x="4846320" y="2761488"/>
            <a:ext cx="4023360" cy="594360"/>
          </a:xfrm>
          <a:prstGeom prst="roundRect">
            <a:avLst>
              <a:gd name="adj" fmla="val 9231"/>
            </a:avLst>
          </a:prstGeom>
          <a:solidFill>
            <a:srgbClr val="EAF4FB"/>
          </a:solidFill>
          <a:ln/>
        </p:spPr>
      </p:sp>
      <p:sp>
        <p:nvSpPr>
          <p:cNvPr id="35" name="Text 33"/>
          <p:cNvSpPr/>
          <p:nvPr/>
        </p:nvSpPr>
        <p:spPr>
          <a:xfrm>
            <a:off x="4983480" y="2807208"/>
            <a:ext cx="100584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RMSE</a:t>
            </a:r>
            <a:endParaRPr lang="en-US" sz="1200" dirty="0"/>
          </a:p>
        </p:txBody>
      </p:sp>
      <p:sp>
        <p:nvSpPr>
          <p:cNvPr id="36" name="Text 34"/>
          <p:cNvSpPr/>
          <p:nvPr/>
        </p:nvSpPr>
        <p:spPr>
          <a:xfrm>
            <a:off x="5943600" y="2807208"/>
            <a:ext cx="137160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√MSE</a:t>
            </a:r>
            <a:endParaRPr lang="en-US" sz="1050" dirty="0"/>
          </a:p>
        </p:txBody>
      </p:sp>
      <p:sp>
        <p:nvSpPr>
          <p:cNvPr id="37" name="Text 35"/>
          <p:cNvSpPr/>
          <p:nvPr/>
        </p:nvSpPr>
        <p:spPr>
          <a:xfrm>
            <a:off x="4983480" y="3072384"/>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Same units as target; sensitive to outliers.</a:t>
            </a:r>
            <a:endParaRPr lang="en-US" sz="1050" dirty="0"/>
          </a:p>
        </p:txBody>
      </p:sp>
      <p:sp>
        <p:nvSpPr>
          <p:cNvPr id="38" name="Shape 36"/>
          <p:cNvSpPr/>
          <p:nvPr/>
        </p:nvSpPr>
        <p:spPr>
          <a:xfrm>
            <a:off x="4846320" y="3456432"/>
            <a:ext cx="4023360" cy="594360"/>
          </a:xfrm>
          <a:prstGeom prst="roundRect">
            <a:avLst>
              <a:gd name="adj" fmla="val 9231"/>
            </a:avLst>
          </a:prstGeom>
          <a:solidFill>
            <a:srgbClr val="FFFFFF"/>
          </a:solidFill>
          <a:ln/>
        </p:spPr>
      </p:sp>
      <p:sp>
        <p:nvSpPr>
          <p:cNvPr id="39" name="Text 37"/>
          <p:cNvSpPr/>
          <p:nvPr/>
        </p:nvSpPr>
        <p:spPr>
          <a:xfrm>
            <a:off x="4983480" y="3502152"/>
            <a:ext cx="1005840" cy="274320"/>
          </a:xfrm>
          <a:prstGeom prst="rect">
            <a:avLst/>
          </a:prstGeom>
          <a:noFill/>
          <a:ln/>
        </p:spPr>
        <p:txBody>
          <a:bodyPr wrap="square" rtlCol="0" anchor="ctr"/>
          <a:lstStyle/>
          <a:p>
            <a:pPr marL="0" indent="0">
              <a:buNone/>
            </a:pPr>
            <a:r>
              <a:rPr lang="en-US" sz="1200" b="1" dirty="0">
                <a:solidFill>
                  <a:srgbClr val="1B4F72"/>
                </a:solidFill>
                <a:latin typeface="Cambria" pitchFamily="34" charset="0"/>
                <a:ea typeface="Cambria" pitchFamily="34" charset="-122"/>
                <a:cs typeface="Cambria" pitchFamily="34" charset="-120"/>
              </a:rPr>
              <a:t>R² Score</a:t>
            </a:r>
            <a:endParaRPr lang="en-US" sz="1200" dirty="0"/>
          </a:p>
        </p:txBody>
      </p:sp>
      <p:sp>
        <p:nvSpPr>
          <p:cNvPr id="40" name="Text 38"/>
          <p:cNvSpPr/>
          <p:nvPr/>
        </p:nvSpPr>
        <p:spPr>
          <a:xfrm>
            <a:off x="5943600" y="3502152"/>
            <a:ext cx="1371600" cy="274320"/>
          </a:xfrm>
          <a:prstGeom prst="rect">
            <a:avLst/>
          </a:prstGeom>
          <a:noFill/>
          <a:ln/>
        </p:spPr>
        <p:txBody>
          <a:bodyPr wrap="square" rtlCol="0" anchor="ctr"/>
          <a:lstStyle/>
          <a:p>
            <a:pPr marL="0" indent="0">
              <a:buNone/>
            </a:pPr>
            <a:r>
              <a:rPr lang="en-US" sz="1050" i="1" dirty="0">
                <a:solidFill>
                  <a:srgbClr val="1ABC9C"/>
                </a:solidFill>
                <a:latin typeface="Courier New" pitchFamily="34" charset="0"/>
                <a:ea typeface="Courier New" pitchFamily="34" charset="-122"/>
                <a:cs typeface="Courier New" pitchFamily="34" charset="-120"/>
              </a:rPr>
              <a:t>1 − SS_res/SS_tot</a:t>
            </a:r>
            <a:endParaRPr lang="en-US" sz="1050" dirty="0"/>
          </a:p>
        </p:txBody>
      </p:sp>
      <p:sp>
        <p:nvSpPr>
          <p:cNvPr id="41" name="Text 39"/>
          <p:cNvSpPr/>
          <p:nvPr/>
        </p:nvSpPr>
        <p:spPr>
          <a:xfrm>
            <a:off x="4983480" y="3767328"/>
            <a:ext cx="3749040" cy="237744"/>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Closer to 1.0 = better fit to actual data.</a:t>
            </a:r>
            <a:endParaRPr lang="en-US" sz="1050" dirty="0"/>
          </a:p>
        </p:txBody>
      </p:sp>
      <p:sp>
        <p:nvSpPr>
          <p:cNvPr id="42" name="Shape 40"/>
          <p:cNvSpPr/>
          <p:nvPr/>
        </p:nvSpPr>
        <p:spPr>
          <a:xfrm>
            <a:off x="4480560" y="914400"/>
            <a:ext cx="0" cy="4023360"/>
          </a:xfrm>
          <a:prstGeom prst="line">
            <a:avLst/>
          </a:prstGeom>
          <a:noFill/>
          <a:ln w="12700">
            <a:solidFill>
              <a:srgbClr val="D0DDE6"/>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REAL-WORLD APPLICATIONS</a:t>
            </a:r>
            <a:endParaRPr lang="en-US" sz="2000" dirty="0"/>
          </a:p>
        </p:txBody>
      </p:sp>
      <p:sp>
        <p:nvSpPr>
          <p:cNvPr id="3" name="Shape 1"/>
          <p:cNvSpPr/>
          <p:nvPr/>
        </p:nvSpPr>
        <p:spPr>
          <a:xfrm>
            <a:off x="365760" y="731520"/>
            <a:ext cx="8412480" cy="0"/>
          </a:xfrm>
          <a:prstGeom prst="line">
            <a:avLst/>
          </a:prstGeom>
          <a:noFill/>
          <a:ln w="25400">
            <a:solidFill>
              <a:srgbClr val="1ABC9C"/>
            </a:solidFill>
            <a:prstDash val="solid"/>
          </a:ln>
        </p:spPr>
      </p:sp>
      <p:sp>
        <p:nvSpPr>
          <p:cNvPr id="4" name="Shape 2"/>
          <p:cNvSpPr/>
          <p:nvPr/>
        </p:nvSpPr>
        <p:spPr>
          <a:xfrm>
            <a:off x="274320" y="914400"/>
            <a:ext cx="2743200" cy="1737360"/>
          </a:xfrm>
          <a:prstGeom prst="roundRect">
            <a:avLst>
              <a:gd name="adj" fmla="val 5263"/>
            </a:avLst>
          </a:prstGeom>
          <a:solidFill>
            <a:srgbClr val="152535"/>
          </a:solidFill>
          <a:ln/>
          <a:effectLst>
            <a:outerShdw blurRad="127000" dist="38100" dir="2700000" algn="bl" rotWithShape="0">
              <a:srgbClr val="000000">
                <a:alpha val="30000"/>
              </a:srgbClr>
            </a:outerShdw>
          </a:effectLst>
        </p:spPr>
      </p:sp>
      <p:sp>
        <p:nvSpPr>
          <p:cNvPr id="5" name="Shape 3"/>
          <p:cNvSpPr/>
          <p:nvPr/>
        </p:nvSpPr>
        <p:spPr>
          <a:xfrm>
            <a:off x="411480" y="1078992"/>
            <a:ext cx="384048" cy="384048"/>
          </a:xfrm>
          <a:prstGeom prst="ellipse">
            <a:avLst/>
          </a:prstGeom>
          <a:solidFill>
            <a:srgbClr val="1ABC9C"/>
          </a:solidFill>
          <a:ln/>
        </p:spPr>
      </p:sp>
      <p:sp>
        <p:nvSpPr>
          <p:cNvPr id="6" name="Text 4"/>
          <p:cNvSpPr/>
          <p:nvPr/>
        </p:nvSpPr>
        <p:spPr>
          <a:xfrm>
            <a:off x="411480" y="10789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96112" y="1042416"/>
            <a:ext cx="2011680" cy="457200"/>
          </a:xfrm>
          <a:prstGeom prst="rect">
            <a:avLst/>
          </a:prstGeom>
          <a:noFill/>
          <a:ln/>
        </p:spPr>
        <p:txBody>
          <a:bodyPr wrap="square" rtlCol="0" anchor="ctr"/>
          <a:lstStyle/>
          <a:p>
            <a:pPr marL="0" indent="0">
              <a:buNone/>
            </a:pPr>
            <a:r>
              <a:rPr lang="en-US" sz="1300" b="1" dirty="0">
                <a:solidFill>
                  <a:srgbClr val="1ABC9C"/>
                </a:solidFill>
                <a:latin typeface="Cambria" pitchFamily="34" charset="0"/>
                <a:ea typeface="Cambria" pitchFamily="34" charset="-122"/>
                <a:cs typeface="Cambria" pitchFamily="34" charset="-120"/>
              </a:rPr>
              <a:t>Fraud Detection</a:t>
            </a:r>
            <a:endParaRPr lang="en-US" sz="1300" dirty="0"/>
          </a:p>
        </p:txBody>
      </p:sp>
      <p:sp>
        <p:nvSpPr>
          <p:cNvPr id="8" name="Text 6"/>
          <p:cNvSpPr/>
          <p:nvPr/>
        </p:nvSpPr>
        <p:spPr>
          <a:xfrm>
            <a:off x="457200" y="1572768"/>
            <a:ext cx="2377440" cy="868680"/>
          </a:xfrm>
          <a:prstGeom prst="rect">
            <a:avLst/>
          </a:prstGeom>
          <a:noFill/>
          <a:ln/>
        </p:spPr>
        <p:txBody>
          <a:bodyPr wrap="square" rtlCol="0" anchor="ctr"/>
          <a:lstStyle/>
          <a:p>
            <a:pPr marL="0" indent="0">
              <a:buNone/>
            </a:pPr>
            <a:r>
              <a:rPr lang="en-US" sz="1150" dirty="0">
                <a:solidFill>
                  <a:srgbClr val="AACCDD"/>
                </a:solidFill>
                <a:latin typeface="Calibri" pitchFamily="34" charset="0"/>
                <a:ea typeface="Calibri" pitchFamily="34" charset="-122"/>
                <a:cs typeface="Calibri" pitchFamily="34" charset="-120"/>
              </a:rPr>
              <a:t>Flags suspicious transactions in real-time at scale.</a:t>
            </a:r>
            <a:endParaRPr lang="en-US" sz="1150" dirty="0"/>
          </a:p>
        </p:txBody>
      </p:sp>
      <p:sp>
        <p:nvSpPr>
          <p:cNvPr id="9" name="Shape 7"/>
          <p:cNvSpPr/>
          <p:nvPr/>
        </p:nvSpPr>
        <p:spPr>
          <a:xfrm>
            <a:off x="3246120" y="914400"/>
            <a:ext cx="2743200" cy="1737360"/>
          </a:xfrm>
          <a:prstGeom prst="roundRect">
            <a:avLst>
              <a:gd name="adj" fmla="val 5263"/>
            </a:avLst>
          </a:prstGeom>
          <a:solidFill>
            <a:srgbClr val="152535"/>
          </a:solidFill>
          <a:ln/>
          <a:effectLst>
            <a:outerShdw blurRad="127000" dist="38100" dir="2700000" algn="bl" rotWithShape="0">
              <a:srgbClr val="000000">
                <a:alpha val="30000"/>
              </a:srgbClr>
            </a:outerShdw>
          </a:effectLst>
        </p:spPr>
      </p:sp>
      <p:sp>
        <p:nvSpPr>
          <p:cNvPr id="10" name="Shape 8"/>
          <p:cNvSpPr/>
          <p:nvPr/>
        </p:nvSpPr>
        <p:spPr>
          <a:xfrm>
            <a:off x="3383280" y="1078992"/>
            <a:ext cx="384048" cy="384048"/>
          </a:xfrm>
          <a:prstGeom prst="ellipse">
            <a:avLst/>
          </a:prstGeom>
          <a:solidFill>
            <a:srgbClr val="1ABC9C"/>
          </a:solidFill>
          <a:ln/>
        </p:spPr>
      </p:sp>
      <p:sp>
        <p:nvSpPr>
          <p:cNvPr id="11" name="Text 9"/>
          <p:cNvSpPr/>
          <p:nvPr/>
        </p:nvSpPr>
        <p:spPr>
          <a:xfrm>
            <a:off x="3383280" y="10789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3867912" y="1042416"/>
            <a:ext cx="2011680" cy="457200"/>
          </a:xfrm>
          <a:prstGeom prst="rect">
            <a:avLst/>
          </a:prstGeom>
          <a:noFill/>
          <a:ln/>
        </p:spPr>
        <p:txBody>
          <a:bodyPr wrap="square" rtlCol="0" anchor="ctr"/>
          <a:lstStyle/>
          <a:p>
            <a:pPr marL="0" indent="0">
              <a:buNone/>
            </a:pPr>
            <a:r>
              <a:rPr lang="en-US" sz="1300" b="1" dirty="0">
                <a:solidFill>
                  <a:srgbClr val="1ABC9C"/>
                </a:solidFill>
                <a:latin typeface="Cambria" pitchFamily="34" charset="0"/>
                <a:ea typeface="Cambria" pitchFamily="34" charset="-122"/>
                <a:cs typeface="Cambria" pitchFamily="34" charset="-120"/>
              </a:rPr>
              <a:t>Credit Scoring</a:t>
            </a:r>
            <a:endParaRPr lang="en-US" sz="1300" dirty="0"/>
          </a:p>
        </p:txBody>
      </p:sp>
      <p:sp>
        <p:nvSpPr>
          <p:cNvPr id="13" name="Text 11"/>
          <p:cNvSpPr/>
          <p:nvPr/>
        </p:nvSpPr>
        <p:spPr>
          <a:xfrm>
            <a:off x="3429000" y="1572768"/>
            <a:ext cx="2377440" cy="868680"/>
          </a:xfrm>
          <a:prstGeom prst="rect">
            <a:avLst/>
          </a:prstGeom>
          <a:noFill/>
          <a:ln/>
        </p:spPr>
        <p:txBody>
          <a:bodyPr wrap="square" rtlCol="0" anchor="ctr"/>
          <a:lstStyle/>
          <a:p>
            <a:pPr marL="0" indent="0">
              <a:buNone/>
            </a:pPr>
            <a:r>
              <a:rPr lang="en-US" sz="1150" dirty="0">
                <a:solidFill>
                  <a:srgbClr val="AACCDD"/>
                </a:solidFill>
                <a:latin typeface="Calibri" pitchFamily="34" charset="0"/>
                <a:ea typeface="Calibri" pitchFamily="34" charset="-122"/>
                <a:cs typeface="Calibri" pitchFamily="34" charset="-120"/>
              </a:rPr>
              <a:t>Predicts loan default risk from financial features.</a:t>
            </a:r>
            <a:endParaRPr lang="en-US" sz="1150" dirty="0"/>
          </a:p>
        </p:txBody>
      </p:sp>
      <p:sp>
        <p:nvSpPr>
          <p:cNvPr id="14" name="Shape 12"/>
          <p:cNvSpPr/>
          <p:nvPr/>
        </p:nvSpPr>
        <p:spPr>
          <a:xfrm>
            <a:off x="6217920" y="914400"/>
            <a:ext cx="2743200" cy="1737360"/>
          </a:xfrm>
          <a:prstGeom prst="roundRect">
            <a:avLst>
              <a:gd name="adj" fmla="val 5263"/>
            </a:avLst>
          </a:prstGeom>
          <a:solidFill>
            <a:srgbClr val="152535"/>
          </a:solidFill>
          <a:ln/>
          <a:effectLst>
            <a:outerShdw blurRad="127000" dist="38100" dir="2700000" algn="bl" rotWithShape="0">
              <a:srgbClr val="000000">
                <a:alpha val="30000"/>
              </a:srgbClr>
            </a:outerShdw>
          </a:effectLst>
        </p:spPr>
      </p:sp>
      <p:sp>
        <p:nvSpPr>
          <p:cNvPr id="15" name="Shape 13"/>
          <p:cNvSpPr/>
          <p:nvPr/>
        </p:nvSpPr>
        <p:spPr>
          <a:xfrm>
            <a:off x="6355080" y="1078992"/>
            <a:ext cx="384048" cy="384048"/>
          </a:xfrm>
          <a:prstGeom prst="ellipse">
            <a:avLst/>
          </a:prstGeom>
          <a:solidFill>
            <a:srgbClr val="1ABC9C"/>
          </a:solidFill>
          <a:ln/>
        </p:spPr>
      </p:sp>
      <p:sp>
        <p:nvSpPr>
          <p:cNvPr id="16" name="Text 14"/>
          <p:cNvSpPr/>
          <p:nvPr/>
        </p:nvSpPr>
        <p:spPr>
          <a:xfrm>
            <a:off x="6355080" y="10789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839712" y="1042416"/>
            <a:ext cx="2011680" cy="457200"/>
          </a:xfrm>
          <a:prstGeom prst="rect">
            <a:avLst/>
          </a:prstGeom>
          <a:noFill/>
          <a:ln/>
        </p:spPr>
        <p:txBody>
          <a:bodyPr wrap="square" rtlCol="0" anchor="ctr"/>
          <a:lstStyle/>
          <a:p>
            <a:pPr marL="0" indent="0">
              <a:buNone/>
            </a:pPr>
            <a:r>
              <a:rPr lang="en-US" sz="1300" b="1" dirty="0">
                <a:solidFill>
                  <a:srgbClr val="1ABC9C"/>
                </a:solidFill>
                <a:latin typeface="Cambria" pitchFamily="34" charset="0"/>
                <a:ea typeface="Cambria" pitchFamily="34" charset="-122"/>
                <a:cs typeface="Cambria" pitchFamily="34" charset="-120"/>
              </a:rPr>
              <a:t>Customer Churn</a:t>
            </a:r>
            <a:endParaRPr lang="en-US" sz="1300" dirty="0"/>
          </a:p>
        </p:txBody>
      </p:sp>
      <p:sp>
        <p:nvSpPr>
          <p:cNvPr id="18" name="Text 16"/>
          <p:cNvSpPr/>
          <p:nvPr/>
        </p:nvSpPr>
        <p:spPr>
          <a:xfrm>
            <a:off x="6400800" y="1572768"/>
            <a:ext cx="2377440" cy="868680"/>
          </a:xfrm>
          <a:prstGeom prst="rect">
            <a:avLst/>
          </a:prstGeom>
          <a:noFill/>
          <a:ln/>
        </p:spPr>
        <p:txBody>
          <a:bodyPr wrap="square" rtlCol="0" anchor="ctr"/>
          <a:lstStyle/>
          <a:p>
            <a:pPr marL="0" indent="0">
              <a:buNone/>
            </a:pPr>
            <a:r>
              <a:rPr lang="en-US" sz="1150" dirty="0">
                <a:solidFill>
                  <a:srgbClr val="AACCDD"/>
                </a:solidFill>
                <a:latin typeface="Calibri" pitchFamily="34" charset="0"/>
                <a:ea typeface="Calibri" pitchFamily="34" charset="-122"/>
                <a:cs typeface="Calibri" pitchFamily="34" charset="-120"/>
              </a:rPr>
              <a:t>Identifies customers likely to leave before they do.</a:t>
            </a:r>
            <a:endParaRPr lang="en-US" sz="1150" dirty="0"/>
          </a:p>
        </p:txBody>
      </p:sp>
      <p:sp>
        <p:nvSpPr>
          <p:cNvPr id="19" name="Shape 17"/>
          <p:cNvSpPr/>
          <p:nvPr/>
        </p:nvSpPr>
        <p:spPr>
          <a:xfrm>
            <a:off x="274320" y="2880360"/>
            <a:ext cx="2743200" cy="1737360"/>
          </a:xfrm>
          <a:prstGeom prst="roundRect">
            <a:avLst>
              <a:gd name="adj" fmla="val 5263"/>
            </a:avLst>
          </a:prstGeom>
          <a:solidFill>
            <a:srgbClr val="152535"/>
          </a:solidFill>
          <a:ln/>
          <a:effectLst>
            <a:outerShdw blurRad="127000" dist="38100" dir="2700000" algn="bl" rotWithShape="0">
              <a:srgbClr val="000000">
                <a:alpha val="30000"/>
              </a:srgbClr>
            </a:outerShdw>
          </a:effectLst>
        </p:spPr>
      </p:sp>
      <p:sp>
        <p:nvSpPr>
          <p:cNvPr id="20" name="Shape 18"/>
          <p:cNvSpPr/>
          <p:nvPr/>
        </p:nvSpPr>
        <p:spPr>
          <a:xfrm>
            <a:off x="411480" y="3044952"/>
            <a:ext cx="384048" cy="384048"/>
          </a:xfrm>
          <a:prstGeom prst="ellipse">
            <a:avLst/>
          </a:prstGeom>
          <a:solidFill>
            <a:srgbClr val="1ABC9C"/>
          </a:solidFill>
          <a:ln/>
        </p:spPr>
      </p:sp>
      <p:sp>
        <p:nvSpPr>
          <p:cNvPr id="21" name="Text 19"/>
          <p:cNvSpPr/>
          <p:nvPr/>
        </p:nvSpPr>
        <p:spPr>
          <a:xfrm>
            <a:off x="411480" y="3044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896112" y="3008376"/>
            <a:ext cx="2011680" cy="457200"/>
          </a:xfrm>
          <a:prstGeom prst="rect">
            <a:avLst/>
          </a:prstGeom>
          <a:noFill/>
          <a:ln/>
        </p:spPr>
        <p:txBody>
          <a:bodyPr wrap="square" rtlCol="0" anchor="ctr"/>
          <a:lstStyle/>
          <a:p>
            <a:pPr marL="0" indent="0">
              <a:buNone/>
            </a:pPr>
            <a:r>
              <a:rPr lang="en-US" sz="1300" b="1" dirty="0">
                <a:solidFill>
                  <a:srgbClr val="1ABC9C"/>
                </a:solidFill>
                <a:latin typeface="Cambria" pitchFamily="34" charset="0"/>
                <a:ea typeface="Cambria" pitchFamily="34" charset="-122"/>
                <a:cs typeface="Cambria" pitchFamily="34" charset="-120"/>
              </a:rPr>
              <a:t>Medical Diagnosis</a:t>
            </a:r>
            <a:endParaRPr lang="en-US" sz="1300" dirty="0"/>
          </a:p>
        </p:txBody>
      </p:sp>
      <p:sp>
        <p:nvSpPr>
          <p:cNvPr id="23" name="Text 21"/>
          <p:cNvSpPr/>
          <p:nvPr/>
        </p:nvSpPr>
        <p:spPr>
          <a:xfrm>
            <a:off x="457200" y="3538728"/>
            <a:ext cx="2377440" cy="868680"/>
          </a:xfrm>
          <a:prstGeom prst="rect">
            <a:avLst/>
          </a:prstGeom>
          <a:noFill/>
          <a:ln/>
        </p:spPr>
        <p:txBody>
          <a:bodyPr wrap="square" rtlCol="0" anchor="ctr"/>
          <a:lstStyle/>
          <a:p>
            <a:pPr marL="0" indent="0">
              <a:buNone/>
            </a:pPr>
            <a:r>
              <a:rPr lang="en-US" sz="1150" dirty="0">
                <a:solidFill>
                  <a:srgbClr val="AACCDD"/>
                </a:solidFill>
                <a:latin typeface="Calibri" pitchFamily="34" charset="0"/>
                <a:ea typeface="Calibri" pitchFamily="34" charset="-122"/>
                <a:cs typeface="Calibri" pitchFamily="34" charset="-120"/>
              </a:rPr>
              <a:t>Classifies diseases from clinical test data.</a:t>
            </a:r>
            <a:endParaRPr lang="en-US" sz="1150" dirty="0"/>
          </a:p>
        </p:txBody>
      </p:sp>
      <p:sp>
        <p:nvSpPr>
          <p:cNvPr id="24" name="Shape 22"/>
          <p:cNvSpPr/>
          <p:nvPr/>
        </p:nvSpPr>
        <p:spPr>
          <a:xfrm>
            <a:off x="3246120" y="2880360"/>
            <a:ext cx="2743200" cy="1737360"/>
          </a:xfrm>
          <a:prstGeom prst="roundRect">
            <a:avLst>
              <a:gd name="adj" fmla="val 5263"/>
            </a:avLst>
          </a:prstGeom>
          <a:solidFill>
            <a:srgbClr val="152535"/>
          </a:solidFill>
          <a:ln/>
          <a:effectLst>
            <a:outerShdw blurRad="127000" dist="38100" dir="2700000" algn="bl" rotWithShape="0">
              <a:srgbClr val="000000">
                <a:alpha val="30000"/>
              </a:srgbClr>
            </a:outerShdw>
          </a:effectLst>
        </p:spPr>
      </p:sp>
      <p:sp>
        <p:nvSpPr>
          <p:cNvPr id="25" name="Shape 23"/>
          <p:cNvSpPr/>
          <p:nvPr/>
        </p:nvSpPr>
        <p:spPr>
          <a:xfrm>
            <a:off x="3383280" y="3044952"/>
            <a:ext cx="384048" cy="384048"/>
          </a:xfrm>
          <a:prstGeom prst="ellipse">
            <a:avLst/>
          </a:prstGeom>
          <a:solidFill>
            <a:srgbClr val="1ABC9C"/>
          </a:solidFill>
          <a:ln/>
        </p:spPr>
      </p:sp>
      <p:sp>
        <p:nvSpPr>
          <p:cNvPr id="26" name="Text 24"/>
          <p:cNvSpPr/>
          <p:nvPr/>
        </p:nvSpPr>
        <p:spPr>
          <a:xfrm>
            <a:off x="3383280" y="3044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3867912" y="3008376"/>
            <a:ext cx="2011680" cy="457200"/>
          </a:xfrm>
          <a:prstGeom prst="rect">
            <a:avLst/>
          </a:prstGeom>
          <a:noFill/>
          <a:ln/>
        </p:spPr>
        <p:txBody>
          <a:bodyPr wrap="square" rtlCol="0" anchor="ctr"/>
          <a:lstStyle/>
          <a:p>
            <a:pPr marL="0" indent="0">
              <a:buNone/>
            </a:pPr>
            <a:r>
              <a:rPr lang="en-US" sz="1300" b="1" dirty="0">
                <a:solidFill>
                  <a:srgbClr val="1ABC9C"/>
                </a:solidFill>
                <a:latin typeface="Cambria" pitchFamily="34" charset="0"/>
                <a:ea typeface="Cambria" pitchFamily="34" charset="-122"/>
                <a:cs typeface="Cambria" pitchFamily="34" charset="-120"/>
              </a:rPr>
              <a:t>Sales Forecasting</a:t>
            </a:r>
            <a:endParaRPr lang="en-US" sz="1300" dirty="0"/>
          </a:p>
        </p:txBody>
      </p:sp>
      <p:sp>
        <p:nvSpPr>
          <p:cNvPr id="28" name="Text 26"/>
          <p:cNvSpPr/>
          <p:nvPr/>
        </p:nvSpPr>
        <p:spPr>
          <a:xfrm>
            <a:off x="3429000" y="3538728"/>
            <a:ext cx="2377440" cy="868680"/>
          </a:xfrm>
          <a:prstGeom prst="rect">
            <a:avLst/>
          </a:prstGeom>
          <a:noFill/>
          <a:ln/>
        </p:spPr>
        <p:txBody>
          <a:bodyPr wrap="square" rtlCol="0" anchor="ctr"/>
          <a:lstStyle/>
          <a:p>
            <a:pPr marL="0" indent="0">
              <a:buNone/>
            </a:pPr>
            <a:r>
              <a:rPr lang="en-US" sz="1150" dirty="0">
                <a:solidFill>
                  <a:srgbClr val="AACCDD"/>
                </a:solidFill>
                <a:latin typeface="Calibri" pitchFamily="34" charset="0"/>
                <a:ea typeface="Calibri" pitchFamily="34" charset="-122"/>
                <a:cs typeface="Calibri" pitchFamily="34" charset="-120"/>
              </a:rPr>
              <a:t>Predicts future revenue and demand patterns.</a:t>
            </a:r>
            <a:endParaRPr lang="en-US" sz="1150" dirty="0"/>
          </a:p>
        </p:txBody>
      </p:sp>
      <p:sp>
        <p:nvSpPr>
          <p:cNvPr id="29" name="Shape 27"/>
          <p:cNvSpPr/>
          <p:nvPr/>
        </p:nvSpPr>
        <p:spPr>
          <a:xfrm>
            <a:off x="6217920" y="2880360"/>
            <a:ext cx="2743200" cy="1737360"/>
          </a:xfrm>
          <a:prstGeom prst="roundRect">
            <a:avLst>
              <a:gd name="adj" fmla="val 5263"/>
            </a:avLst>
          </a:prstGeom>
          <a:solidFill>
            <a:srgbClr val="152535"/>
          </a:solidFill>
          <a:ln/>
          <a:effectLst>
            <a:outerShdw blurRad="127000" dist="38100" dir="2700000" algn="bl" rotWithShape="0">
              <a:srgbClr val="000000">
                <a:alpha val="30000"/>
              </a:srgbClr>
            </a:outerShdw>
          </a:effectLst>
        </p:spPr>
      </p:sp>
      <p:sp>
        <p:nvSpPr>
          <p:cNvPr id="30" name="Shape 28"/>
          <p:cNvSpPr/>
          <p:nvPr/>
        </p:nvSpPr>
        <p:spPr>
          <a:xfrm>
            <a:off x="6355080" y="3044952"/>
            <a:ext cx="384048" cy="384048"/>
          </a:xfrm>
          <a:prstGeom prst="ellipse">
            <a:avLst/>
          </a:prstGeom>
          <a:solidFill>
            <a:srgbClr val="1ABC9C"/>
          </a:solidFill>
          <a:ln/>
        </p:spPr>
      </p:sp>
      <p:sp>
        <p:nvSpPr>
          <p:cNvPr id="31" name="Text 29"/>
          <p:cNvSpPr/>
          <p:nvPr/>
        </p:nvSpPr>
        <p:spPr>
          <a:xfrm>
            <a:off x="6355080" y="3044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6839712" y="3008376"/>
            <a:ext cx="2011680" cy="457200"/>
          </a:xfrm>
          <a:prstGeom prst="rect">
            <a:avLst/>
          </a:prstGeom>
          <a:noFill/>
          <a:ln/>
        </p:spPr>
        <p:txBody>
          <a:bodyPr wrap="square" rtlCol="0" anchor="ctr"/>
          <a:lstStyle/>
          <a:p>
            <a:pPr marL="0" indent="0">
              <a:buNone/>
            </a:pPr>
            <a:r>
              <a:rPr lang="en-US" sz="1300" b="1" dirty="0">
                <a:solidFill>
                  <a:srgbClr val="1ABC9C"/>
                </a:solidFill>
                <a:latin typeface="Cambria" pitchFamily="34" charset="0"/>
                <a:ea typeface="Cambria" pitchFamily="34" charset="-122"/>
                <a:cs typeface="Cambria" pitchFamily="34" charset="-120"/>
              </a:rPr>
              <a:t>Recommendation Systems</a:t>
            </a:r>
            <a:endParaRPr lang="en-US" sz="1300" dirty="0"/>
          </a:p>
        </p:txBody>
      </p:sp>
      <p:sp>
        <p:nvSpPr>
          <p:cNvPr id="33" name="Text 31"/>
          <p:cNvSpPr/>
          <p:nvPr/>
        </p:nvSpPr>
        <p:spPr>
          <a:xfrm>
            <a:off x="6400800" y="3538728"/>
            <a:ext cx="2377440" cy="868680"/>
          </a:xfrm>
          <a:prstGeom prst="rect">
            <a:avLst/>
          </a:prstGeom>
          <a:noFill/>
          <a:ln/>
        </p:spPr>
        <p:txBody>
          <a:bodyPr wrap="square" rtlCol="0" anchor="ctr"/>
          <a:lstStyle/>
          <a:p>
            <a:pPr marL="0" indent="0">
              <a:buNone/>
            </a:pPr>
            <a:r>
              <a:rPr lang="en-US" sz="1150" dirty="0">
                <a:solidFill>
                  <a:srgbClr val="AACCDD"/>
                </a:solidFill>
                <a:latin typeface="Calibri" pitchFamily="34" charset="0"/>
                <a:ea typeface="Calibri" pitchFamily="34" charset="-122"/>
                <a:cs typeface="Calibri" pitchFamily="34" charset="-120"/>
              </a:rPr>
              <a:t>Ranks items by predicted user preference.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1B4F72"/>
          </a:solidFill>
          <a:ln/>
        </p:spPr>
      </p:sp>
      <p:sp>
        <p:nvSpPr>
          <p:cNvPr id="3" name="Shape 1"/>
          <p:cNvSpPr/>
          <p:nvPr/>
        </p:nvSpPr>
        <p:spPr>
          <a:xfrm>
            <a:off x="5943600" y="4480560"/>
            <a:ext cx="3200400" cy="662940"/>
          </a:xfrm>
          <a:prstGeom prst="rect">
            <a:avLst/>
          </a:prstGeom>
          <a:solidFill>
            <a:srgbClr val="1ABC9C"/>
          </a:solidFill>
          <a:ln/>
        </p:spPr>
      </p:sp>
      <p:sp>
        <p:nvSpPr>
          <p:cNvPr id="4" name="Text 2"/>
          <p:cNvSpPr/>
          <p:nvPr/>
        </p:nvSpPr>
        <p:spPr>
          <a:xfrm>
            <a:off x="365760" y="274320"/>
            <a:ext cx="5486400" cy="502920"/>
          </a:xfrm>
          <a:prstGeom prst="rect">
            <a:avLst/>
          </a:prstGeom>
          <a:noFill/>
          <a:ln/>
        </p:spPr>
        <p:txBody>
          <a:bodyPr wrap="square" rtlCol="0" anchor="ctr"/>
          <a:lstStyle/>
          <a:p>
            <a:pPr marL="0" indent="0">
              <a:buNone/>
            </a:pPr>
            <a:r>
              <a:rPr lang="en-US" sz="1300" b="1" kern="0" spc="400" dirty="0">
                <a:solidFill>
                  <a:srgbClr val="1ABC9C"/>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365760" y="685800"/>
            <a:ext cx="5486400" cy="118872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LightGBM</a:t>
            </a:r>
            <a:endParaRPr lang="en-US" sz="4600" dirty="0"/>
          </a:p>
        </p:txBody>
      </p:sp>
      <p:sp>
        <p:nvSpPr>
          <p:cNvPr id="6" name="Text 4"/>
          <p:cNvSpPr/>
          <p:nvPr/>
        </p:nvSpPr>
        <p:spPr>
          <a:xfrm>
            <a:off x="365760" y="1920240"/>
            <a:ext cx="5303520" cy="731520"/>
          </a:xfrm>
          <a:prstGeom prst="rect">
            <a:avLst/>
          </a:prstGeom>
          <a:noFill/>
          <a:ln/>
        </p:spPr>
        <p:txBody>
          <a:bodyPr wrap="square" rtlCol="0" anchor="ctr"/>
          <a:lstStyle/>
          <a:p>
            <a:pPr marL="0" indent="0">
              <a:buNone/>
            </a:pPr>
            <a:r>
              <a:rPr lang="en-US" sz="1600" i="1" dirty="0">
                <a:solidFill>
                  <a:srgbClr val="AACCDD"/>
                </a:solidFill>
                <a:latin typeface="Calibri" pitchFamily="34" charset="0"/>
                <a:ea typeface="Calibri" pitchFamily="34" charset="-122"/>
                <a:cs typeface="Calibri" pitchFamily="34" charset="-120"/>
              </a:rPr>
              <a:t>Your fast-track to accurate,</a:t>
            </a:r>
            <a:endParaRPr lang="en-US" sz="1600" dirty="0"/>
          </a:p>
          <a:p>
            <a:pPr marL="0" indent="0">
              <a:buNone/>
            </a:pPr>
            <a:r>
              <a:rPr lang="en-US" sz="1600" i="1" dirty="0">
                <a:solidFill>
                  <a:srgbClr val="AACCDD"/>
                </a:solidFill>
                <a:latin typeface="Calibri" pitchFamily="34" charset="0"/>
                <a:ea typeface="Calibri" pitchFamily="34" charset="-122"/>
                <a:cs typeface="Calibri" pitchFamily="34" charset="-120"/>
              </a:rPr>
              <a:t>scalable machine learning.</a:t>
            </a:r>
            <a:endParaRPr lang="en-US" sz="1600" dirty="0"/>
          </a:p>
        </p:txBody>
      </p:sp>
      <p:sp>
        <p:nvSpPr>
          <p:cNvPr id="7" name="Shape 5"/>
          <p:cNvSpPr/>
          <p:nvPr/>
        </p:nvSpPr>
        <p:spPr>
          <a:xfrm>
            <a:off x="365760" y="2834640"/>
            <a:ext cx="256032" cy="256032"/>
          </a:xfrm>
          <a:prstGeom prst="ellipse">
            <a:avLst/>
          </a:prstGeom>
          <a:solidFill>
            <a:srgbClr val="1ABC9C"/>
          </a:solidFill>
          <a:ln/>
        </p:spPr>
      </p:sp>
      <p:sp>
        <p:nvSpPr>
          <p:cNvPr id="8" name="Text 6"/>
          <p:cNvSpPr/>
          <p:nvPr/>
        </p:nvSpPr>
        <p:spPr>
          <a:xfrm>
            <a:off x="713232" y="2798064"/>
            <a:ext cx="50292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Leaf-wise growth → faster convergence</a:t>
            </a:r>
            <a:endParaRPr lang="en-US" sz="1200" dirty="0"/>
          </a:p>
        </p:txBody>
      </p:sp>
      <p:sp>
        <p:nvSpPr>
          <p:cNvPr id="9" name="Shape 7"/>
          <p:cNvSpPr/>
          <p:nvPr/>
        </p:nvSpPr>
        <p:spPr>
          <a:xfrm>
            <a:off x="365760" y="3264408"/>
            <a:ext cx="256032" cy="256032"/>
          </a:xfrm>
          <a:prstGeom prst="ellipse">
            <a:avLst/>
          </a:prstGeom>
          <a:solidFill>
            <a:srgbClr val="1ABC9C"/>
          </a:solidFill>
          <a:ln/>
        </p:spPr>
      </p:sp>
      <p:sp>
        <p:nvSpPr>
          <p:cNvPr id="10" name="Text 8"/>
          <p:cNvSpPr/>
          <p:nvPr/>
        </p:nvSpPr>
        <p:spPr>
          <a:xfrm>
            <a:off x="713232" y="3227832"/>
            <a:ext cx="50292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GOSS + EFB → speed and memory efficiency</a:t>
            </a:r>
            <a:endParaRPr lang="en-US" sz="1200" dirty="0"/>
          </a:p>
        </p:txBody>
      </p:sp>
      <p:sp>
        <p:nvSpPr>
          <p:cNvPr id="11" name="Shape 9"/>
          <p:cNvSpPr/>
          <p:nvPr/>
        </p:nvSpPr>
        <p:spPr>
          <a:xfrm>
            <a:off x="365760" y="3694176"/>
            <a:ext cx="256032" cy="256032"/>
          </a:xfrm>
          <a:prstGeom prst="ellipse">
            <a:avLst/>
          </a:prstGeom>
          <a:solidFill>
            <a:srgbClr val="1ABC9C"/>
          </a:solidFill>
          <a:ln/>
        </p:spPr>
      </p:sp>
      <p:sp>
        <p:nvSpPr>
          <p:cNvPr id="12" name="Text 10"/>
          <p:cNvSpPr/>
          <p:nvPr/>
        </p:nvSpPr>
        <p:spPr>
          <a:xfrm>
            <a:off x="713232" y="3657600"/>
            <a:ext cx="50292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Outperforms XGBoost on large datasets</a:t>
            </a:r>
            <a:endParaRPr lang="en-US" sz="1200" dirty="0"/>
          </a:p>
        </p:txBody>
      </p:sp>
      <p:sp>
        <p:nvSpPr>
          <p:cNvPr id="13" name="Shape 11"/>
          <p:cNvSpPr/>
          <p:nvPr/>
        </p:nvSpPr>
        <p:spPr>
          <a:xfrm>
            <a:off x="365760" y="4123944"/>
            <a:ext cx="256032" cy="256032"/>
          </a:xfrm>
          <a:prstGeom prst="ellipse">
            <a:avLst/>
          </a:prstGeom>
          <a:solidFill>
            <a:srgbClr val="1ABC9C"/>
          </a:solidFill>
          <a:ln/>
        </p:spPr>
      </p:sp>
      <p:sp>
        <p:nvSpPr>
          <p:cNvPr id="14" name="Text 12"/>
          <p:cNvSpPr/>
          <p:nvPr/>
        </p:nvSpPr>
        <p:spPr>
          <a:xfrm>
            <a:off x="713232" y="4087368"/>
            <a:ext cx="50292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Careful hyperparameter tuning is essential</a:t>
            </a:r>
            <a:endParaRPr lang="en-US" sz="1200" dirty="0"/>
          </a:p>
        </p:txBody>
      </p:sp>
      <p:sp>
        <p:nvSpPr>
          <p:cNvPr id="15" name="Shape 13"/>
          <p:cNvSpPr/>
          <p:nvPr/>
        </p:nvSpPr>
        <p:spPr>
          <a:xfrm>
            <a:off x="365760" y="4553712"/>
            <a:ext cx="256032" cy="256032"/>
          </a:xfrm>
          <a:prstGeom prst="ellipse">
            <a:avLst/>
          </a:prstGeom>
          <a:solidFill>
            <a:srgbClr val="1ABC9C"/>
          </a:solidFill>
          <a:ln/>
        </p:spPr>
      </p:sp>
      <p:sp>
        <p:nvSpPr>
          <p:cNvPr id="16" name="Text 14"/>
          <p:cNvSpPr/>
          <p:nvPr/>
        </p:nvSpPr>
        <p:spPr>
          <a:xfrm>
            <a:off x="713232" y="4517136"/>
            <a:ext cx="50292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Strong metrics: Accuracy, F1, ROC AUC</a:t>
            </a:r>
            <a:endParaRPr lang="en-US" sz="1200" dirty="0"/>
          </a:p>
        </p:txBody>
      </p:sp>
      <p:pic>
        <p:nvPicPr>
          <p:cNvPr id="17" name="Image 0" descr="preencoded.png"/>
          <p:cNvPicPr>
            <a:picLocks noChangeAspect="1"/>
          </p:cNvPicPr>
          <p:nvPr/>
        </p:nvPicPr>
        <p:blipFill>
          <a:blip r:embed="rId3"/>
          <a:stretch>
            <a:fillRect/>
          </a:stretch>
        </p:blipFill>
        <p:spPr>
          <a:xfrm>
            <a:off x="6583680" y="731520"/>
            <a:ext cx="1463040" cy="1463040"/>
          </a:xfrm>
          <a:prstGeom prst="rect">
            <a:avLst/>
          </a:prstGeom>
        </p:spPr>
      </p:pic>
      <p:sp>
        <p:nvSpPr>
          <p:cNvPr id="18" name="Text 15"/>
          <p:cNvSpPr/>
          <p:nvPr/>
        </p:nvSpPr>
        <p:spPr>
          <a:xfrm>
            <a:off x="6126480" y="2331720"/>
            <a:ext cx="274320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Microsoft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Open Source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2017 →</a:t>
            </a:r>
            <a:endParaRPr lang="en-US" sz="1300" dirty="0"/>
          </a:p>
        </p:txBody>
      </p:sp>
      <p:sp>
        <p:nvSpPr>
          <p:cNvPr id="19" name="Text 16"/>
          <p:cNvSpPr/>
          <p:nvPr/>
        </p:nvSpPr>
        <p:spPr>
          <a:xfrm>
            <a:off x="6126480" y="3291840"/>
            <a:ext cx="2743200" cy="320040"/>
          </a:xfrm>
          <a:prstGeom prst="rect">
            <a:avLst/>
          </a:prstGeom>
          <a:noFill/>
          <a:ln/>
        </p:spPr>
        <p:txBody>
          <a:bodyPr wrap="square" rtlCol="0" anchor="ctr"/>
          <a:lstStyle/>
          <a:p>
            <a:pPr marL="0" indent="0" algn="ctr">
              <a:buNone/>
            </a:pPr>
            <a:r>
              <a:rPr lang="en-US" sz="1100" i="1" dirty="0">
                <a:solidFill>
                  <a:srgbClr val="AACCDD"/>
                </a:solidFill>
                <a:latin typeface="Calibri" pitchFamily="34" charset="0"/>
                <a:ea typeface="Calibri" pitchFamily="34" charset="-122"/>
                <a:cs typeface="Calibri" pitchFamily="34" charset="-120"/>
              </a:rPr>
              <a:t>lightgbm.readthedocs.io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1152</Words>
  <Application>Microsoft Office PowerPoint</Application>
  <PresentationFormat>On-screen Show (16:9)</PresentationFormat>
  <Paragraphs>237</Paragraphs>
  <Slides>11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Cambria</vt:lpstr>
      <vt:lpstr>Courier New</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Ensemble Methods – LightGBM</dc:title>
  <dc:subject>PptxGenJS Presentation</dc:subject>
  <dc:creator>PptxGenJS</dc:creator>
  <cp:lastModifiedBy>Christine Georgina</cp:lastModifiedBy>
  <cp:revision>6</cp:revision>
  <dcterms:created xsi:type="dcterms:W3CDTF">2026-06-24T18:05:44Z</dcterms:created>
  <dcterms:modified xsi:type="dcterms:W3CDTF">2026-06-25T07:21:06Z</dcterms:modified>
</cp:coreProperties>
</file>